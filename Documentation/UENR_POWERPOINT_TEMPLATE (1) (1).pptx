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0506"/>
    <a:srgbClr val="0A688E"/>
    <a:srgbClr val="00820F"/>
    <a:srgbClr val="E6E6E6"/>
    <a:srgbClr val="0E8CBE"/>
    <a:srgbClr val="3FBEF1"/>
    <a:srgbClr val="109C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 userDrawn="1"/>
        </p:nvSpPr>
        <p:spPr>
          <a:xfrm>
            <a:off x="-39753" y="-51683"/>
            <a:ext cx="12235732" cy="690968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 userDrawn="1"/>
        </p:nvSpPr>
        <p:spPr>
          <a:xfrm>
            <a:off x="7180729" y="269109"/>
            <a:ext cx="6320118" cy="6333565"/>
          </a:xfrm>
          <a:prstGeom prst="rect">
            <a:avLst/>
          </a:prstGeom>
          <a:blipFill dpi="0" rotWithShape="1">
            <a:blip r:embed="rId2">
              <a:alphaModFix amt="67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F8120-5D43-445C-81DE-BB63D27CD45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6395-65C6-40C6-B0F2-3F72B3156A66}" type="slidenum">
              <a:rPr lang="en-US" smtClean="0"/>
            </a:fld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90" y="483244"/>
            <a:ext cx="2684166" cy="6800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230" y="1392751"/>
            <a:ext cx="5641606" cy="473406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F8120-5D43-445C-81DE-BB63D27CD451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6395-65C6-40C6-B0F2-3F72B3156A66}" type="slidenum">
              <a:rPr lang="en-US" smtClean="0"/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3756" y="4335371"/>
            <a:ext cx="3159890" cy="3159890"/>
          </a:xfrm>
          <a:prstGeom prst="rect">
            <a:avLst/>
          </a:prstGeom>
          <a:blipFill>
            <a:blip r:embed="rId3">
              <a:alphaModFix amt="0"/>
            </a:blip>
            <a:stretch>
              <a:fillRect/>
            </a:stretch>
          </a:blipFill>
        </p:spPr>
      </p:pic>
      <p:sp>
        <p:nvSpPr>
          <p:cNvPr id="1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540660" y="1775478"/>
            <a:ext cx="5181600" cy="4351338"/>
          </a:xfrm>
        </p:spPr>
        <p:txBody>
          <a:bodyPr/>
          <a:lstStyle>
            <a:lvl1pPr>
              <a:defRPr sz="2800" b="1" baseline="0"/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lvl2pPr>
          </a:lstStyle>
          <a:p>
            <a:pPr lvl="0"/>
            <a:r>
              <a:rPr lang="en-US" dirty="0"/>
              <a:t>Table of Contents</a:t>
            </a:r>
            <a:endParaRPr lang="en-US" dirty="0"/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Char char="•"/>
              <a:defRPr/>
            </a:pPr>
            <a:r>
              <a:rPr lang="en-US" dirty="0"/>
              <a:t>Topic 1</a:t>
            </a:r>
            <a:endParaRPr lang="en-US" dirty="0"/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Char char="•"/>
              <a:defRPr/>
            </a:pPr>
            <a:r>
              <a:rPr lang="en-US" dirty="0"/>
              <a:t>Topic 2</a:t>
            </a:r>
            <a:endParaRPr lang="en-US" dirty="0"/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Char char="•"/>
              <a:defRPr/>
            </a:pPr>
            <a:r>
              <a:rPr lang="en-US" dirty="0"/>
              <a:t>Topic 3</a:t>
            </a:r>
            <a:endParaRPr lang="en-US" dirty="0"/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Char char="•"/>
              <a:defRPr/>
            </a:pPr>
            <a:r>
              <a:rPr lang="en-US" dirty="0"/>
              <a:t>Topic 4</a:t>
            </a:r>
            <a:endParaRPr lang="en-US" dirty="0"/>
          </a:p>
          <a:p>
            <a:pPr lvl="1"/>
            <a:endParaRPr lang="en-US" dirty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-39753" y="-51682"/>
            <a:ext cx="12235732" cy="1203364"/>
            <a:chOff x="-39753" y="-51682"/>
            <a:chExt cx="12235732" cy="1203364"/>
          </a:xfrm>
        </p:grpSpPr>
        <p:sp>
          <p:nvSpPr>
            <p:cNvPr id="9" name="Rectangle 8"/>
            <p:cNvSpPr/>
            <p:nvPr userDrawn="1"/>
          </p:nvSpPr>
          <p:spPr>
            <a:xfrm>
              <a:off x="-39753" y="-51682"/>
              <a:ext cx="12235732" cy="120336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7229" y="221358"/>
              <a:ext cx="2684166" cy="680012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 userDrawn="1"/>
          </p:nvSpPr>
          <p:spPr>
            <a:xfrm>
              <a:off x="7802880" y="411500"/>
              <a:ext cx="354609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bg1"/>
                  </a:solidFill>
                  <a:latin typeface="+mj-lt"/>
                </a:rPr>
                <a:t>KNOWLEDGE             INTEGRITY            IMPACT</a:t>
              </a:r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cxnSp>
          <p:nvCxnSpPr>
            <p:cNvPr id="7" name="Straight Connector 6"/>
            <p:cNvCxnSpPr/>
            <p:nvPr userDrawn="1"/>
          </p:nvCxnSpPr>
          <p:spPr>
            <a:xfrm>
              <a:off x="901337" y="722811"/>
              <a:ext cx="1037190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/>
            <p:cNvSpPr/>
            <p:nvPr userDrawn="1"/>
          </p:nvSpPr>
          <p:spPr>
            <a:xfrm>
              <a:off x="8609870" y="470310"/>
              <a:ext cx="111034" cy="1132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9748239" y="470310"/>
              <a:ext cx="111034" cy="1132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10668414" y="470310"/>
              <a:ext cx="111034" cy="1132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687595"/>
            <a:ext cx="10515600" cy="440205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-39753" y="6303003"/>
            <a:ext cx="12235732" cy="72401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679568" y="6365200"/>
            <a:ext cx="10820163" cy="487908"/>
            <a:chOff x="528814" y="6238068"/>
            <a:chExt cx="10820163" cy="487908"/>
          </a:xfrm>
        </p:grpSpPr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814" y="6238068"/>
              <a:ext cx="1925885" cy="487908"/>
            </a:xfrm>
            <a:prstGeom prst="rect">
              <a:avLst/>
            </a:prstGeom>
          </p:spPr>
        </p:pic>
        <p:cxnSp>
          <p:nvCxnSpPr>
            <p:cNvPr id="11" name="Straight Connector 10"/>
            <p:cNvCxnSpPr/>
            <p:nvPr userDrawn="1"/>
          </p:nvCxnSpPr>
          <p:spPr>
            <a:xfrm>
              <a:off x="901337" y="6598143"/>
              <a:ext cx="1037190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>
            <a:xfrm>
              <a:off x="7802880" y="6286832"/>
              <a:ext cx="3546097" cy="230832"/>
              <a:chOff x="7802880" y="6286832"/>
              <a:chExt cx="3546097" cy="230832"/>
            </a:xfrm>
          </p:grpSpPr>
          <p:sp>
            <p:nvSpPr>
              <p:cNvPr id="10" name="TextBox 9"/>
              <p:cNvSpPr txBox="1"/>
              <p:nvPr userDrawn="1"/>
            </p:nvSpPr>
            <p:spPr>
              <a:xfrm>
                <a:off x="7802880" y="6286832"/>
                <a:ext cx="3546097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900" dirty="0">
                    <a:solidFill>
                      <a:schemeClr val="bg1"/>
                    </a:solidFill>
                    <a:latin typeface="+mj-lt"/>
                  </a:rPr>
                  <a:t>KNOWLEDGE             INTEGRITY            IMPACT</a:t>
                </a:r>
                <a:endParaRPr lang="en-US" sz="900" dirty="0">
                  <a:solidFill>
                    <a:schemeClr val="bg1"/>
                  </a:solidFill>
                  <a:latin typeface="+mj-lt"/>
                </a:endParaRPr>
              </a:p>
            </p:txBody>
          </p:sp>
          <p:sp>
            <p:nvSpPr>
              <p:cNvPr id="12" name="Rectangle 11"/>
              <p:cNvSpPr/>
              <p:nvPr userDrawn="1"/>
            </p:nvSpPr>
            <p:spPr>
              <a:xfrm>
                <a:off x="8609870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/>
              <p:nvPr userDrawn="1"/>
            </p:nvSpPr>
            <p:spPr>
              <a:xfrm>
                <a:off x="9748239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/>
              <p:cNvSpPr/>
              <p:nvPr userDrawn="1"/>
            </p:nvSpPr>
            <p:spPr>
              <a:xfrm>
                <a:off x="10668414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7" name="Group 26"/>
          <p:cNvGrpSpPr/>
          <p:nvPr userDrawn="1"/>
        </p:nvGrpSpPr>
        <p:grpSpPr>
          <a:xfrm>
            <a:off x="0" y="149580"/>
            <a:ext cx="12414000" cy="77361"/>
            <a:chOff x="0" y="149580"/>
            <a:chExt cx="12414000" cy="77361"/>
          </a:xfrm>
        </p:grpSpPr>
        <p:sp>
          <p:nvSpPr>
            <p:cNvPr id="20" name="Rectangle 19"/>
            <p:cNvSpPr/>
            <p:nvPr userDrawn="1"/>
          </p:nvSpPr>
          <p:spPr>
            <a:xfrm>
              <a:off x="0" y="149580"/>
              <a:ext cx="4076822" cy="7736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 userDrawn="1"/>
          </p:nvSpPr>
          <p:spPr>
            <a:xfrm>
              <a:off x="4166144" y="149580"/>
              <a:ext cx="4076822" cy="7736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8337178" y="149580"/>
              <a:ext cx="4076822" cy="7736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/>
          <p:cNvSpPr/>
          <p:nvPr userDrawn="1"/>
        </p:nvSpPr>
        <p:spPr>
          <a:xfrm>
            <a:off x="-39753" y="270922"/>
            <a:ext cx="12235732" cy="10565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7317" y="400967"/>
            <a:ext cx="10515600" cy="754833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566272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F8120-5D43-445C-81DE-BB63D27CD45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6395-65C6-40C6-B0F2-3F72B3156A66}" type="slidenum">
              <a:rPr lang="en-US" smtClean="0"/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149580"/>
            <a:ext cx="1897258" cy="77361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1897258" y="149580"/>
            <a:ext cx="6345708" cy="77361"/>
          </a:xfrm>
          <a:prstGeom prst="rect">
            <a:avLst/>
          </a:prstGeom>
          <a:solidFill>
            <a:srgbClr val="0A68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8242966" y="149580"/>
            <a:ext cx="1874112" cy="7736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837317" y="-1696937"/>
            <a:ext cx="10515600" cy="2852737"/>
          </a:xfrm>
        </p:spPr>
        <p:txBody>
          <a:bodyPr anchor="b">
            <a:normAutofit/>
          </a:bodyPr>
          <a:lstStyle>
            <a:lvl1pPr>
              <a:defRPr sz="4000" b="1">
                <a:solidFill>
                  <a:srgbClr val="0A688E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-39753" y="6303003"/>
            <a:ext cx="12235732" cy="72401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/>
          <p:cNvGrpSpPr/>
          <p:nvPr userDrawn="1"/>
        </p:nvGrpSpPr>
        <p:grpSpPr>
          <a:xfrm>
            <a:off x="679568" y="6365200"/>
            <a:ext cx="10820163" cy="487908"/>
            <a:chOff x="528814" y="6238068"/>
            <a:chExt cx="10820163" cy="487908"/>
          </a:xfrm>
        </p:grpSpPr>
        <p:pic>
          <p:nvPicPr>
            <p:cNvPr id="18" name="Picture 1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814" y="6238068"/>
              <a:ext cx="1925885" cy="487908"/>
            </a:xfrm>
            <a:prstGeom prst="rect">
              <a:avLst/>
            </a:prstGeom>
          </p:spPr>
        </p:pic>
        <p:cxnSp>
          <p:nvCxnSpPr>
            <p:cNvPr id="19" name="Straight Connector 18"/>
            <p:cNvCxnSpPr/>
            <p:nvPr userDrawn="1"/>
          </p:nvCxnSpPr>
          <p:spPr>
            <a:xfrm>
              <a:off x="901337" y="6598143"/>
              <a:ext cx="1037190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Group 19"/>
            <p:cNvGrpSpPr/>
            <p:nvPr userDrawn="1"/>
          </p:nvGrpSpPr>
          <p:grpSpPr>
            <a:xfrm>
              <a:off x="7802880" y="6286832"/>
              <a:ext cx="3546097" cy="230832"/>
              <a:chOff x="7802880" y="6286832"/>
              <a:chExt cx="3546097" cy="230832"/>
            </a:xfrm>
          </p:grpSpPr>
          <p:sp>
            <p:nvSpPr>
              <p:cNvPr id="21" name="TextBox 20"/>
              <p:cNvSpPr txBox="1"/>
              <p:nvPr userDrawn="1"/>
            </p:nvSpPr>
            <p:spPr>
              <a:xfrm>
                <a:off x="7802880" y="6286832"/>
                <a:ext cx="3546097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900" dirty="0">
                    <a:solidFill>
                      <a:schemeClr val="bg1"/>
                    </a:solidFill>
                    <a:latin typeface="+mj-lt"/>
                  </a:rPr>
                  <a:t>KNOWLEDGE             INTEGRITY            IMPACT</a:t>
                </a:r>
                <a:endParaRPr lang="en-US" sz="900" dirty="0">
                  <a:solidFill>
                    <a:schemeClr val="bg1"/>
                  </a:solidFill>
                  <a:latin typeface="+mj-lt"/>
                </a:endParaRPr>
              </a:p>
            </p:txBody>
          </p:sp>
          <p:sp>
            <p:nvSpPr>
              <p:cNvPr id="22" name="Rectangle 21"/>
              <p:cNvSpPr/>
              <p:nvPr userDrawn="1"/>
            </p:nvSpPr>
            <p:spPr>
              <a:xfrm>
                <a:off x="8609870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/>
              <p:cNvSpPr/>
              <p:nvPr userDrawn="1"/>
            </p:nvSpPr>
            <p:spPr>
              <a:xfrm>
                <a:off x="9748239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/>
              <p:cNvSpPr/>
              <p:nvPr userDrawn="1"/>
            </p:nvSpPr>
            <p:spPr>
              <a:xfrm>
                <a:off x="10668414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Content Placeholder 2"/>
          <p:cNvSpPr>
            <a:spLocks noGrp="1"/>
          </p:cNvSpPr>
          <p:nvPr userDrawn="1">
            <p:ph sz="half" idx="13"/>
          </p:nvPr>
        </p:nvSpPr>
        <p:spPr>
          <a:xfrm>
            <a:off x="6441956" y="1566272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26" name="Rectangle 25"/>
          <p:cNvSpPr/>
          <p:nvPr userDrawn="1"/>
        </p:nvSpPr>
        <p:spPr>
          <a:xfrm>
            <a:off x="10117078" y="149580"/>
            <a:ext cx="2073156" cy="7736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F8120-5D43-445C-81DE-BB63D27CD451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6395-65C6-40C6-B0F2-3F72B3156A66}" type="slidenum">
              <a:rPr lang="en-US" smtClean="0"/>
            </a:fld>
            <a:endParaRPr lang="en-US"/>
          </a:p>
        </p:txBody>
      </p:sp>
      <p:grpSp>
        <p:nvGrpSpPr>
          <p:cNvPr id="23" name="Group 22"/>
          <p:cNvGrpSpPr/>
          <p:nvPr userDrawn="1"/>
        </p:nvGrpSpPr>
        <p:grpSpPr>
          <a:xfrm>
            <a:off x="1505874" y="802630"/>
            <a:ext cx="9144477" cy="77100"/>
            <a:chOff x="1457173" y="851529"/>
            <a:chExt cx="9144477" cy="77100"/>
          </a:xfrm>
        </p:grpSpPr>
        <p:sp>
          <p:nvSpPr>
            <p:cNvPr id="10" name="Google Shape;26;p4"/>
            <p:cNvSpPr/>
            <p:nvPr userDrawn="1"/>
          </p:nvSpPr>
          <p:spPr>
            <a:xfrm>
              <a:off x="7180456" y="851529"/>
              <a:ext cx="1710300" cy="77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27;p4"/>
            <p:cNvSpPr/>
            <p:nvPr userDrawn="1"/>
          </p:nvSpPr>
          <p:spPr>
            <a:xfrm>
              <a:off x="8891350" y="851529"/>
              <a:ext cx="1710300" cy="77100"/>
            </a:xfrm>
            <a:prstGeom prst="rect">
              <a:avLst/>
            </a:prstGeom>
            <a:solidFill>
              <a:srgbClr val="6505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28;p4"/>
            <p:cNvSpPr/>
            <p:nvPr userDrawn="1"/>
          </p:nvSpPr>
          <p:spPr>
            <a:xfrm>
              <a:off x="1457173" y="851529"/>
              <a:ext cx="1710300" cy="7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29;p4"/>
            <p:cNvSpPr/>
            <p:nvPr userDrawn="1"/>
          </p:nvSpPr>
          <p:spPr>
            <a:xfrm>
              <a:off x="3167598" y="851529"/>
              <a:ext cx="1710300" cy="7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4" name="Rectangle 13"/>
          <p:cNvSpPr/>
          <p:nvPr userDrawn="1"/>
        </p:nvSpPr>
        <p:spPr>
          <a:xfrm>
            <a:off x="-1" y="6303003"/>
            <a:ext cx="12195979" cy="5549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679568" y="6365200"/>
            <a:ext cx="10820163" cy="487908"/>
            <a:chOff x="528814" y="6238068"/>
            <a:chExt cx="10820163" cy="487908"/>
          </a:xfrm>
        </p:grpSpPr>
        <p:pic>
          <p:nvPicPr>
            <p:cNvPr id="16" name="Picture 15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814" y="6238068"/>
              <a:ext cx="1925885" cy="487908"/>
            </a:xfrm>
            <a:prstGeom prst="rect">
              <a:avLst/>
            </a:prstGeom>
          </p:spPr>
        </p:pic>
        <p:cxnSp>
          <p:nvCxnSpPr>
            <p:cNvPr id="17" name="Straight Connector 16"/>
            <p:cNvCxnSpPr/>
            <p:nvPr userDrawn="1"/>
          </p:nvCxnSpPr>
          <p:spPr>
            <a:xfrm>
              <a:off x="901337" y="6598143"/>
              <a:ext cx="1037190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/>
            <p:cNvGrpSpPr/>
            <p:nvPr userDrawn="1"/>
          </p:nvGrpSpPr>
          <p:grpSpPr>
            <a:xfrm>
              <a:off x="7802880" y="6286832"/>
              <a:ext cx="3546097" cy="230832"/>
              <a:chOff x="7802880" y="6286832"/>
              <a:chExt cx="3546097" cy="230832"/>
            </a:xfrm>
          </p:grpSpPr>
          <p:sp>
            <p:nvSpPr>
              <p:cNvPr id="19" name="TextBox 18"/>
              <p:cNvSpPr txBox="1"/>
              <p:nvPr userDrawn="1"/>
            </p:nvSpPr>
            <p:spPr>
              <a:xfrm>
                <a:off x="7802880" y="6286832"/>
                <a:ext cx="3546097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900" dirty="0">
                    <a:solidFill>
                      <a:schemeClr val="bg1"/>
                    </a:solidFill>
                    <a:latin typeface="+mj-lt"/>
                  </a:rPr>
                  <a:t>KNOWLEDGE             INTEGRITY            IMPACT</a:t>
                </a:r>
                <a:endParaRPr lang="en-US" sz="900" dirty="0">
                  <a:solidFill>
                    <a:schemeClr val="bg1"/>
                  </a:solidFill>
                  <a:latin typeface="+mj-lt"/>
                </a:endParaRPr>
              </a:p>
            </p:txBody>
          </p:sp>
          <p:sp>
            <p:nvSpPr>
              <p:cNvPr id="20" name="Rectangle 19"/>
              <p:cNvSpPr/>
              <p:nvPr userDrawn="1"/>
            </p:nvSpPr>
            <p:spPr>
              <a:xfrm>
                <a:off x="8609870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/>
              <p:cNvSpPr/>
              <p:nvPr userDrawn="1"/>
            </p:nvSpPr>
            <p:spPr>
              <a:xfrm>
                <a:off x="9748239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/>
              <p:cNvSpPr/>
              <p:nvPr userDrawn="1"/>
            </p:nvSpPr>
            <p:spPr>
              <a:xfrm>
                <a:off x="10668414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6177" y="-2847804"/>
            <a:ext cx="4423402" cy="4423402"/>
          </a:xfrm>
          <a:prstGeom prst="rect">
            <a:avLst/>
          </a:prstGeom>
          <a:blipFill>
            <a:blip r:embed="rId4">
              <a:alphaModFix amt="0"/>
            </a:blip>
            <a:stretch>
              <a:fillRect/>
            </a:stretch>
          </a:blipFill>
        </p:spPr>
      </p:pic>
      <p:sp>
        <p:nvSpPr>
          <p:cNvPr id="25" name="Rectangle 24"/>
          <p:cNvSpPr/>
          <p:nvPr userDrawn="1"/>
        </p:nvSpPr>
        <p:spPr>
          <a:xfrm>
            <a:off x="0" y="-2537827"/>
            <a:ext cx="12195978" cy="2537827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6701970"/>
            <a:ext cx="1897258" cy="153590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897258" y="6701970"/>
            <a:ext cx="6345708" cy="153590"/>
          </a:xfrm>
          <a:prstGeom prst="rect">
            <a:avLst/>
          </a:prstGeom>
          <a:solidFill>
            <a:srgbClr val="0A68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8242966" y="6701970"/>
            <a:ext cx="1874112" cy="15359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10117078" y="6701970"/>
            <a:ext cx="2073156" cy="1535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10518045" y="0"/>
            <a:ext cx="1672189" cy="6858000"/>
          </a:xfrm>
        </p:spPr>
        <p:txBody>
          <a:bodyPr/>
          <a:lstStyle>
            <a:lvl1pPr marL="0" indent="0">
              <a:buNone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10748" y="673352"/>
            <a:ext cx="9794348" cy="779930"/>
          </a:xfrm>
        </p:spPr>
        <p:txBody>
          <a:bodyPr anchor="b">
            <a:normAutofit/>
          </a:bodyPr>
          <a:lstStyle>
            <a:lvl1pPr>
              <a:defRPr sz="3600" b="1">
                <a:solidFill>
                  <a:srgbClr val="0A688E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410748" y="1662545"/>
            <a:ext cx="9794348" cy="46111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050" y="5979818"/>
            <a:ext cx="722152" cy="722152"/>
          </a:xfrm>
          <a:prstGeom prst="rect">
            <a:avLst/>
          </a:prstGeom>
          <a:blipFill>
            <a:blip r:embed="rId3">
              <a:alphaModFix amt="0"/>
            </a:blip>
            <a:stretch>
              <a:fillRect/>
            </a:stretch>
          </a:blipFill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6701970"/>
            <a:ext cx="1897258" cy="153590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1897257" y="6701970"/>
            <a:ext cx="7535243" cy="153590"/>
          </a:xfrm>
          <a:prstGeom prst="rect">
            <a:avLst/>
          </a:prstGeom>
          <a:solidFill>
            <a:srgbClr val="0A68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9432500" y="6701970"/>
            <a:ext cx="1413164" cy="15359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845664" y="6701970"/>
            <a:ext cx="2073156" cy="1535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sz="half" idx="13"/>
          </p:nvPr>
        </p:nvSpPr>
        <p:spPr>
          <a:xfrm>
            <a:off x="0" y="0"/>
            <a:ext cx="12192000" cy="670197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701970"/>
            <a:ext cx="1897258" cy="153590"/>
          </a:xfrm>
          <a:prstGeom prst="rect">
            <a:avLst/>
          </a:prstGeom>
          <a:solidFill>
            <a:srgbClr val="3FB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1897257" y="6701970"/>
            <a:ext cx="7535243" cy="153590"/>
          </a:xfrm>
          <a:prstGeom prst="rect">
            <a:avLst/>
          </a:prstGeom>
          <a:solidFill>
            <a:srgbClr val="0A68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9432500" y="6701970"/>
            <a:ext cx="1413164" cy="15359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10845664" y="6701970"/>
            <a:ext cx="2073156" cy="1535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icture Placeholder 2"/>
          <p:cNvSpPr>
            <a:spLocks noGrp="1"/>
          </p:cNvSpPr>
          <p:nvPr>
            <p:ph type="pic" idx="1"/>
          </p:nvPr>
        </p:nvSpPr>
        <p:spPr>
          <a:xfrm>
            <a:off x="6038952" y="0"/>
            <a:ext cx="6153048" cy="670196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445190"/>
            <a:ext cx="447234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1" y="-1"/>
            <a:ext cx="12195979" cy="5111931"/>
          </a:xfrm>
          <a:prstGeom prst="rect">
            <a:avLst/>
          </a:prstGeom>
          <a:solidFill>
            <a:srgbClr val="0E8C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4958297"/>
            <a:ext cx="12195979" cy="153634"/>
            <a:chOff x="0" y="6701970"/>
            <a:chExt cx="12918820" cy="153590"/>
          </a:xfrm>
        </p:grpSpPr>
        <p:sp>
          <p:nvSpPr>
            <p:cNvPr id="9" name="Rectangle 8"/>
            <p:cNvSpPr/>
            <p:nvPr userDrawn="1"/>
          </p:nvSpPr>
          <p:spPr>
            <a:xfrm>
              <a:off x="0" y="6701970"/>
              <a:ext cx="1897258" cy="153590"/>
            </a:xfrm>
            <a:prstGeom prst="rect">
              <a:avLst/>
            </a:prstGeom>
            <a:solidFill>
              <a:srgbClr val="3FBE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 userDrawn="1"/>
          </p:nvSpPr>
          <p:spPr>
            <a:xfrm>
              <a:off x="1897257" y="6701970"/>
              <a:ext cx="7535243" cy="153590"/>
            </a:xfrm>
            <a:prstGeom prst="rect">
              <a:avLst/>
            </a:prstGeom>
            <a:solidFill>
              <a:srgbClr val="0A68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9432500" y="6701970"/>
              <a:ext cx="1413164" cy="15359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10845664" y="6701970"/>
              <a:ext cx="2073156" cy="15359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3564" y="5569074"/>
            <a:ext cx="856176" cy="856176"/>
          </a:xfrm>
          <a:prstGeom prst="rect">
            <a:avLst/>
          </a:prstGeom>
          <a:blipFill>
            <a:blip r:embed="rId3">
              <a:alphaModFix amt="0"/>
            </a:blip>
            <a:stretch>
              <a:fillRect/>
            </a:stretch>
          </a:blipFill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8CF8120-5D43-445C-81DE-BB63D27CD451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6A76395-65C6-40C6-B0F2-3F72B3156A66}" type="slidenum">
              <a:rPr lang="en-US" smtClean="0"/>
            </a:fld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1505874" y="1478705"/>
            <a:ext cx="9144477" cy="77100"/>
            <a:chOff x="1457173" y="851529"/>
            <a:chExt cx="9144477" cy="77100"/>
          </a:xfrm>
        </p:grpSpPr>
        <p:sp>
          <p:nvSpPr>
            <p:cNvPr id="11" name="Google Shape;26;p4"/>
            <p:cNvSpPr/>
            <p:nvPr userDrawn="1"/>
          </p:nvSpPr>
          <p:spPr>
            <a:xfrm>
              <a:off x="7180456" y="851529"/>
              <a:ext cx="1710300" cy="77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27;p4"/>
            <p:cNvSpPr/>
            <p:nvPr userDrawn="1"/>
          </p:nvSpPr>
          <p:spPr>
            <a:xfrm>
              <a:off x="8891350" y="851529"/>
              <a:ext cx="1710300" cy="77100"/>
            </a:xfrm>
            <a:prstGeom prst="rect">
              <a:avLst/>
            </a:prstGeom>
            <a:solidFill>
              <a:srgbClr val="6505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28;p4"/>
            <p:cNvSpPr/>
            <p:nvPr userDrawn="1"/>
          </p:nvSpPr>
          <p:spPr>
            <a:xfrm>
              <a:off x="1457173" y="851529"/>
              <a:ext cx="1710300" cy="7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29;p4"/>
            <p:cNvSpPr/>
            <p:nvPr userDrawn="1"/>
          </p:nvSpPr>
          <p:spPr>
            <a:xfrm>
              <a:off x="3167598" y="851529"/>
              <a:ext cx="1710300" cy="7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5" name="Rectangle 14"/>
          <p:cNvSpPr/>
          <p:nvPr userDrawn="1"/>
        </p:nvSpPr>
        <p:spPr>
          <a:xfrm>
            <a:off x="-39753" y="6303003"/>
            <a:ext cx="12235732" cy="72401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679568" y="6365200"/>
            <a:ext cx="10820163" cy="487908"/>
            <a:chOff x="528814" y="6238068"/>
            <a:chExt cx="10820163" cy="487908"/>
          </a:xfrm>
        </p:grpSpPr>
        <p:pic>
          <p:nvPicPr>
            <p:cNvPr id="17" name="Picture 16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814" y="6238068"/>
              <a:ext cx="1925885" cy="487908"/>
            </a:xfrm>
            <a:prstGeom prst="rect">
              <a:avLst/>
            </a:prstGeom>
          </p:spPr>
        </p:pic>
        <p:cxnSp>
          <p:nvCxnSpPr>
            <p:cNvPr id="18" name="Straight Connector 17"/>
            <p:cNvCxnSpPr/>
            <p:nvPr userDrawn="1"/>
          </p:nvCxnSpPr>
          <p:spPr>
            <a:xfrm>
              <a:off x="901337" y="6598143"/>
              <a:ext cx="1037190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18"/>
            <p:cNvGrpSpPr/>
            <p:nvPr userDrawn="1"/>
          </p:nvGrpSpPr>
          <p:grpSpPr>
            <a:xfrm>
              <a:off x="7802880" y="6286832"/>
              <a:ext cx="3546097" cy="230832"/>
              <a:chOff x="7802880" y="6286832"/>
              <a:chExt cx="3546097" cy="230832"/>
            </a:xfrm>
          </p:grpSpPr>
          <p:sp>
            <p:nvSpPr>
              <p:cNvPr id="20" name="TextBox 19"/>
              <p:cNvSpPr txBox="1"/>
              <p:nvPr userDrawn="1"/>
            </p:nvSpPr>
            <p:spPr>
              <a:xfrm>
                <a:off x="7802880" y="6286832"/>
                <a:ext cx="3546097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900" dirty="0">
                    <a:solidFill>
                      <a:schemeClr val="bg1"/>
                    </a:solidFill>
                    <a:latin typeface="+mj-lt"/>
                  </a:rPr>
                  <a:t>KNOWLEDGE             INTEGRITY            IMPACT</a:t>
                </a:r>
                <a:endParaRPr lang="en-US" sz="900" dirty="0">
                  <a:solidFill>
                    <a:schemeClr val="bg1"/>
                  </a:solidFill>
                  <a:latin typeface="+mj-lt"/>
                </a:endParaRPr>
              </a:p>
            </p:txBody>
          </p:sp>
          <p:sp>
            <p:nvSpPr>
              <p:cNvPr id="21" name="Rectangle 20"/>
              <p:cNvSpPr/>
              <p:nvPr userDrawn="1"/>
            </p:nvSpPr>
            <p:spPr>
              <a:xfrm>
                <a:off x="8609870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/>
              <p:cNvSpPr/>
              <p:nvPr userDrawn="1"/>
            </p:nvSpPr>
            <p:spPr>
              <a:xfrm>
                <a:off x="9748239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/>
              <p:cNvSpPr/>
              <p:nvPr userDrawn="1"/>
            </p:nvSpPr>
            <p:spPr>
              <a:xfrm>
                <a:off x="10668414" y="6345642"/>
                <a:ext cx="111034" cy="1132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TextBox 24"/>
          <p:cNvSpPr txBox="1"/>
          <p:nvPr userDrawn="1"/>
        </p:nvSpPr>
        <p:spPr>
          <a:xfrm>
            <a:off x="5378631" y="1165756"/>
            <a:ext cx="139849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 dirty="0">
                <a:solidFill>
                  <a:schemeClr val="accent1">
                    <a:lumMod val="50000"/>
                  </a:schemeClr>
                </a:solidFill>
              </a:rPr>
              <a:t>“</a:t>
            </a:r>
            <a:endParaRPr lang="en-US" sz="239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6" name="TextBox 25"/>
          <p:cNvSpPr txBox="1"/>
          <p:nvPr userDrawn="1"/>
        </p:nvSpPr>
        <p:spPr>
          <a:xfrm>
            <a:off x="5378631" y="4469044"/>
            <a:ext cx="139849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 dirty="0">
                <a:solidFill>
                  <a:schemeClr val="accent1">
                    <a:lumMod val="50000"/>
                  </a:schemeClr>
                </a:solidFill>
              </a:rPr>
              <a:t>“</a:t>
            </a:r>
            <a:endParaRPr lang="en-US" sz="239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sz="half" idx="1"/>
          </p:nvPr>
        </p:nvSpPr>
        <p:spPr>
          <a:xfrm>
            <a:off x="715954" y="3378881"/>
            <a:ext cx="5181600" cy="317440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6319710" y="3378881"/>
            <a:ext cx="5181600" cy="317440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0" y="6704366"/>
            <a:ext cx="12195979" cy="153634"/>
            <a:chOff x="0" y="6701970"/>
            <a:chExt cx="12918820" cy="153590"/>
          </a:xfrm>
        </p:grpSpPr>
        <p:sp>
          <p:nvSpPr>
            <p:cNvPr id="15" name="Rectangle 14"/>
            <p:cNvSpPr/>
            <p:nvPr userDrawn="1"/>
          </p:nvSpPr>
          <p:spPr>
            <a:xfrm>
              <a:off x="0" y="6701970"/>
              <a:ext cx="1897258" cy="153590"/>
            </a:xfrm>
            <a:prstGeom prst="rect">
              <a:avLst/>
            </a:prstGeom>
            <a:solidFill>
              <a:srgbClr val="3FBE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1897257" y="6701970"/>
              <a:ext cx="7535243" cy="153590"/>
            </a:xfrm>
            <a:prstGeom prst="rect">
              <a:avLst/>
            </a:prstGeom>
            <a:solidFill>
              <a:srgbClr val="0A68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9432500" y="6701970"/>
              <a:ext cx="1413164" cy="15359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10845664" y="6701970"/>
              <a:ext cx="2073156" cy="15359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050" y="5979818"/>
            <a:ext cx="722152" cy="722152"/>
          </a:xfrm>
          <a:prstGeom prst="rect">
            <a:avLst/>
          </a:prstGeom>
          <a:blipFill>
            <a:blip r:embed="rId3">
              <a:alphaModFix amt="0"/>
            </a:blip>
            <a:stretch>
              <a:fillRect/>
            </a:stretch>
          </a:blipFill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2192000" cy="670197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0" y="6704366"/>
            <a:ext cx="12195979" cy="153634"/>
            <a:chOff x="0" y="6701970"/>
            <a:chExt cx="12918820" cy="153590"/>
          </a:xfrm>
        </p:grpSpPr>
        <p:sp>
          <p:nvSpPr>
            <p:cNvPr id="15" name="Rectangle 14"/>
            <p:cNvSpPr/>
            <p:nvPr userDrawn="1"/>
          </p:nvSpPr>
          <p:spPr>
            <a:xfrm>
              <a:off x="0" y="6701970"/>
              <a:ext cx="1897258" cy="153590"/>
            </a:xfrm>
            <a:prstGeom prst="rect">
              <a:avLst/>
            </a:prstGeom>
            <a:solidFill>
              <a:srgbClr val="3FBE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1897257" y="6701970"/>
              <a:ext cx="7535243" cy="153590"/>
            </a:xfrm>
            <a:prstGeom prst="rect">
              <a:avLst/>
            </a:prstGeom>
            <a:solidFill>
              <a:srgbClr val="0A68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9432500" y="6701970"/>
              <a:ext cx="1413164" cy="15359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10845664" y="6701970"/>
              <a:ext cx="2073156" cy="15359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050" y="5979818"/>
            <a:ext cx="722152" cy="722152"/>
          </a:xfrm>
          <a:prstGeom prst="rect">
            <a:avLst/>
          </a:prstGeom>
          <a:blipFill>
            <a:blip r:embed="rId3">
              <a:alphaModFix amt="0"/>
            </a:blip>
            <a:stretch>
              <a:fillRect/>
            </a:stretch>
          </a:blipFill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-56710"/>
            <a:ext cx="12192000" cy="6748131"/>
          </a:xfrm>
          <a:prstGeom prst="rect">
            <a:avLst/>
          </a:prstGeom>
          <a:solidFill>
            <a:srgbClr val="0A68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Google Shape;356;p34"/>
          <p:cNvSpPr txBox="1"/>
          <p:nvPr userDrawn="1"/>
        </p:nvSpPr>
        <p:spPr>
          <a:xfrm>
            <a:off x="1135765" y="2427304"/>
            <a:ext cx="5561100" cy="1159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11500" dirty="0">
                <a:solidFill>
                  <a:schemeClr val="bg1"/>
                </a:solidFill>
              </a:rPr>
              <a:t>Thanks!</a:t>
            </a:r>
            <a:endParaRPr lang="en-US" sz="11500" dirty="0">
              <a:solidFill>
                <a:schemeClr val="bg1"/>
              </a:solidFill>
            </a:endParaRPr>
          </a:p>
        </p:txBody>
      </p:sp>
      <p:sp>
        <p:nvSpPr>
          <p:cNvPr id="9" name="Google Shape;357;p34"/>
          <p:cNvSpPr txBox="1"/>
          <p:nvPr userDrawn="1"/>
        </p:nvSpPr>
        <p:spPr>
          <a:xfrm>
            <a:off x="1135765" y="3455423"/>
            <a:ext cx="5561100" cy="784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Font typeface="Arial" panose="02080604020202020204" pitchFamily="34" charset="0"/>
              <a:buNone/>
            </a:pPr>
            <a:r>
              <a:rPr lang="en-US" sz="4800" b="1">
                <a:solidFill>
                  <a:schemeClr val="lt1"/>
                </a:solidFill>
              </a:rPr>
              <a:t>Any questions?</a:t>
            </a:r>
            <a:endParaRPr lang="en-US" sz="4800" b="1">
              <a:solidFill>
                <a:schemeClr val="lt1"/>
              </a:solidFill>
            </a:endParaRPr>
          </a:p>
        </p:txBody>
      </p:sp>
      <p:grpSp>
        <p:nvGrpSpPr>
          <p:cNvPr id="10" name="Group 9"/>
          <p:cNvGrpSpPr/>
          <p:nvPr userDrawn="1"/>
        </p:nvGrpSpPr>
        <p:grpSpPr>
          <a:xfrm>
            <a:off x="0" y="6704366"/>
            <a:ext cx="12195979" cy="153634"/>
            <a:chOff x="0" y="6701970"/>
            <a:chExt cx="12918820" cy="153590"/>
          </a:xfrm>
        </p:grpSpPr>
        <p:sp>
          <p:nvSpPr>
            <p:cNvPr id="11" name="Rectangle 10"/>
            <p:cNvSpPr/>
            <p:nvPr userDrawn="1"/>
          </p:nvSpPr>
          <p:spPr>
            <a:xfrm>
              <a:off x="0" y="6701970"/>
              <a:ext cx="1897258" cy="153590"/>
            </a:xfrm>
            <a:prstGeom prst="rect">
              <a:avLst/>
            </a:prstGeom>
            <a:solidFill>
              <a:srgbClr val="3FBE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1897257" y="6701970"/>
              <a:ext cx="7535243" cy="153590"/>
            </a:xfrm>
            <a:prstGeom prst="rect">
              <a:avLst/>
            </a:prstGeom>
            <a:solidFill>
              <a:srgbClr val="0A68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9432500" y="6701970"/>
              <a:ext cx="1413164" cy="15359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10845664" y="6701970"/>
              <a:ext cx="2073156" cy="15359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/>
          <p:cNvSpPr/>
          <p:nvPr userDrawn="1"/>
        </p:nvSpPr>
        <p:spPr>
          <a:xfrm>
            <a:off x="7180729" y="269109"/>
            <a:ext cx="6320118" cy="6333565"/>
          </a:xfrm>
          <a:prstGeom prst="rect">
            <a:avLst/>
          </a:prstGeom>
          <a:blipFill dpi="0" rotWithShape="1">
            <a:blip r:embed="rId2">
              <a:alphaModFix amt="67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image" Target="../media/image2.png"/><Relationship Id="rId15" Type="http://schemas.openxmlformats.org/officeDocument/2006/relationships/image" Target="../media/image1.png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F8120-5D43-445C-81DE-BB63D27CD45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76395-65C6-40C6-B0F2-3F72B3156A66}" type="slidenum">
              <a:rPr lang="en-US" smtClean="0"/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-39753" y="-51683"/>
            <a:ext cx="12235732" cy="690968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90" y="483244"/>
            <a:ext cx="2684166" cy="680012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7180729" y="269109"/>
            <a:ext cx="6320118" cy="6333565"/>
          </a:xfrm>
          <a:prstGeom prst="rect">
            <a:avLst/>
          </a:prstGeom>
          <a:blipFill dpi="0" rotWithShape="1">
            <a:blip r:embed="rId15">
              <a:alphaModFix amt="67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4206240" cy="6711696"/>
          </a:xfrm>
          <a:prstGeom prst="rect">
            <a:avLst/>
          </a:prstGeom>
          <a:solidFill>
            <a:srgbClr val="003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06240" y="73152"/>
            <a:ext cx="54864" cy="671169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" y="1828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C000"/>
                </a:solidFill>
                <a:latin typeface="Calibri"/>
              </a:rPr>
              <a:t>UNIVERSITY OF ENERGY AND NATURAL RESOURCES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" y="5486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EDDA"/>
                </a:solidFill>
                <a:latin typeface="Calibri"/>
              </a:rPr>
              <a:t>Department of Computer Science and Informatics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868680"/>
            <a:ext cx="3566160" cy="1828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" y="1005840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Korang Bright Agyei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" y="129844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EDDA"/>
                </a:solidFill>
                <a:latin typeface="Calibri"/>
              </a:rPr>
              <a:t>UEB3501222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" y="1664208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Mohammed Idris Adam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" y="19568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EDDA"/>
                </a:solidFill>
                <a:latin typeface="Calibri"/>
              </a:rPr>
              <a:t>UEB3501022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" y="2322576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Benaiah Amarh Anang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" y="2615184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EDDA"/>
                </a:solidFill>
                <a:latin typeface="Calibri"/>
              </a:rPr>
              <a:t>UEB3512522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" y="2980944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Osei Nana Kwaku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" y="3273551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EDDA"/>
                </a:solidFill>
                <a:latin typeface="Calibri"/>
              </a:rPr>
              <a:t>UEB3509022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" y="5989320"/>
            <a:ext cx="3657600" cy="3200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" y="6080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C000"/>
                </a:solidFill>
                <a:latin typeface="Calibri"/>
              </a:rPr>
              <a:t>Final Year Project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822960"/>
            <a:ext cx="7406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QChat for Institutional
Messaging for Students
and Lecturers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3520440"/>
            <a:ext cx="5029200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3657600"/>
            <a:ext cx="7406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DDA"/>
                </a:solidFill>
                <a:latin typeface="Calibri"/>
              </a:rPr>
              <a:t>A Hybrid Web2/Web3 Secure Institutional Communication Platform
with Blockchain Audit Trail, Real-World Identifiers, and Quantum Encryption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754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000"/>
                </a:solidFill>
                <a:latin typeface="Calibri"/>
              </a:rPr>
              <a:t>SUPERVISOR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5029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Dr Peter Nimbe (PS001)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5577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DDA"/>
                </a:solidFill>
                <a:latin typeface="Calibri"/>
              </a:rP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"/>
            <a:ext cx="347472" cy="6748272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64592"/>
            <a:ext cx="5486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5C2E"/>
                </a:solidFill>
                <a:latin typeface="Calibri"/>
              </a:rPr>
              <a:t>Table of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804672"/>
            <a:ext cx="4114800" cy="502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005840"/>
            <a:ext cx="594360" cy="594360"/>
          </a:xfrm>
          <a:prstGeom prst="round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6984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11155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Background &amp; Introduction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1664208"/>
            <a:ext cx="5394960" cy="1097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1920240"/>
            <a:ext cx="594360" cy="594360"/>
          </a:xfrm>
          <a:prstGeom prst="round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98424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20299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Problem Statement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2578608"/>
            <a:ext cx="5394960" cy="1097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2834640"/>
            <a:ext cx="594360" cy="594360"/>
          </a:xfrm>
          <a:prstGeom prst="round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89864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29443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Aim &amp; Objectives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3493008"/>
            <a:ext cx="5394960" cy="1097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3749039"/>
            <a:ext cx="594360" cy="594360"/>
          </a:xfrm>
          <a:prstGeom prst="round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81304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38587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Related Work &amp; Existing Systems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" y="4407407"/>
            <a:ext cx="5394960" cy="1097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4663440"/>
            <a:ext cx="594360" cy="594360"/>
          </a:xfrm>
          <a:prstGeom prst="round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72744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432" y="47731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Methodology &amp; Technical Stack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1005840"/>
            <a:ext cx="594360" cy="594360"/>
          </a:xfrm>
          <a:prstGeom prst="round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106984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59752" y="111556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System Architecture &amp; Design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19672" y="1664208"/>
            <a:ext cx="5212080" cy="1097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92240" y="1920240"/>
            <a:ext cx="594360" cy="594360"/>
          </a:xfrm>
          <a:prstGeom prst="round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198424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59752" y="202996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Real-World Identity &amp; Audit Workflow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19672" y="2578608"/>
            <a:ext cx="5212080" cy="1097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92240" y="2834640"/>
            <a:ext cx="594360" cy="594360"/>
          </a:xfrm>
          <a:prstGeom prst="round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289864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59752" y="294436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Testing &amp; Empirical Results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19672" y="3493008"/>
            <a:ext cx="5212080" cy="1097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492240" y="3749039"/>
            <a:ext cx="594360" cy="594360"/>
          </a:xfrm>
          <a:prstGeom prst="round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81304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59752" y="385876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19672" y="4407407"/>
            <a:ext cx="5212080" cy="10972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492240" y="4663440"/>
            <a:ext cx="594360" cy="594360"/>
          </a:xfrm>
          <a:prstGeom prst="round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472744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59752" y="477316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Conclusion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807708"/>
            <a:ext cx="8229600" cy="50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QChat | UENR Computer Science &amp; Informatics |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0292"/>
            <a:ext cx="12188952" cy="896112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46403"/>
            <a:ext cx="82296" cy="585216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09728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1. Background &amp; Introduction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530584" y="109728"/>
            <a:ext cx="475488" cy="47548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30584" y="128016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5C2E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" y="6798564"/>
            <a:ext cx="7315200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5C2E"/>
                </a:solidFill>
                <a:latin typeface="Calibri"/>
              </a:rPr>
              <a:t>QChat | UENR Computer Science &amp; Informatics |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" y="1051560"/>
            <a:ext cx="11823192" cy="562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  • Higher education workflows depend heavily on digital channels for student-faculty interaction and document submission</a:t>
            </a:r>
          </a:p>
          <a:p>
            <a:pPr algn="l">
              <a:spcBef>
                <a:spcPts val="10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  • Commercial messaging systems (WhatsApp, Teams, email) lack institutional identity verification, tamper evidence, and audit trails</a:t>
            </a:r>
          </a:p>
          <a:p>
            <a:pPr algn="l">
              <a:spcBef>
                <a:spcPts val="10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  • Students and faculty face disputes over altered assignment timestamps, missing attachments, or modified grades without cryptographic proof</a:t>
            </a:r>
          </a:p>
          <a:p>
            <a:pPr algn="l">
              <a:spcBef>
                <a:spcPts val="10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  • QChat solves this vulnerability by pairing sub-second Convex WebSocket messaging with Hyperledger Besu blockchain hashing</a:t>
            </a:r>
          </a:p>
          <a:p>
            <a:pPr algn="l">
              <a:spcBef>
                <a:spcPts val="10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  • Identity verification uses real-world institutional credentials: Email, Student Index Number (e.g. UEB3509022), and Lecturer Staff ID (PS*** format e.g. PS001)</a:t>
            </a:r>
          </a:p>
          <a:p>
            <a:pPr algn="l">
              <a:spcBef>
                <a:spcPts val="10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  • Engineered as a Final Year Capstone Project in the Department of Computer Science and Informatics at UENR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0292"/>
            <a:ext cx="12188952" cy="896112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46403"/>
            <a:ext cx="82296" cy="585216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09728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2. Problem Statement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530584" y="109728"/>
            <a:ext cx="475488" cy="47548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30584" y="128016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5C2E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" y="6798564"/>
            <a:ext cx="7315200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5C2E"/>
                </a:solidFill>
                <a:latin typeface="Calibri"/>
              </a:rPr>
              <a:t>QChat | UENR Computer Science &amp; Informatics |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" y="1051560"/>
            <a:ext cx="11823192" cy="562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b="1" sz="1350">
                <a:solidFill>
                  <a:srgbClr val="005C2E"/>
                </a:solidFill>
                <a:latin typeface="Calibri"/>
              </a:rPr>
              <a:t>Problem 1 — Performance vs. Verification Tension</a:t>
            </a:r>
          </a:p>
          <a:p>
            <a:pPr algn="l">
              <a:spcBef>
                <a:spcPts val="800"/>
              </a:spcBef>
            </a:pPr>
            <a:r>
              <a:rPr sz="1250">
                <a:solidFill>
                  <a:srgbClr val="444444"/>
                </a:solidFill>
                <a:latin typeface="Calibri"/>
              </a:rPr>
              <a:t>        ○ Real-time communication demands instant delivery (&lt;200ms), whereas public blockchains introduce high latency and gas costs</a:t>
            </a:r>
          </a:p>
          <a:p>
            <a:pPr algn="l">
              <a:spcBef>
                <a:spcPts val="800"/>
              </a:spcBef>
            </a:pPr>
            <a:r>
              <a:rPr b="1" sz="1350">
                <a:solidFill>
                  <a:srgbClr val="005C2E"/>
                </a:solidFill>
                <a:latin typeface="Calibri"/>
              </a:rPr>
              <a:t>Problem 2 — Content &amp; Timestamp Tampering Vulnerability</a:t>
            </a:r>
          </a:p>
          <a:p>
            <a:pPr algn="l">
              <a:spcBef>
                <a:spcPts val="800"/>
              </a:spcBef>
            </a:pPr>
            <a:r>
              <a:rPr sz="1250">
                <a:solidFill>
                  <a:srgbClr val="444444"/>
                </a:solidFill>
                <a:latin typeface="Calibri"/>
              </a:rPr>
              <a:t>        ○ Centralized databases allow database admins or compromised accounts to alter communication logs or timestamps undetected</a:t>
            </a:r>
          </a:p>
          <a:p>
            <a:pPr algn="l">
              <a:spcBef>
                <a:spcPts val="800"/>
              </a:spcBef>
            </a:pPr>
            <a:r>
              <a:rPr b="1" sz="1350">
                <a:solidFill>
                  <a:srgbClr val="005C2E"/>
                </a:solidFill>
                <a:latin typeface="Calibri"/>
              </a:rPr>
              <a:t>Problem 3 — Impractical Identity Mechanics</a:t>
            </a:r>
          </a:p>
          <a:p>
            <a:pPr algn="l">
              <a:spcBef>
                <a:spcPts val="800"/>
              </a:spcBef>
            </a:pPr>
            <a:r>
              <a:rPr sz="1250">
                <a:solidFill>
                  <a:srgbClr val="444444"/>
                </a:solidFill>
                <a:latin typeface="Calibri"/>
              </a:rPr>
              <a:t>        ○ Legacy blockchain solutions require users to memorize 42-character wallet addresses (0x...) or database IDs instead of familiar identifiers</a:t>
            </a:r>
          </a:p>
          <a:p>
            <a:pPr algn="l">
              <a:spcBef>
                <a:spcPts val="800"/>
              </a:spcBef>
            </a:pPr>
            <a:r>
              <a:rPr b="1" sz="1350">
                <a:solidFill>
                  <a:srgbClr val="005C2E"/>
                </a:solidFill>
                <a:latin typeface="Calibri"/>
              </a:rPr>
              <a:t>Problem 4 — Quantum Cryptanalysis Vulnerability</a:t>
            </a:r>
          </a:p>
          <a:p>
            <a:pPr algn="l">
              <a:spcBef>
                <a:spcPts val="800"/>
              </a:spcBef>
            </a:pPr>
            <a:r>
              <a:rPr sz="1250">
                <a:solidFill>
                  <a:srgbClr val="444444"/>
                </a:solidFill>
                <a:latin typeface="Calibri"/>
              </a:rPr>
              <a:t>        ○ RSA and ECC algorithms risk compromise by quantum decryption algorithms within the coming decade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0292"/>
            <a:ext cx="12188952" cy="896112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46403"/>
            <a:ext cx="82296" cy="585216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09728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3. Project Objectives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530584" y="109728"/>
            <a:ext cx="475488" cy="47548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30584" y="128016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5C2E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" y="6798564"/>
            <a:ext cx="7315200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5C2E"/>
                </a:solidFill>
                <a:latin typeface="Calibri"/>
              </a:rPr>
              <a:t>QChat | UENR Computer Science &amp; Informatics |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" y="1024128"/>
            <a:ext cx="11823192" cy="68580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097280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5C2E"/>
                </a:solidFill>
                <a:latin typeface="Calibri"/>
              </a:rPr>
              <a:t>AIM: Architect, implement, and benchmark a hybrid Web2/Web3 institutional messaging system equipped with real-identifier lookup, blockchain audit trails, and client-side encryption.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1874519"/>
            <a:ext cx="5806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C2E"/>
                </a:solidFill>
                <a:latin typeface="Calibri"/>
              </a:rPr>
              <a:t>Objectives 1–3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2258568"/>
            <a:ext cx="5806440" cy="32004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2350008"/>
            <a:ext cx="58064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Obj 1 — Real-Time Engine: React 19 + TypeScript + Convex backend for instant chats and community Q&amp;A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Obj 2 — Client Confidentiality: Browser Web Crypto API for RSA-OAEP 2048 and AES-GCM 256 encryption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Obj 3 — Blockchain Audit Trail: Solidity MessageVerifier.sol on Hyperledger Besu recording SHA-256 digests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9904" y="1874519"/>
            <a:ext cx="36576" cy="429768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1874519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C2E"/>
                </a:solidFill>
                <a:latin typeface="Calibri"/>
              </a:rPr>
              <a:t>Objectives 4–6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8" y="2258568"/>
            <a:ext cx="5669280" cy="32004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6208" y="2350008"/>
            <a:ext cx="56692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Obj 4 — Real Identifiers: Instant user lookup by Email, Student Index (UEB3509022), and Lecturer Staff ID (PS***)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Obj 5 — Cryptographic Audit Trail: Verification modal comparing mutable DB timestamps vs immutable block timestamps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Obj 6 — Empirical Evaluation: End-to-end unit testing, Besu transaction validation, and UAT field evaluation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0292"/>
            <a:ext cx="12188952" cy="896112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46403"/>
            <a:ext cx="82296" cy="585216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09728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4. Comparative Literature 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530584" y="109728"/>
            <a:ext cx="475488" cy="47548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30584" y="128016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5C2E"/>
                </a:solidFill>
                <a:latin typeface="Calibr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" y="6798564"/>
            <a:ext cx="7315200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5C2E"/>
                </a:solidFill>
                <a:latin typeface="Calibri"/>
              </a:rPr>
              <a:t>QChat | UENR Computer Science &amp; Informatics |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051560"/>
            <a:ext cx="2011680" cy="77724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" y="1124712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MS Teams / Slack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11430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High real-time speed — but centralized database ownership, zero cryptographic verification, and no client E2EE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892807"/>
            <a:ext cx="11823192" cy="9144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2011680"/>
            <a:ext cx="2011680" cy="77724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" y="2084832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Signal / WhatsApp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21031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Strong E2E encryption — but lacks institutional role governance, tamper-proof audit logs, and academic submission checks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2852928"/>
            <a:ext cx="11823192" cy="9144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2880" y="2971800"/>
            <a:ext cx="2011680" cy="777240"/>
          </a:xfrm>
          <a:prstGeom prst="rect">
            <a:avLst/>
          </a:prstGeom>
          <a:solidFill>
            <a:srgbClr val="006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" y="3044952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Canvas / Moodle LMS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30632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Coursework management — but relies on mutable SQL logs without cryptographic proof of file integrity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3813048"/>
            <a:ext cx="11823192" cy="9144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2880" y="3931920"/>
            <a:ext cx="2011680" cy="777240"/>
          </a:xfrm>
          <a:prstGeom prst="rect">
            <a:avLst/>
          </a:prstGeom>
          <a:solidFill>
            <a:srgbClr val="33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" y="4005072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Hyperledger Fabric Systems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4023359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Immutable auditing — but complex multi-node setup, high latency, and lack of real-time messaging UX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4937759"/>
            <a:ext cx="11823192" cy="640080"/>
          </a:xfrm>
          <a:prstGeom prst="rect">
            <a:avLst/>
          </a:prstGeom>
          <a:solidFill>
            <a:srgbClr val="FFF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4983479"/>
            <a:ext cx="11640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4000"/>
                </a:solidFill>
                <a:latin typeface="Calibri"/>
              </a:rPr>
              <a:t>Research Contribution: QChat bridges the gap by linking (a) sub-200ms Convex WebSocket messaging, (b) zero-gas Besu ledger verification, (c) WebCrypto client-side E2EE, and (d) Real-identifier lookup (Email, Index, PS*** Staff ID).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0292"/>
            <a:ext cx="12188952" cy="896112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46403"/>
            <a:ext cx="82296" cy="585216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09728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5. Engineering Methodology &amp; Stack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530584" y="109728"/>
            <a:ext cx="475488" cy="47548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30584" y="128016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5C2E"/>
                </a:solidFill>
                <a:latin typeface="Calibri"/>
              </a:rP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" y="6798564"/>
            <a:ext cx="7315200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5C2E"/>
                </a:solidFill>
                <a:latin typeface="Calibri"/>
              </a:rPr>
              <a:t>QChat | UENR Computer Science &amp; Informatics |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" y="1051560"/>
            <a:ext cx="5806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C2E"/>
                </a:solidFill>
                <a:latin typeface="Calibri"/>
              </a:rPr>
              <a:t>Software Process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435607"/>
            <a:ext cx="5806440" cy="32004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1527048"/>
            <a:ext cx="58064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Development Framework — 5 Agile Sprints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Phase 1: React 19 SPA shell + Convex reactive backend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Phase 2: Hyperledger Besu container setup + Solidity contract MessageVerifier.sol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Phase 3: Real-identifier indexing (Email, Index, PS*** Staff ID) + WebCrypto RSA/AES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Phase 4: Verification Dashboard in Admin.tsx + Cryptographic Audit Trail modal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Phase 5: PDF Audit Report generation + end-to-end empirical testing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9904" y="1051560"/>
            <a:ext cx="36576" cy="512064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8" y="10515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C2E"/>
                </a:solidFill>
                <a:latin typeface="Calibri"/>
              </a:rPr>
              <a:t>Technical Stack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6208" y="1435607"/>
            <a:ext cx="5669280" cy="32004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152704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Frontend: React 19 + TypeScript + Vite SPA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Backend: Convex serverless reactive engine (WebSocket sync)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Blockchain: Hyperledger Besu private network (QBFT consensus, zero-gas execution)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Smart Contract: Solidity 0.8.20 — MessageVerifier.sol (verifyUserWithIndex / verifyUserWithStaffId)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Real Identifiers: Email, Index Number (UEB3509022), Staff ID (PS*** e.g. PS001)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Web3 Bridge: Ethers.js v6 JSON-RPC interface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0292"/>
            <a:ext cx="12188952" cy="896112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46403"/>
            <a:ext cx="82296" cy="585216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09728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6. System Architecture Breakdown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530584" y="109728"/>
            <a:ext cx="475488" cy="47548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30584" y="128016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5C2E"/>
                </a:solidFill>
                <a:latin typeface="Calibri"/>
              </a:rPr>
              <a:t>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" y="6798564"/>
            <a:ext cx="7315200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5C2E"/>
                </a:solidFill>
                <a:latin typeface="Calibri"/>
              </a:rPr>
              <a:t>QChat | UENR Computer Science &amp; Informatics |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051560"/>
            <a:ext cx="1828800" cy="100584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" y="1280160"/>
            <a:ext cx="18105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PRESENTATION LAYER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57400" y="1051560"/>
            <a:ext cx="9948672" cy="1005840"/>
          </a:xfrm>
          <a:prstGeom prst="rect">
            <a:avLst/>
          </a:prstGeom>
          <a:solidFill>
            <a:srgbClr val="F0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48840" y="1161288"/>
            <a:ext cx="976579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React 19 SPA   •   TypeScript   •   Vite   •   React Router v7
Real-time Chat   |   User Submission Verification Desk   |   Cryptographic Audit Modal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057400"/>
            <a:ext cx="502920" cy="1645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03911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5C2E"/>
                </a:solidFill>
                <a:latin typeface="Calibri"/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2286000"/>
            <a:ext cx="1828800" cy="100584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" y="2514600"/>
            <a:ext cx="18105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APPLICATION LAYER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57400" y="2286000"/>
            <a:ext cx="9948672" cy="1005840"/>
          </a:xfrm>
          <a:prstGeom prst="rect">
            <a:avLst/>
          </a:prstGeom>
          <a:solidFill>
            <a:srgbClr val="F0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48840" y="2395728"/>
            <a:ext cx="976579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Convex Serverless Engine — Real-time WebSocket Sync   •   Document Database
lookupUserByIdentifier (Email, Index, Staff ID PS***)   |   getUserMessages (30 Days)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291840"/>
            <a:ext cx="502920" cy="1645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27355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5C2E"/>
                </a:solidFill>
                <a:latin typeface="Calibri"/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3520440"/>
            <a:ext cx="1828800" cy="1005840"/>
          </a:xfrm>
          <a:prstGeom prst="rect">
            <a:avLst/>
          </a:prstGeom>
          <a:solidFill>
            <a:srgbClr val="006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" y="3749039"/>
            <a:ext cx="18105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VERIFICATION LAYER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57400" y="3520440"/>
            <a:ext cx="9948672" cy="1005840"/>
          </a:xfrm>
          <a:prstGeom prst="rect">
            <a:avLst/>
          </a:prstGeom>
          <a:solidFill>
            <a:srgbClr val="F0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48840" y="3630168"/>
            <a:ext cx="976579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Hyperledger Besu (QBFT consensus, ChainId 1337)   •   Ethers.js v6 RPC
MessageVerifier.sol (verifyUserWithIndex, verifyUserWithStaffId)   |   SHA-256 Hashing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4828032"/>
            <a:ext cx="11823192" cy="68580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4873752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5C2E"/>
                </a:solidFill>
                <a:latin typeface="Calibri"/>
              </a:rPr>
              <a:t>Architectural Highlights:  Browser WebCrypto RSA/AES keeps private keys local  •  Real-world identifiers (Email, Index Number, Staff ID PS***) eliminate 0x... address friction  •  Audit trail modal compares Convex DB timestamp (mutable) against Besu block timestamp (immutable).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0292"/>
            <a:ext cx="12188952" cy="896112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46403"/>
            <a:ext cx="82296" cy="585216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09728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7. Real-World Identity &amp; Audit Workflow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530584" y="109728"/>
            <a:ext cx="475488" cy="47548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30584" y="128016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5C2E"/>
                </a:solidFill>
                <a:latin typeface="Calibri"/>
              </a:rPr>
              <a:t>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" y="6798564"/>
            <a:ext cx="7315200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5C2E"/>
                </a:solidFill>
                <a:latin typeface="Calibri"/>
              </a:rPr>
              <a:t>QChat | UENR Computer Science &amp; Informatics |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" y="1051560"/>
            <a:ext cx="5806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C2E"/>
                </a:solidFill>
                <a:latin typeface="Calibri"/>
              </a:rPr>
              <a:t>User Search &amp; Data Fetch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435607"/>
            <a:ext cx="5806440" cy="32004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1527048"/>
            <a:ext cx="58064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Step 1: Admin Identifier Search</a:t>
            </a:r>
          </a:p>
          <a:p>
            <a:pPr algn="l">
              <a:spcBef>
                <a:spcPts val="600"/>
              </a:spcBef>
            </a:pPr>
            <a:r>
              <a:rPr sz="1100">
                <a:solidFill>
                  <a:srgbClr val="444444"/>
                </a:solidFill>
                <a:latin typeface="Calibri"/>
              </a:rPr>
              <a:t>        ○ Admin searches user by Email (osei@uenr.edu.gh), Index Number (UEB3509022), or Staff ID (PS001, PS123)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Step 2: Live Convex Database Fetch</a:t>
            </a:r>
          </a:p>
          <a:p>
            <a:pPr algn="l">
              <a:spcBef>
                <a:spcPts val="600"/>
              </a:spcBef>
            </a:pPr>
            <a:r>
              <a:rPr sz="1100">
                <a:solidFill>
                  <a:srgbClr val="444444"/>
                </a:solidFill>
                <a:latin typeface="Calibri"/>
              </a:rPr>
              <a:t>        ○ System retrieves user identity profile, role, wallet address, and 30-day submission history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Step 3: Submission History Inspection</a:t>
            </a:r>
          </a:p>
          <a:p>
            <a:pPr algn="l">
              <a:spcBef>
                <a:spcPts val="600"/>
              </a:spcBef>
            </a:pPr>
            <a:r>
              <a:rPr sz="1100">
                <a:solidFill>
                  <a:srgbClr val="444444"/>
                </a:solidFill>
                <a:latin typeface="Calibri"/>
              </a:rPr>
              <a:t>        ○ Displays sent files (e.g. assignment.pdf), timestamps, and blockchain recording status badges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9904" y="1051560"/>
            <a:ext cx="36576" cy="512064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8" y="10515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C2E"/>
                </a:solidFill>
                <a:latin typeface="Calibri"/>
              </a:rPr>
              <a:t>Audit Trail &amp; Verification Verdict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6208" y="1435607"/>
            <a:ext cx="5669280" cy="32004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152704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Step 4: Cryptographic Audit Trail</a:t>
            </a:r>
          </a:p>
          <a:p>
            <a:pPr algn="l">
              <a:spcBef>
                <a:spcPts val="600"/>
              </a:spcBef>
            </a:pPr>
            <a:r>
              <a:rPr sz="1100">
                <a:solidFill>
                  <a:srgbClr val="444444"/>
                </a:solidFill>
                <a:latin typeface="Calibri"/>
              </a:rPr>
              <a:t>        ○ Compares Convex DB timestamp (⚠️ Mutable) vs. Hyperledger Besu Block timestamp (✅ IMMUTABLE)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Step 5: Content Digest &amp; Identity Check</a:t>
            </a:r>
          </a:p>
          <a:p>
            <a:pPr algn="l">
              <a:spcBef>
                <a:spcPts val="600"/>
              </a:spcBef>
            </a:pPr>
            <a:r>
              <a:rPr sz="1100">
                <a:solidFill>
                  <a:srgbClr val="444444"/>
                </a:solidFill>
                <a:latin typeface="Calibri"/>
              </a:rPr>
              <a:t>        ○ Validates SHA-256 content hash and confirms sender wallet matches student/lecturer on-chain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Step 6: Report Generation</a:t>
            </a:r>
          </a:p>
          <a:p>
            <a:pPr algn="l">
              <a:spcBef>
                <a:spcPts val="600"/>
              </a:spcBef>
            </a:pPr>
            <a:r>
              <a:rPr sz="1100">
                <a:solidFill>
                  <a:srgbClr val="444444"/>
                </a:solidFill>
                <a:latin typeface="Calibri"/>
              </a:rPr>
              <a:t>        ○ Produces printable verification report certified with cryptographic transaction proof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0292"/>
            <a:ext cx="12188952" cy="896112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46403"/>
            <a:ext cx="82296" cy="585216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09728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8. Empirical Results &amp;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530584" y="109728"/>
            <a:ext cx="475488" cy="47548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30584" y="128016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5C2E"/>
                </a:solidFill>
                <a:latin typeface="Calibri"/>
              </a:rPr>
              <a:t>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" y="6798564"/>
            <a:ext cx="7315200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5C2E"/>
                </a:solidFill>
                <a:latin typeface="Calibri"/>
              </a:rPr>
              <a:t>QChat | UENR Computer Science &amp; Informatics |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" y="1051560"/>
            <a:ext cx="5806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C2E"/>
                </a:solidFill>
                <a:latin typeface="Calibri"/>
              </a:rPr>
              <a:t>Verification Strategy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435607"/>
            <a:ext cx="5806440" cy="32004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1527048"/>
            <a:ext cx="58064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Layer 1 — Identity &amp; Contract Testing:</a:t>
            </a:r>
          </a:p>
          <a:p>
            <a:pPr algn="l">
              <a:spcBef>
                <a:spcPts val="600"/>
              </a:spcBef>
            </a:pPr>
            <a:r>
              <a:rPr sz="1100">
                <a:solidFill>
                  <a:srgbClr val="444444"/>
                </a:solidFill>
                <a:latin typeface="Calibri"/>
              </a:rPr>
              <a:t>        ○ MessageVerifier.sol verifyUserWithIndex &amp; verifyUserWithStaffId compile cleanly</a:t>
            </a:r>
          </a:p>
          <a:p>
            <a:pPr algn="l">
              <a:spcBef>
                <a:spcPts val="600"/>
              </a:spcBef>
            </a:pPr>
            <a:r>
              <a:rPr sz="1100">
                <a:solidFill>
                  <a:srgbClr val="444444"/>
                </a:solidFill>
                <a:latin typeface="Calibri"/>
              </a:rPr>
              <a:t>        ○ Staff ID format PS*** (e.g. PS001, PS123) correctly bound to lecturer role on-chain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Layer 2 — Convex &amp; Blockchain Integration:</a:t>
            </a:r>
          </a:p>
          <a:p>
            <a:pPr algn="l">
              <a:spcBef>
                <a:spcPts val="600"/>
              </a:spcBef>
            </a:pPr>
            <a:r>
              <a:rPr sz="1100">
                <a:solidFill>
                  <a:srgbClr val="444444"/>
                </a:solidFill>
                <a:latin typeface="Calibri"/>
              </a:rPr>
              <a:t>        ○ Instant user lookup by Email, Index, or Staff ID</a:t>
            </a:r>
          </a:p>
          <a:p>
            <a:pPr algn="l">
              <a:spcBef>
                <a:spcPts val="600"/>
              </a:spcBef>
            </a:pPr>
            <a:r>
              <a:rPr sz="1100">
                <a:solidFill>
                  <a:srgbClr val="444444"/>
                </a:solidFill>
                <a:latin typeface="Calibri"/>
              </a:rPr>
              <a:t>        ○ SHA-256 payload digest matching Hyperledger Besu logs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Layer 3 — User Acceptance Walkthroughs:</a:t>
            </a:r>
          </a:p>
          <a:p>
            <a:pPr algn="l">
              <a:spcBef>
                <a:spcPts val="600"/>
              </a:spcBef>
            </a:pPr>
            <a:r>
              <a:rPr sz="1100">
                <a:solidFill>
                  <a:srgbClr val="444444"/>
                </a:solidFill>
                <a:latin typeface="Calibri"/>
              </a:rPr>
              <a:t>        ○ Osei Nana Kwaku (UEB3509022) assignment submission verified on-time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9904" y="1051560"/>
            <a:ext cx="36576" cy="512064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8" y="10515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C2E"/>
                </a:solidFill>
                <a:latin typeface="Calibri"/>
              </a:rPr>
              <a:t>Observed Benchmark Results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6208" y="1435607"/>
            <a:ext cx="5669280" cy="32004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152704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MessageVerifier.sol smart contract compiled successfully (Solidity 0.8.20)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Convex real-time messaging achieved sub-200ms delivery latency over WebSocket connections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Besu transaction execution achieved 100% hash verification accuracy across test payloads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Vite production build completed with 0 errors (243 modules transformed)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Audit Trail verdict successfully detected immutable block timestamp and validated sender identity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0292"/>
            <a:ext cx="12188952" cy="896112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46403"/>
            <a:ext cx="82296" cy="585216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09728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9. Constraints &amp; Future Scope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530584" y="109728"/>
            <a:ext cx="475488" cy="47548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30584" y="128016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5C2E"/>
                </a:solidFill>
                <a:latin typeface="Calibri"/>
              </a:rPr>
              <a:t>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" y="6798564"/>
            <a:ext cx="7315200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5C2E"/>
                </a:solidFill>
                <a:latin typeface="Calibri"/>
              </a:rPr>
              <a:t>QChat | UENR Computer Science &amp; Informatics |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" y="1051560"/>
            <a:ext cx="5806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C2E"/>
                </a:solidFill>
                <a:latin typeface="Calibri"/>
              </a:rPr>
              <a:t>System Boundaries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435607"/>
            <a:ext cx="5806440" cy="32004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1527048"/>
            <a:ext cx="58064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Hyperledger Besu operates on local single-node docker environment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BB84 module runs as software matrix simulation rather than physical optical hardware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No direct OAuth2 / SAML single sign-on integration with university directory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UI optimized primarily for desktop browser administration viewports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9904" y="1051560"/>
            <a:ext cx="36576" cy="512064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8" y="10515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C2E"/>
                </a:solidFill>
                <a:latin typeface="Calibri"/>
              </a:rPr>
              <a:t>Future Work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6208" y="1435607"/>
            <a:ext cx="5669280" cy="32004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152704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Deploy multi-node Besu consortium network across university department servers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Connect SAML 2.0 / Shibboleth single sign-on with university student portal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Implement automated email/SMS audit report delivery to department heads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  • Develop dedicated mobile application (React Native) targeting iOS and Android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0292"/>
            <a:ext cx="12188952" cy="896112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46403"/>
            <a:ext cx="82296" cy="585216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09728"/>
            <a:ext cx="11183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10. Summary &amp; Conclusion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530584" y="109728"/>
            <a:ext cx="475488" cy="47548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30584" y="128016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5C2E"/>
                </a:solidFill>
                <a:latin typeface="Calibri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" y="6798564"/>
            <a:ext cx="7315200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5C2E"/>
                </a:solidFill>
                <a:latin typeface="Calibri"/>
              </a:rPr>
              <a:t>QChat | UENR Computer Science &amp; Informatics |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" y="1051560"/>
            <a:ext cx="11823192" cy="562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  • Successfully delivered QChat: A hybrid Web2/Web3 secure institutional messaging platform</a:t>
            </a:r>
          </a:p>
          <a:p>
            <a:pPr algn="l">
              <a:spcBef>
                <a:spcPts val="10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  • Resolved the performance vs. verification dilemma by pairing sub-200ms Convex WebSockets with Hyperledger Besu hashing</a:t>
            </a:r>
          </a:p>
          <a:p>
            <a:pPr algn="l">
              <a:spcBef>
                <a:spcPts val="10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  • Re-engineered user verification around real-world identifiers: Email, Student Index Number (UEB3509022), and Lecturer Staff ID (PS*** e.g. PS001)</a:t>
            </a:r>
          </a:p>
          <a:p>
            <a:pPr algn="l">
              <a:spcBef>
                <a:spcPts val="10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  • Built Cryptographic Audit Trail comparing mutable DB timestamps against immutable Besu block timestamps</a:t>
            </a:r>
          </a:p>
          <a:p>
            <a:pPr algn="l">
              <a:spcBef>
                <a:spcPts val="10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  • Empirically validated message integrity, client RSA/AES encryption, and contract role bindings</a:t>
            </a:r>
          </a:p>
          <a:p>
            <a:pPr algn="l">
              <a:spcBef>
                <a:spcPts val="1000"/>
              </a:spcBef>
            </a:pPr>
            <a:r>
              <a:rPr sz="1400">
                <a:solidFill>
                  <a:srgbClr val="1A1A1A"/>
                </a:solidFill>
                <a:latin typeface="Calibri"/>
              </a:rPr>
              <a:t>  • Delivered a production-ready, open-source reference architecture for higher education institutions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889504" y="1280160"/>
            <a:ext cx="6400800" cy="4297680"/>
          </a:xfrm>
          <a:prstGeom prst="roundRect">
            <a:avLst/>
          </a:prstGeom>
          <a:solidFill>
            <a:srgbClr val="004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12745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Thank You!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3474720"/>
            <a:ext cx="6702552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39312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4EDDA"/>
                </a:solidFill>
                <a:latin typeface="Calibri"/>
              </a:rPr>
              <a:t>We welcome your questions and 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C000"/>
                </a:solidFill>
                <a:latin typeface="Calibri"/>
              </a:rPr>
              <a:t>Supervisor: Dr Peter Nimbe (PS001)   |   Department of Computer Science and Informatics   |   UENR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778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4EDDA"/>
                </a:solidFill>
                <a:latin typeface="Calibri"/>
              </a:rPr>
              <a:t>September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FBEF1"/>
      </a:accent1>
      <a:accent2>
        <a:srgbClr val="00820F"/>
      </a:accent2>
      <a:accent3>
        <a:srgbClr val="A5A5A5"/>
      </a:accent3>
      <a:accent4>
        <a:srgbClr val="FFF901"/>
      </a:accent4>
      <a:accent5>
        <a:srgbClr val="833C0B"/>
      </a:accent5>
      <a:accent6>
        <a:srgbClr val="6F3B55"/>
      </a:accent6>
      <a:hlink>
        <a:srgbClr val="0095B8"/>
      </a:hlink>
      <a:folHlink>
        <a:srgbClr val="00EAEA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6542</Words>
  <Application>WPS Presentation</Application>
  <PresentationFormat>Widescreen</PresentationFormat>
  <Paragraphs>358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5" baseType="lpstr">
      <vt:lpstr>Arial</vt:lpstr>
      <vt:lpstr>SimSun</vt:lpstr>
      <vt:lpstr>Wingdings</vt:lpstr>
      <vt:lpstr>Liberation Sans</vt:lpstr>
      <vt:lpstr>Noto Emoji</vt:lpstr>
      <vt:lpstr>Century Gothic</vt:lpstr>
      <vt:lpstr>PakType Naskh Basic</vt:lpstr>
      <vt:lpstr>Microsoft YaHei</vt:lpstr>
      <vt:lpstr>Droid Sans Fallback</vt:lpstr>
      <vt:lpstr>Arial Unicode MS</vt:lpstr>
      <vt:lpstr>Calibri</vt:lpstr>
      <vt:lpstr>Lato</vt:lpstr>
      <vt:lpstr>Calibri</vt:lpstr>
      <vt:lpstr>Times New Roman</vt:lpstr>
      <vt:lpstr>Raleway</vt:lpstr>
      <vt:lpstr>Adwaita Mono</vt:lpstr>
      <vt:lpstr>Office Theme</vt:lpstr>
      <vt:lpstr>PowerPoint 演示文稿</vt:lpstr>
      <vt:lpstr>PowerPoint 演示文稿</vt:lpstr>
      <vt:lpstr>ESTABLISHMENT</vt:lpstr>
      <vt:lpstr>MANDATE</vt:lpstr>
      <vt:lpstr>INAUGURATION</vt:lpstr>
      <vt:lpstr>Foundation Students</vt:lpstr>
      <vt:lpstr>Current Programmes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STUDENT POPULATION</vt:lpstr>
      <vt:lpstr>STAFF POPULATION</vt:lpstr>
      <vt:lpstr>SOME ACHIEVEMENTS</vt:lpstr>
      <vt:lpstr>SOME ACHIEVEMENTS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LECTURE HALLS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emmanuel appiah</dc:creator>
  <cp:lastModifiedBy>demore</cp:lastModifiedBy>
  <cp:revision>55</cp:revision>
  <dcterms:created xsi:type="dcterms:W3CDTF">2026-09-07T10:48:40Z</dcterms:created>
  <dcterms:modified xsi:type="dcterms:W3CDTF">2026-09-07T10:48:40Z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