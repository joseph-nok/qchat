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9" d="100"/>
          <a:sy n="79" d="100"/>
        </p:scale>
        <p:origin x="101" y="1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4389120" cy="685800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
        <p:nvSpPr>
          <p:cNvPr id="3" name="Rectangle 2"/>
          <p:cNvSpPr/>
          <p:nvPr/>
        </p:nvSpPr>
        <p:spPr>
          <a:xfrm>
            <a:off x="4389120" y="0"/>
            <a:ext cx="73152" cy="6858000"/>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4" name="Rectangle 3"/>
          <p:cNvSpPr/>
          <p:nvPr/>
        </p:nvSpPr>
        <p:spPr>
          <a:xfrm>
            <a:off x="4462272" y="0"/>
            <a:ext cx="7729423" cy="6858000"/>
          </a:xfrm>
          <a:prstGeom prst="rect">
            <a:avLst/>
          </a:prstGeom>
          <a:solidFill>
            <a:srgbClr val="FAFB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5" name="TextBox 4"/>
          <p:cNvSpPr txBox="1"/>
          <p:nvPr/>
        </p:nvSpPr>
        <p:spPr>
          <a:xfrm>
            <a:off x="320040" y="365760"/>
            <a:ext cx="3749039" cy="954107"/>
          </a:xfrm>
          <a:prstGeom prst="rect">
            <a:avLst/>
          </a:prstGeom>
          <a:noFill/>
        </p:spPr>
        <p:txBody>
          <a:bodyPr wrap="square">
            <a:spAutoFit/>
          </a:bodyPr>
          <a:lstStyle/>
          <a:p>
            <a:r>
              <a:rPr sz="1200" b="1">
                <a:solidFill>
                  <a:srgbClr val="FFC107"/>
                </a:solidFill>
                <a:latin typeface="Calibri"/>
              </a:rPr>
              <a:t>UNIVERSITY OF ENERGY AND NATURAL RESOURCES</a:t>
            </a:r>
            <a:endParaRPr sz="1200" b="1">
              <a:solidFill>
                <a:srgbClr val="FFC107"/>
              </a:solidFill>
              <a:latin typeface="Calibri"/>
            </a:endParaRPr>
          </a:p>
          <a:p>
            <a:r>
              <a:rPr sz="1600">
                <a:solidFill>
                  <a:srgbClr val="BAE6FD"/>
                </a:solidFill>
                <a:latin typeface="Calibri"/>
              </a:rPr>
              <a:t>Department of Computer Science &amp; Informatics</a:t>
            </a:r>
            <a:endParaRPr sz="1600">
              <a:solidFill>
                <a:srgbClr val="BAE6FD"/>
              </a:solidFill>
              <a:latin typeface="Calibri"/>
            </a:endParaRPr>
          </a:p>
          <a:p>
            <a:r>
              <a:rPr sz="1200" i="1">
                <a:solidFill>
                  <a:srgbClr val="FFFFFF"/>
                </a:solidFill>
                <a:latin typeface="Calibri"/>
              </a:rPr>
              <a:t>B.Sc. Computer Science Final Project</a:t>
            </a:r>
            <a:endParaRPr sz="1200" i="1">
              <a:solidFill>
                <a:srgbClr val="FFFFFF"/>
              </a:solidFill>
              <a:latin typeface="Calibri"/>
            </a:endParaRPr>
          </a:p>
        </p:txBody>
      </p:sp>
      <p:sp>
        <p:nvSpPr>
          <p:cNvPr id="6" name="Rectangle 5"/>
          <p:cNvSpPr/>
          <p:nvPr/>
        </p:nvSpPr>
        <p:spPr>
          <a:xfrm>
            <a:off x="320040" y="1463040"/>
            <a:ext cx="3749039" cy="18288"/>
          </a:xfrm>
          <a:prstGeom prst="rect">
            <a:avLst/>
          </a:prstGeom>
          <a:solidFill>
            <a:srgbClr val="3FBE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7" name="TextBox 6"/>
          <p:cNvSpPr txBox="1"/>
          <p:nvPr/>
        </p:nvSpPr>
        <p:spPr>
          <a:xfrm>
            <a:off x="320040" y="1600200"/>
            <a:ext cx="3749039" cy="3375283"/>
          </a:xfrm>
          <a:prstGeom prst="rect">
            <a:avLst/>
          </a:prstGeom>
          <a:noFill/>
        </p:spPr>
        <p:txBody>
          <a:bodyPr wrap="square">
            <a:spAutoFit/>
          </a:bodyPr>
          <a:lstStyle/>
          <a:p>
            <a:r>
              <a:rPr sz="1100" b="1" dirty="0">
                <a:solidFill>
                  <a:srgbClr val="FFC107"/>
                </a:solidFill>
                <a:latin typeface="Calibri"/>
              </a:rPr>
              <a:t>PROJECT PRESENTERS:</a:t>
            </a:r>
            <a:endParaRPr sz="1100" b="1" dirty="0">
              <a:solidFill>
                <a:srgbClr val="FFC107"/>
              </a:solidFill>
              <a:latin typeface="Calibri"/>
            </a:endParaRPr>
          </a:p>
          <a:p>
            <a:pPr>
              <a:spcBef>
                <a:spcPts val="800"/>
              </a:spcBef>
            </a:pPr>
            <a:r>
              <a:rPr b="1" dirty="0" err="1">
                <a:solidFill>
                  <a:srgbClr val="FFFFFF"/>
                </a:solidFill>
                <a:latin typeface="Calibri"/>
              </a:rPr>
              <a:t>Korang</a:t>
            </a:r>
            <a:r>
              <a:rPr b="1" dirty="0">
                <a:solidFill>
                  <a:srgbClr val="FFFFFF"/>
                </a:solidFill>
                <a:latin typeface="Calibri"/>
              </a:rPr>
              <a:t> Bright Agyei</a:t>
            </a:r>
            <a:endParaRPr b="1" dirty="0">
              <a:solidFill>
                <a:srgbClr val="FFFFFF"/>
              </a:solidFill>
              <a:latin typeface="Calibri"/>
            </a:endParaRPr>
          </a:p>
          <a:p>
            <a:r>
              <a:rPr sz="1200" dirty="0">
                <a:solidFill>
                  <a:srgbClr val="3FBEF1"/>
                </a:solidFill>
                <a:latin typeface="Calibri"/>
              </a:rPr>
              <a:t>Index No: UEB3501222</a:t>
            </a:r>
            <a:endParaRPr sz="1200" dirty="0">
              <a:solidFill>
                <a:srgbClr val="3FBEF1"/>
              </a:solidFill>
              <a:latin typeface="Calibri"/>
            </a:endParaRPr>
          </a:p>
          <a:p>
            <a:pPr>
              <a:spcBef>
                <a:spcPts val="800"/>
              </a:spcBef>
            </a:pPr>
            <a:r>
              <a:rPr b="1" dirty="0">
                <a:solidFill>
                  <a:srgbClr val="FFFFFF"/>
                </a:solidFill>
                <a:latin typeface="Calibri"/>
              </a:rPr>
              <a:t>Mohammed Idris Adam</a:t>
            </a:r>
            <a:endParaRPr b="1" dirty="0">
              <a:solidFill>
                <a:srgbClr val="FFFFFF"/>
              </a:solidFill>
              <a:latin typeface="Calibri"/>
            </a:endParaRPr>
          </a:p>
          <a:p>
            <a:r>
              <a:rPr sz="1200" dirty="0">
                <a:solidFill>
                  <a:srgbClr val="3FBEF1"/>
                </a:solidFill>
                <a:latin typeface="Calibri"/>
              </a:rPr>
              <a:t>Index No: UEB3501022</a:t>
            </a:r>
            <a:endParaRPr sz="1200" dirty="0">
              <a:solidFill>
                <a:srgbClr val="3FBEF1"/>
              </a:solidFill>
              <a:latin typeface="Calibri"/>
            </a:endParaRPr>
          </a:p>
          <a:p>
            <a:pPr>
              <a:spcBef>
                <a:spcPts val="800"/>
              </a:spcBef>
            </a:pPr>
            <a:r>
              <a:rPr b="1" dirty="0">
                <a:solidFill>
                  <a:srgbClr val="FFFFFF"/>
                </a:solidFill>
                <a:latin typeface="Calibri"/>
              </a:rPr>
              <a:t>Benaiah </a:t>
            </a:r>
            <a:r>
              <a:rPr b="1" dirty="0" err="1">
                <a:solidFill>
                  <a:srgbClr val="FFFFFF"/>
                </a:solidFill>
                <a:latin typeface="Calibri"/>
              </a:rPr>
              <a:t>Amarh</a:t>
            </a:r>
            <a:r>
              <a:rPr b="1" dirty="0">
                <a:solidFill>
                  <a:srgbClr val="FFFFFF"/>
                </a:solidFill>
                <a:latin typeface="Calibri"/>
              </a:rPr>
              <a:t> Anang</a:t>
            </a:r>
            <a:endParaRPr b="1" dirty="0">
              <a:solidFill>
                <a:srgbClr val="FFFFFF"/>
              </a:solidFill>
              <a:latin typeface="Calibri"/>
            </a:endParaRPr>
          </a:p>
          <a:p>
            <a:r>
              <a:rPr sz="1200" dirty="0">
                <a:solidFill>
                  <a:srgbClr val="3FBEF1"/>
                </a:solidFill>
                <a:latin typeface="Calibri"/>
              </a:rPr>
              <a:t>Index No: UEB3512522</a:t>
            </a:r>
            <a:endParaRPr sz="1200" dirty="0">
              <a:solidFill>
                <a:srgbClr val="3FBEF1"/>
              </a:solidFill>
              <a:latin typeface="Calibri"/>
            </a:endParaRPr>
          </a:p>
          <a:p>
            <a:pPr>
              <a:spcBef>
                <a:spcPts val="800"/>
              </a:spcBef>
            </a:pPr>
            <a:r>
              <a:rPr b="1" dirty="0">
                <a:solidFill>
                  <a:srgbClr val="FFFFFF"/>
                </a:solidFill>
                <a:latin typeface="Calibri"/>
              </a:rPr>
              <a:t>Osei Nana Kwaku</a:t>
            </a:r>
            <a:endParaRPr b="1" dirty="0">
              <a:solidFill>
                <a:srgbClr val="FFFFFF"/>
              </a:solidFill>
              <a:latin typeface="Calibri"/>
            </a:endParaRPr>
          </a:p>
          <a:p>
            <a:r>
              <a:rPr sz="1200" dirty="0">
                <a:solidFill>
                  <a:srgbClr val="3FBEF1"/>
                </a:solidFill>
                <a:latin typeface="Calibri"/>
              </a:rPr>
              <a:t>Index No: UEB3509022</a:t>
            </a:r>
            <a:endParaRPr sz="1200" dirty="0">
              <a:solidFill>
                <a:srgbClr val="3FBEF1"/>
              </a:solidFill>
              <a:latin typeface="Calibri"/>
            </a:endParaRPr>
          </a:p>
          <a:p>
            <a:pPr>
              <a:spcBef>
                <a:spcPts val="1600"/>
              </a:spcBef>
            </a:pPr>
            <a:r>
              <a:rPr sz="1100" b="1" dirty="0">
                <a:solidFill>
                  <a:srgbClr val="FFC107"/>
                </a:solidFill>
                <a:latin typeface="Calibri"/>
              </a:rPr>
              <a:t>SUPERVISOR:
</a:t>
            </a:r>
            <a:r>
              <a:rPr b="1" dirty="0">
                <a:solidFill>
                  <a:srgbClr val="FFFFFF"/>
                </a:solidFill>
                <a:latin typeface="Calibri"/>
              </a:rPr>
              <a:t>Dr. Peter </a:t>
            </a:r>
            <a:r>
              <a:rPr b="1" dirty="0" err="1">
                <a:solidFill>
                  <a:srgbClr val="FFFFFF"/>
                </a:solidFill>
                <a:latin typeface="Calibri"/>
              </a:rPr>
              <a:t>Nimbe</a:t>
            </a:r>
            <a:r>
              <a:rPr b="1" dirty="0">
                <a:solidFill>
                  <a:srgbClr val="FFFFFF"/>
                </a:solidFill>
                <a:latin typeface="Calibri"/>
              </a:rPr>
              <a:t> </a:t>
            </a:r>
            <a:endParaRPr b="1" dirty="0">
              <a:solidFill>
                <a:srgbClr val="FFFFFF"/>
              </a:solidFill>
              <a:latin typeface="Calibri"/>
            </a:endParaRPr>
          </a:p>
        </p:txBody>
      </p:sp>
      <p:sp>
        <p:nvSpPr>
          <p:cNvPr id="8" name="TextBox 7"/>
          <p:cNvSpPr txBox="1"/>
          <p:nvPr/>
        </p:nvSpPr>
        <p:spPr>
          <a:xfrm>
            <a:off x="4846320" y="731520"/>
            <a:ext cx="6858000" cy="2426305"/>
          </a:xfrm>
          <a:prstGeom prst="rect">
            <a:avLst/>
          </a:prstGeom>
          <a:noFill/>
        </p:spPr>
        <p:txBody>
          <a:bodyPr wrap="square">
            <a:spAutoFit/>
          </a:bodyPr>
          <a:lstStyle/>
          <a:p>
            <a:r>
              <a:rPr sz="1600" b="1" dirty="0">
                <a:solidFill>
                  <a:srgbClr val="1E90FF"/>
                </a:solidFill>
                <a:latin typeface="Calibri"/>
              </a:rPr>
              <a:t>ACADEMIC Q&amp;A &amp; SECURE CONSULTATION PLATFORM</a:t>
            </a:r>
            <a:endParaRPr sz="1600" b="1" dirty="0">
              <a:solidFill>
                <a:srgbClr val="1E90FF"/>
              </a:solidFill>
              <a:latin typeface="Calibri"/>
            </a:endParaRPr>
          </a:p>
          <a:p>
            <a:pPr>
              <a:spcBef>
                <a:spcPts val="600"/>
              </a:spcBef>
            </a:pPr>
            <a:r>
              <a:rPr sz="4800" b="1" dirty="0" err="1">
                <a:solidFill>
                  <a:srgbClr val="00336A"/>
                </a:solidFill>
                <a:latin typeface="Calibri"/>
              </a:rPr>
              <a:t>QCampus</a:t>
            </a:r>
            <a:r>
              <a:rPr sz="4800" b="1" dirty="0">
                <a:solidFill>
                  <a:srgbClr val="00336A"/>
                </a:solidFill>
                <a:latin typeface="Calibri"/>
              </a:rPr>
              <a:t> Connect</a:t>
            </a:r>
            <a:endParaRPr sz="4800" b="1" dirty="0">
              <a:solidFill>
                <a:srgbClr val="00336A"/>
              </a:solidFill>
              <a:latin typeface="Calibri"/>
            </a:endParaRPr>
          </a:p>
          <a:p>
            <a:pPr>
              <a:spcBef>
                <a:spcPts val="400"/>
              </a:spcBef>
            </a:pPr>
            <a:r>
              <a:rPr sz="2000" b="1" dirty="0">
                <a:solidFill>
                  <a:srgbClr val="1E293B"/>
                </a:solidFill>
                <a:latin typeface="Calibri"/>
              </a:rPr>
              <a:t>A Verified Academic Q&amp;A Forum &amp; Secure Consultation Platform for Higher Education</a:t>
            </a:r>
            <a:endParaRPr sz="2000" b="1" dirty="0">
              <a:solidFill>
                <a:srgbClr val="1E293B"/>
              </a:solidFill>
              <a:latin typeface="Calibri"/>
            </a:endParaRPr>
          </a:p>
          <a:p>
            <a:pPr>
              <a:spcBef>
                <a:spcPts val="400"/>
              </a:spcBef>
            </a:pPr>
            <a:r>
              <a:rPr i="1" dirty="0">
                <a:solidFill>
                  <a:srgbClr val="475569"/>
                </a:solidFill>
                <a:latin typeface="Calibri"/>
              </a:rPr>
              <a:t>Institutional Case Study &amp; Pilot Deployment: University of Energy and Natural Resources (UENR)</a:t>
            </a:r>
            <a:endParaRPr i="1" dirty="0">
              <a:solidFill>
                <a:srgbClr val="475569"/>
              </a:solidFill>
              <a:latin typeface="Calibri"/>
            </a:endParaRPr>
          </a:p>
        </p:txBody>
      </p:sp>
      <p:sp>
        <p:nvSpPr>
          <p:cNvPr id="9" name="Rounded Rectangle 8"/>
          <p:cNvSpPr/>
          <p:nvPr/>
        </p:nvSpPr>
        <p:spPr>
          <a:xfrm>
            <a:off x="4846320" y="3840480"/>
            <a:ext cx="3291840" cy="1143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0" name="Rounded Rectangle 9"/>
          <p:cNvSpPr/>
          <p:nvPr/>
        </p:nvSpPr>
        <p:spPr>
          <a:xfrm>
            <a:off x="4846320" y="3840480"/>
            <a:ext cx="73152" cy="114300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1" name="TextBox 10"/>
          <p:cNvSpPr txBox="1"/>
          <p:nvPr/>
        </p:nvSpPr>
        <p:spPr>
          <a:xfrm>
            <a:off x="4983480" y="3913632"/>
            <a:ext cx="3063240" cy="702756"/>
          </a:xfrm>
          <a:prstGeom prst="rect">
            <a:avLst/>
          </a:prstGeom>
          <a:noFill/>
        </p:spPr>
        <p:txBody>
          <a:bodyPr wrap="square">
            <a:spAutoFit/>
          </a:bodyPr>
          <a:lstStyle/>
          <a:p>
            <a:r>
              <a:rPr sz="1600" b="1" dirty="0">
                <a:solidFill>
                  <a:srgbClr val="00336A"/>
                </a:solidFill>
                <a:latin typeface="Calibri"/>
              </a:rPr>
              <a:t>🏛️ Verified Academic Forum</a:t>
            </a:r>
            <a:endParaRPr sz="1600" b="1" dirty="0">
              <a:solidFill>
                <a:srgbClr val="00336A"/>
              </a:solidFill>
              <a:latin typeface="Calibri"/>
            </a:endParaRPr>
          </a:p>
          <a:p>
            <a:pPr>
              <a:spcBef>
                <a:spcPts val="200"/>
              </a:spcBef>
            </a:pPr>
            <a:r>
              <a:rPr sz="1100" dirty="0">
                <a:solidFill>
                  <a:srgbClr val="475569"/>
                </a:solidFill>
                <a:latin typeface="Calibri"/>
              </a:rPr>
              <a:t>Public departmental discussions &amp; faculty Q&amp;A exchange</a:t>
            </a:r>
            <a:endParaRPr sz="1100" dirty="0">
              <a:solidFill>
                <a:srgbClr val="475569"/>
              </a:solidFill>
              <a:latin typeface="Calibri"/>
            </a:endParaRPr>
          </a:p>
        </p:txBody>
      </p:sp>
      <p:sp>
        <p:nvSpPr>
          <p:cNvPr id="12" name="Rounded Rectangle 11"/>
          <p:cNvSpPr/>
          <p:nvPr/>
        </p:nvSpPr>
        <p:spPr>
          <a:xfrm>
            <a:off x="8321040" y="3840480"/>
            <a:ext cx="3291840" cy="1143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3" name="Rounded Rectangle 12"/>
          <p:cNvSpPr/>
          <p:nvPr/>
        </p:nvSpPr>
        <p:spPr>
          <a:xfrm>
            <a:off x="8321040" y="3840480"/>
            <a:ext cx="73152" cy="1143000"/>
          </a:xfrm>
          <a:prstGeom prst="roundRect">
            <a:avLst/>
          </a:prstGeom>
          <a:solidFill>
            <a:srgbClr val="1E9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4" name="TextBox 13"/>
          <p:cNvSpPr txBox="1"/>
          <p:nvPr/>
        </p:nvSpPr>
        <p:spPr>
          <a:xfrm>
            <a:off x="8458200" y="3913632"/>
            <a:ext cx="3063240" cy="702756"/>
          </a:xfrm>
          <a:prstGeom prst="rect">
            <a:avLst/>
          </a:prstGeom>
          <a:noFill/>
        </p:spPr>
        <p:txBody>
          <a:bodyPr wrap="square">
            <a:spAutoFit/>
          </a:bodyPr>
          <a:lstStyle/>
          <a:p>
            <a:r>
              <a:rPr sz="1600" b="1">
                <a:solidFill>
                  <a:srgbClr val="00336A"/>
                </a:solidFill>
                <a:latin typeface="Calibri"/>
              </a:rPr>
              <a:t>🛡️ Identity &amp; Field Badges</a:t>
            </a:r>
            <a:endParaRPr sz="1600" b="1">
              <a:solidFill>
                <a:srgbClr val="00336A"/>
              </a:solidFill>
              <a:latin typeface="Calibri"/>
            </a:endParaRPr>
          </a:p>
          <a:p>
            <a:pPr>
              <a:spcBef>
                <a:spcPts val="200"/>
              </a:spcBef>
            </a:pPr>
            <a:r>
              <a:rPr sz="1100">
                <a:solidFill>
                  <a:srgbClr val="475569"/>
                </a:solidFill>
                <a:latin typeface="Calibri"/>
              </a:rPr>
              <a:t>Institutional credentials &amp; specialization authority (CS, Crypto)</a:t>
            </a:r>
            <a:endParaRPr sz="1100">
              <a:solidFill>
                <a:srgbClr val="475569"/>
              </a:solidFill>
              <a:latin typeface="Calibri"/>
            </a:endParaRPr>
          </a:p>
        </p:txBody>
      </p:sp>
      <p:sp>
        <p:nvSpPr>
          <p:cNvPr id="15" name="Rounded Rectangle 14"/>
          <p:cNvSpPr/>
          <p:nvPr/>
        </p:nvSpPr>
        <p:spPr>
          <a:xfrm>
            <a:off x="4846320" y="5120640"/>
            <a:ext cx="3291840" cy="1143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6" name="Rounded Rectangle 15"/>
          <p:cNvSpPr/>
          <p:nvPr/>
        </p:nvSpPr>
        <p:spPr>
          <a:xfrm>
            <a:off x="4846320" y="5120640"/>
            <a:ext cx="73152" cy="114300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7" name="TextBox 16"/>
          <p:cNvSpPr txBox="1"/>
          <p:nvPr/>
        </p:nvSpPr>
        <p:spPr>
          <a:xfrm>
            <a:off x="4983480" y="5193792"/>
            <a:ext cx="3063240" cy="702756"/>
          </a:xfrm>
          <a:prstGeom prst="rect">
            <a:avLst/>
          </a:prstGeom>
          <a:noFill/>
        </p:spPr>
        <p:txBody>
          <a:bodyPr wrap="square">
            <a:spAutoFit/>
          </a:bodyPr>
          <a:lstStyle/>
          <a:p>
            <a:r>
              <a:rPr sz="1600" b="1">
                <a:solidFill>
                  <a:srgbClr val="00336A"/>
                </a:solidFill>
                <a:latin typeface="Calibri"/>
              </a:rPr>
              <a:t>💬 Encrypted Consultation</a:t>
            </a:r>
            <a:endParaRPr sz="1600" b="1">
              <a:solidFill>
                <a:srgbClr val="00336A"/>
              </a:solidFill>
              <a:latin typeface="Calibri"/>
            </a:endParaRPr>
          </a:p>
          <a:p>
            <a:pPr>
              <a:spcBef>
                <a:spcPts val="200"/>
              </a:spcBef>
            </a:pPr>
            <a:r>
              <a:rPr sz="1100">
                <a:solidFill>
                  <a:srgbClr val="475569"/>
                </a:solidFill>
                <a:latin typeface="Calibri"/>
              </a:rPr>
              <a:t>Private 1-on-1 follow-up messaging (RSA-2048 + AES-256)</a:t>
            </a:r>
            <a:endParaRPr sz="1100">
              <a:solidFill>
                <a:srgbClr val="475569"/>
              </a:solidFill>
              <a:latin typeface="Calibri"/>
            </a:endParaRPr>
          </a:p>
        </p:txBody>
      </p:sp>
      <p:sp>
        <p:nvSpPr>
          <p:cNvPr id="18" name="Rounded Rectangle 17"/>
          <p:cNvSpPr/>
          <p:nvPr/>
        </p:nvSpPr>
        <p:spPr>
          <a:xfrm>
            <a:off x="8321040" y="5120640"/>
            <a:ext cx="3291840" cy="1143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9" name="Rounded Rectangle 18"/>
          <p:cNvSpPr/>
          <p:nvPr/>
        </p:nvSpPr>
        <p:spPr>
          <a:xfrm>
            <a:off x="8321040" y="5120640"/>
            <a:ext cx="73152" cy="11430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0" name="TextBox 19"/>
          <p:cNvSpPr txBox="1"/>
          <p:nvPr/>
        </p:nvSpPr>
        <p:spPr>
          <a:xfrm>
            <a:off x="8458200" y="5193792"/>
            <a:ext cx="3063240" cy="702756"/>
          </a:xfrm>
          <a:prstGeom prst="rect">
            <a:avLst/>
          </a:prstGeom>
          <a:noFill/>
        </p:spPr>
        <p:txBody>
          <a:bodyPr wrap="square">
            <a:spAutoFit/>
          </a:bodyPr>
          <a:lstStyle/>
          <a:p>
            <a:r>
              <a:rPr sz="1600" b="1">
                <a:solidFill>
                  <a:srgbClr val="00336A"/>
                </a:solidFill>
                <a:latin typeface="Calibri"/>
              </a:rPr>
              <a:t>⛓️ Immutable Blockchain Proof</a:t>
            </a:r>
            <a:endParaRPr sz="1600" b="1">
              <a:solidFill>
                <a:srgbClr val="00336A"/>
              </a:solidFill>
              <a:latin typeface="Calibri"/>
            </a:endParaRPr>
          </a:p>
          <a:p>
            <a:pPr>
              <a:spcBef>
                <a:spcPts val="200"/>
              </a:spcBef>
            </a:pPr>
            <a:r>
              <a:rPr sz="1100">
                <a:solidFill>
                  <a:srgbClr val="475569"/>
                </a:solidFill>
                <a:latin typeface="Calibri"/>
              </a:rPr>
              <a:t>Zero-gas Hyperledger Besu audit trail for non-repudiation</a:t>
            </a:r>
            <a:endParaRPr sz="1100">
              <a:solidFill>
                <a:srgbClr val="475569"/>
              </a:solidFill>
              <a:latin typeface="Calibri"/>
            </a:endParaRPr>
          </a:p>
        </p:txBody>
      </p:sp>
      <p:sp>
        <p:nvSpPr>
          <p:cNvPr id="21" name="TextBox 20"/>
          <p:cNvSpPr txBox="1"/>
          <p:nvPr/>
        </p:nvSpPr>
        <p:spPr>
          <a:xfrm>
            <a:off x="4846320" y="6217920"/>
            <a:ext cx="4929555" cy="276999"/>
          </a:xfrm>
          <a:prstGeom prst="rect">
            <a:avLst/>
          </a:prstGeom>
          <a:noFill/>
        </p:spPr>
        <p:txBody>
          <a:bodyPr wrap="none">
            <a:spAutoFit/>
          </a:bodyPr>
          <a:lstStyle/>
          <a:p>
            <a:r>
              <a:rPr sz="1200" b="1">
                <a:solidFill>
                  <a:srgbClr val="475569"/>
                </a:solidFill>
                <a:latin typeface="Calibri"/>
              </a:rPr>
              <a:t>September 2026 | Department of Computer Science &amp; Informatics | UENR</a:t>
            </a:r>
            <a:endParaRPr sz="1200" b="1">
              <a:solidFill>
                <a:srgbClr val="475569"/>
              </a:solidFill>
              <a:latin typeface="Calibri"/>
            </a:endParaRPr>
          </a:p>
        </p:txBody>
      </p:sp>
      <p:pic>
        <p:nvPicPr>
          <p:cNvPr id="23" name="Picture 22"/>
          <p:cNvPicPr>
            <a:picLocks noChangeAspect="1"/>
          </p:cNvPicPr>
          <p:nvPr/>
        </p:nvPicPr>
        <p:blipFill>
          <a:blip r:embed="rId1"/>
          <a:stretch>
            <a:fillRect/>
          </a:stretch>
        </p:blipFill>
        <p:spPr>
          <a:xfrm>
            <a:off x="7355387" y="-40762"/>
            <a:ext cx="860597" cy="860597"/>
          </a:xfrm>
          <a:prstGeom prst="rect">
            <a:avLst/>
          </a:prstGeom>
        </p:spPr>
      </p:pic>
      <p:pic>
        <p:nvPicPr>
          <p:cNvPr id="25" name="Picture 24"/>
          <p:cNvPicPr>
            <a:picLocks noChangeAspect="1"/>
          </p:cNvPicPr>
          <p:nvPr/>
        </p:nvPicPr>
        <p:blipFill>
          <a:blip r:embed="rId2"/>
          <a:stretch>
            <a:fillRect/>
          </a:stretch>
        </p:blipFill>
        <p:spPr>
          <a:xfrm>
            <a:off x="8046720" y="0"/>
            <a:ext cx="902492" cy="819836"/>
          </a:xfrm>
          <a:prstGeom prst="rect">
            <a:avLst/>
          </a:prstGeom>
        </p:spPr>
      </p:pic>
      <p:sp>
        <p:nvSpPr>
          <p:cNvPr id="29" name="TextBox 28"/>
          <p:cNvSpPr txBox="1"/>
          <p:nvPr/>
        </p:nvSpPr>
        <p:spPr>
          <a:xfrm>
            <a:off x="320040" y="5896873"/>
            <a:ext cx="3063240" cy="733534"/>
          </a:xfrm>
          <a:prstGeom prst="rect">
            <a:avLst/>
          </a:prstGeom>
          <a:noFill/>
        </p:spPr>
        <p:txBody>
          <a:bodyPr wrap="square">
            <a:spAutoFit/>
          </a:bodyPr>
          <a:lstStyle/>
          <a:p>
            <a:pPr>
              <a:spcBef>
                <a:spcPts val="200"/>
              </a:spcBef>
            </a:pPr>
            <a:r>
              <a:rPr lang="en-US" sz="2000" b="1" dirty="0">
                <a:solidFill>
                  <a:schemeClr val="bg1"/>
                </a:solidFill>
                <a:latin typeface="Calibri"/>
              </a:rPr>
              <a:t>COMP 450</a:t>
            </a:r>
            <a:endParaRPr lang="en-US" sz="2000" b="1" dirty="0">
              <a:solidFill>
                <a:schemeClr val="bg1"/>
              </a:solidFill>
            </a:endParaRPr>
          </a:p>
          <a:p>
            <a:pPr>
              <a:spcBef>
                <a:spcPts val="200"/>
              </a:spcBef>
            </a:pPr>
            <a:r>
              <a:rPr lang="en-US" sz="2000" dirty="0">
                <a:solidFill>
                  <a:schemeClr val="bg1"/>
                </a:solidFill>
                <a:latin typeface="Calibri"/>
              </a:rPr>
              <a:t>FINAL RESEARCH PROJECT</a:t>
            </a:r>
            <a:endParaRPr sz="2000" dirty="0">
              <a:solidFill>
                <a:schemeClr val="bg1"/>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9525"/>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3600" b="1">
                <a:solidFill>
                  <a:srgbClr val="00336A"/>
                </a:solidFill>
                <a:latin typeface="Calibri"/>
              </a:rPr>
              <a:t>TOC</a:t>
            </a:r>
            <a:endParaRPr sz="3600" b="1">
              <a:solidFill>
                <a:srgbClr val="00336A"/>
              </a:solidFill>
              <a:latin typeface="Calibri"/>
            </a:endParaRPr>
          </a:p>
        </p:txBody>
      </p:sp>
      <p:sp>
        <p:nvSpPr>
          <p:cNvPr id="6" name="TextBox 5"/>
          <p:cNvSpPr txBox="1"/>
          <p:nvPr/>
        </p:nvSpPr>
        <p:spPr>
          <a:xfrm>
            <a:off x="1325880" y="109728"/>
            <a:ext cx="9601200" cy="923330"/>
          </a:xfrm>
          <a:prstGeom prst="rect">
            <a:avLst/>
          </a:prstGeom>
          <a:noFill/>
        </p:spPr>
        <p:txBody>
          <a:bodyPr wrap="square">
            <a:spAutoFit/>
          </a:bodyPr>
          <a:lstStyle/>
          <a:p>
            <a:r>
              <a:rPr sz="3600" b="1">
                <a:solidFill>
                  <a:srgbClr val="FFFFFF"/>
                </a:solidFill>
                <a:latin typeface="Calibri"/>
              </a:rPr>
              <a:t>Table of Contents</a:t>
            </a:r>
            <a:endParaRPr sz="3600" b="1">
              <a:solidFill>
                <a:srgbClr val="FFFFFF"/>
              </a:solidFill>
              <a:latin typeface="Calibri"/>
            </a:endParaRPr>
          </a:p>
          <a:p>
            <a:r>
              <a:rPr i="1">
                <a:solidFill>
                  <a:srgbClr val="BAE6FD"/>
                </a:solidFill>
                <a:latin typeface="Calibri"/>
              </a:rPr>
              <a:t>Executive Overview of Presentation Structure (8 Core Topics)</a:t>
            </a:r>
            <a:endParaRPr i="1">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8" name="TextBox 7"/>
          <p:cNvSpPr txBox="1"/>
          <p:nvPr/>
        </p:nvSpPr>
        <p:spPr>
          <a:xfrm>
            <a:off x="365760" y="6556248"/>
            <a:ext cx="6102953" cy="261610"/>
          </a:xfrm>
          <a:prstGeom prst="rect">
            <a:avLst/>
          </a:prstGeom>
          <a:noFill/>
        </p:spPr>
        <p:txBody>
          <a:bodyPr wrap="none">
            <a:spAutoFit/>
          </a:bodyPr>
          <a:lstStyle/>
          <a:p>
            <a:r>
              <a:rPr sz="1100">
                <a:solidFill>
                  <a:srgbClr val="475569"/>
                </a:solidFill>
                <a:latin typeface="Calibri"/>
              </a:rPr>
              <a:t>QCampus Connect | Verified Academic Q&amp;A Forum &amp; Secure Consultation Platform | Case Study: UENR</a:t>
            </a:r>
            <a:endParaRPr sz="1100">
              <a:solidFill>
                <a:srgbClr val="475569"/>
              </a:solidFill>
              <a:latin typeface="Calibri"/>
            </a:endParaRPr>
          </a:p>
        </p:txBody>
      </p:sp>
      <p:sp>
        <p:nvSpPr>
          <p:cNvPr id="9" name="TextBox 8"/>
          <p:cNvSpPr txBox="1"/>
          <p:nvPr/>
        </p:nvSpPr>
        <p:spPr>
          <a:xfrm>
            <a:off x="10783945" y="6556248"/>
            <a:ext cx="1011815" cy="261610"/>
          </a:xfrm>
          <a:prstGeom prst="rect">
            <a:avLst/>
          </a:prstGeom>
          <a:noFill/>
        </p:spPr>
        <p:txBody>
          <a:bodyPr wrap="none">
            <a:spAutoFit/>
          </a:bodyPr>
          <a:lstStyle/>
          <a:p>
            <a:pPr algn="r"/>
            <a:r>
              <a:rPr sz="1100" b="1">
                <a:solidFill>
                  <a:srgbClr val="00336A"/>
                </a:solidFill>
                <a:latin typeface="Calibri"/>
              </a:rPr>
              <a:t>Slide TOC / 08</a:t>
            </a:r>
            <a:endParaRPr sz="1100" b="1">
              <a:solidFill>
                <a:srgbClr val="00336A"/>
              </a:solidFill>
              <a:latin typeface="Calibri"/>
            </a:endParaRPr>
          </a:p>
        </p:txBody>
      </p:sp>
      <p:sp>
        <p:nvSpPr>
          <p:cNvPr id="10" name="Rounded Rectangle 9"/>
          <p:cNvSpPr/>
          <p:nvPr/>
        </p:nvSpPr>
        <p:spPr>
          <a:xfrm>
            <a:off x="548640" y="1325880"/>
            <a:ext cx="5394960" cy="10241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1" name="Rounded Rectangle 10"/>
          <p:cNvSpPr/>
          <p:nvPr/>
        </p:nvSpPr>
        <p:spPr>
          <a:xfrm>
            <a:off x="685800" y="1490472"/>
            <a:ext cx="68580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00336A"/>
                </a:solidFill>
                <a:latin typeface="Calibri"/>
              </a:rPr>
              <a:t>01</a:t>
            </a:r>
            <a:endParaRPr sz="2800" b="1">
              <a:solidFill>
                <a:srgbClr val="00336A"/>
              </a:solidFill>
              <a:latin typeface="Calibri"/>
            </a:endParaRPr>
          </a:p>
        </p:txBody>
      </p:sp>
      <p:sp>
        <p:nvSpPr>
          <p:cNvPr id="12" name="TextBox 11"/>
          <p:cNvSpPr txBox="1"/>
          <p:nvPr/>
        </p:nvSpPr>
        <p:spPr>
          <a:xfrm>
            <a:off x="1508760" y="1417320"/>
            <a:ext cx="4297680" cy="733534"/>
          </a:xfrm>
          <a:prstGeom prst="rect">
            <a:avLst/>
          </a:prstGeom>
          <a:noFill/>
        </p:spPr>
        <p:txBody>
          <a:bodyPr wrap="square">
            <a:spAutoFit/>
          </a:bodyPr>
          <a:lstStyle/>
          <a:p>
            <a:r>
              <a:rPr sz="1600" b="1" dirty="0">
                <a:solidFill>
                  <a:srgbClr val="00336A"/>
                </a:solidFill>
                <a:latin typeface="Calibri"/>
              </a:rPr>
              <a:t>Background &amp; Academic Reality in Higher Ed</a:t>
            </a:r>
            <a:endParaRPr sz="1600" b="1" dirty="0">
              <a:solidFill>
                <a:srgbClr val="00336A"/>
              </a:solidFill>
              <a:latin typeface="Calibri"/>
            </a:endParaRPr>
          </a:p>
          <a:p>
            <a:pPr>
              <a:spcBef>
                <a:spcPts val="200"/>
              </a:spcBef>
            </a:pPr>
            <a:r>
              <a:rPr sz="1200" dirty="0">
                <a:solidFill>
                  <a:srgbClr val="475569"/>
                </a:solidFill>
                <a:latin typeface="Calibri"/>
              </a:rPr>
              <a:t>The missing academic commons, campus bottlenecks &amp; informal channel failure</a:t>
            </a:r>
            <a:endParaRPr sz="1200" dirty="0">
              <a:solidFill>
                <a:srgbClr val="475569"/>
              </a:solidFill>
              <a:latin typeface="Calibri"/>
            </a:endParaRPr>
          </a:p>
        </p:txBody>
      </p:sp>
      <p:sp>
        <p:nvSpPr>
          <p:cNvPr id="13" name="Rounded Rectangle 12"/>
          <p:cNvSpPr/>
          <p:nvPr/>
        </p:nvSpPr>
        <p:spPr>
          <a:xfrm>
            <a:off x="548640" y="2468880"/>
            <a:ext cx="5394960" cy="10241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4" name="Rounded Rectangle 13"/>
          <p:cNvSpPr/>
          <p:nvPr/>
        </p:nvSpPr>
        <p:spPr>
          <a:xfrm>
            <a:off x="685800" y="2633472"/>
            <a:ext cx="68580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00336A"/>
                </a:solidFill>
                <a:latin typeface="Calibri"/>
              </a:rPr>
              <a:t>02</a:t>
            </a:r>
            <a:endParaRPr sz="2800" b="1">
              <a:solidFill>
                <a:srgbClr val="00336A"/>
              </a:solidFill>
              <a:latin typeface="Calibri"/>
            </a:endParaRPr>
          </a:p>
        </p:txBody>
      </p:sp>
      <p:sp>
        <p:nvSpPr>
          <p:cNvPr id="15" name="TextBox 14"/>
          <p:cNvSpPr txBox="1"/>
          <p:nvPr/>
        </p:nvSpPr>
        <p:spPr>
          <a:xfrm>
            <a:off x="1508760" y="2560320"/>
            <a:ext cx="4297680" cy="733534"/>
          </a:xfrm>
          <a:prstGeom prst="rect">
            <a:avLst/>
          </a:prstGeom>
          <a:noFill/>
        </p:spPr>
        <p:txBody>
          <a:bodyPr wrap="square">
            <a:spAutoFit/>
          </a:bodyPr>
          <a:lstStyle/>
          <a:p>
            <a:r>
              <a:rPr sz="1600" b="1" dirty="0">
                <a:solidFill>
                  <a:srgbClr val="00336A"/>
                </a:solidFill>
                <a:latin typeface="Calibri"/>
              </a:rPr>
              <a:t>Problem Statement &amp; Communication Gaps</a:t>
            </a:r>
            <a:endParaRPr sz="1600" b="1" dirty="0">
              <a:solidFill>
                <a:srgbClr val="00336A"/>
              </a:solidFill>
              <a:latin typeface="Calibri"/>
            </a:endParaRPr>
          </a:p>
          <a:p>
            <a:pPr>
              <a:spcBef>
                <a:spcPts val="200"/>
              </a:spcBef>
            </a:pPr>
            <a:r>
              <a:rPr sz="1200" dirty="0">
                <a:solidFill>
                  <a:srgbClr val="475569"/>
                </a:solidFill>
                <a:latin typeface="Calibri"/>
              </a:rPr>
              <a:t>Academic isolation, unverified advice, redundant faculty workload &amp; mutable logs</a:t>
            </a:r>
            <a:endParaRPr sz="1200" dirty="0">
              <a:solidFill>
                <a:srgbClr val="475569"/>
              </a:solidFill>
              <a:latin typeface="Calibri"/>
            </a:endParaRPr>
          </a:p>
        </p:txBody>
      </p:sp>
      <p:sp>
        <p:nvSpPr>
          <p:cNvPr id="16" name="Rounded Rectangle 15"/>
          <p:cNvSpPr/>
          <p:nvPr/>
        </p:nvSpPr>
        <p:spPr>
          <a:xfrm>
            <a:off x="548640" y="3611880"/>
            <a:ext cx="5394960" cy="10241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7" name="Rounded Rectangle 16"/>
          <p:cNvSpPr/>
          <p:nvPr/>
        </p:nvSpPr>
        <p:spPr>
          <a:xfrm>
            <a:off x="685800" y="3776472"/>
            <a:ext cx="68580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00336A"/>
                </a:solidFill>
                <a:latin typeface="Calibri"/>
              </a:rPr>
              <a:t>03</a:t>
            </a:r>
            <a:endParaRPr sz="2800" b="1">
              <a:solidFill>
                <a:srgbClr val="00336A"/>
              </a:solidFill>
              <a:latin typeface="Calibri"/>
            </a:endParaRPr>
          </a:p>
        </p:txBody>
      </p:sp>
      <p:sp>
        <p:nvSpPr>
          <p:cNvPr id="18" name="TextBox 17"/>
          <p:cNvSpPr txBox="1"/>
          <p:nvPr/>
        </p:nvSpPr>
        <p:spPr>
          <a:xfrm>
            <a:off x="1508760" y="3703320"/>
            <a:ext cx="4297680" cy="733534"/>
          </a:xfrm>
          <a:prstGeom prst="rect">
            <a:avLst/>
          </a:prstGeom>
          <a:noFill/>
        </p:spPr>
        <p:txBody>
          <a:bodyPr wrap="square">
            <a:spAutoFit/>
          </a:bodyPr>
          <a:lstStyle/>
          <a:p>
            <a:r>
              <a:rPr sz="1600" b="1" dirty="0">
                <a:solidFill>
                  <a:srgbClr val="00336A"/>
                </a:solidFill>
                <a:latin typeface="Calibri"/>
              </a:rPr>
              <a:t>Aim &amp; Specific Research Objectives</a:t>
            </a:r>
            <a:endParaRPr sz="1600" b="1" dirty="0">
              <a:solidFill>
                <a:srgbClr val="00336A"/>
              </a:solidFill>
              <a:latin typeface="Calibri"/>
            </a:endParaRPr>
          </a:p>
          <a:p>
            <a:pPr>
              <a:spcBef>
                <a:spcPts val="200"/>
              </a:spcBef>
            </a:pPr>
            <a:r>
              <a:rPr sz="1200" dirty="0">
                <a:solidFill>
                  <a:srgbClr val="475569"/>
                </a:solidFill>
                <a:latin typeface="Calibri"/>
              </a:rPr>
              <a:t>Institutional Q&amp;A forum, authority badging, encrypted DMs &amp; Besu audit trail</a:t>
            </a:r>
            <a:endParaRPr sz="1200" dirty="0">
              <a:solidFill>
                <a:srgbClr val="475569"/>
              </a:solidFill>
              <a:latin typeface="Calibri"/>
            </a:endParaRPr>
          </a:p>
        </p:txBody>
      </p:sp>
      <p:sp>
        <p:nvSpPr>
          <p:cNvPr id="19" name="Rounded Rectangle 18"/>
          <p:cNvSpPr/>
          <p:nvPr/>
        </p:nvSpPr>
        <p:spPr>
          <a:xfrm>
            <a:off x="548640" y="4754880"/>
            <a:ext cx="5394960" cy="10241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0" name="Rounded Rectangle 19"/>
          <p:cNvSpPr/>
          <p:nvPr/>
        </p:nvSpPr>
        <p:spPr>
          <a:xfrm>
            <a:off x="685800" y="4919472"/>
            <a:ext cx="68580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00336A"/>
                </a:solidFill>
                <a:latin typeface="Calibri"/>
              </a:rPr>
              <a:t>04</a:t>
            </a:r>
            <a:endParaRPr sz="2800" b="1">
              <a:solidFill>
                <a:srgbClr val="00336A"/>
              </a:solidFill>
              <a:latin typeface="Calibri"/>
            </a:endParaRPr>
          </a:p>
        </p:txBody>
      </p:sp>
      <p:sp>
        <p:nvSpPr>
          <p:cNvPr id="21" name="TextBox 20"/>
          <p:cNvSpPr txBox="1"/>
          <p:nvPr/>
        </p:nvSpPr>
        <p:spPr>
          <a:xfrm>
            <a:off x="1508760" y="4846320"/>
            <a:ext cx="4297680" cy="733534"/>
          </a:xfrm>
          <a:prstGeom prst="rect">
            <a:avLst/>
          </a:prstGeom>
          <a:noFill/>
        </p:spPr>
        <p:txBody>
          <a:bodyPr wrap="square">
            <a:spAutoFit/>
          </a:bodyPr>
          <a:lstStyle/>
          <a:p>
            <a:r>
              <a:rPr sz="1600" b="1" dirty="0">
                <a:solidFill>
                  <a:srgbClr val="00336A"/>
                </a:solidFill>
                <a:latin typeface="Calibri"/>
              </a:rPr>
              <a:t>Related Work &amp; Platform Comparison</a:t>
            </a:r>
            <a:endParaRPr sz="1600" b="1" dirty="0">
              <a:solidFill>
                <a:srgbClr val="00336A"/>
              </a:solidFill>
              <a:latin typeface="Calibri"/>
            </a:endParaRPr>
          </a:p>
          <a:p>
            <a:pPr>
              <a:spcBef>
                <a:spcPts val="200"/>
              </a:spcBef>
            </a:pPr>
            <a:r>
              <a:rPr sz="1200" dirty="0">
                <a:solidFill>
                  <a:srgbClr val="475569"/>
                </a:solidFill>
                <a:latin typeface="Calibri"/>
              </a:rPr>
              <a:t>Comparative analysis: Reddit, WhatsApp, Moodle, Slack vs </a:t>
            </a:r>
            <a:r>
              <a:rPr sz="1200" dirty="0" err="1">
                <a:solidFill>
                  <a:srgbClr val="475569"/>
                </a:solidFill>
                <a:latin typeface="Calibri"/>
              </a:rPr>
              <a:t>QCampus</a:t>
            </a:r>
            <a:r>
              <a:rPr sz="1200" dirty="0">
                <a:solidFill>
                  <a:srgbClr val="475569"/>
                </a:solidFill>
                <a:latin typeface="Calibri"/>
              </a:rPr>
              <a:t> Connect</a:t>
            </a:r>
            <a:endParaRPr sz="1200" dirty="0">
              <a:solidFill>
                <a:srgbClr val="475569"/>
              </a:solidFill>
              <a:latin typeface="Calibri"/>
            </a:endParaRPr>
          </a:p>
        </p:txBody>
      </p:sp>
      <p:sp>
        <p:nvSpPr>
          <p:cNvPr id="22" name="Rounded Rectangle 21"/>
          <p:cNvSpPr/>
          <p:nvPr/>
        </p:nvSpPr>
        <p:spPr>
          <a:xfrm>
            <a:off x="6217920" y="1325880"/>
            <a:ext cx="5394960" cy="10241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3" name="Rounded Rectangle 22"/>
          <p:cNvSpPr/>
          <p:nvPr/>
        </p:nvSpPr>
        <p:spPr>
          <a:xfrm>
            <a:off x="6355080" y="1490472"/>
            <a:ext cx="685800" cy="6858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00336A"/>
                </a:solidFill>
                <a:latin typeface="Calibri"/>
              </a:rPr>
              <a:t>05</a:t>
            </a:r>
            <a:endParaRPr sz="2800" b="1">
              <a:solidFill>
                <a:srgbClr val="00336A"/>
              </a:solidFill>
              <a:latin typeface="Calibri"/>
            </a:endParaRPr>
          </a:p>
        </p:txBody>
      </p:sp>
      <p:sp>
        <p:nvSpPr>
          <p:cNvPr id="24" name="TextBox 23"/>
          <p:cNvSpPr txBox="1"/>
          <p:nvPr/>
        </p:nvSpPr>
        <p:spPr>
          <a:xfrm>
            <a:off x="7178040" y="1417320"/>
            <a:ext cx="4297680" cy="733534"/>
          </a:xfrm>
          <a:prstGeom prst="rect">
            <a:avLst/>
          </a:prstGeom>
          <a:noFill/>
        </p:spPr>
        <p:txBody>
          <a:bodyPr wrap="square">
            <a:spAutoFit/>
          </a:bodyPr>
          <a:lstStyle/>
          <a:p>
            <a:r>
              <a:rPr sz="1600" b="1" dirty="0">
                <a:solidFill>
                  <a:srgbClr val="00336A"/>
                </a:solidFill>
                <a:latin typeface="Calibri"/>
              </a:rPr>
              <a:t>Methodology &amp; System Architecture</a:t>
            </a:r>
            <a:endParaRPr sz="1600" b="1" dirty="0">
              <a:solidFill>
                <a:srgbClr val="00336A"/>
              </a:solidFill>
              <a:latin typeface="Calibri"/>
            </a:endParaRPr>
          </a:p>
          <a:p>
            <a:pPr>
              <a:spcBef>
                <a:spcPts val="200"/>
              </a:spcBef>
            </a:pPr>
            <a:r>
              <a:rPr sz="1200" dirty="0">
                <a:solidFill>
                  <a:srgbClr val="475569"/>
                </a:solidFill>
                <a:latin typeface="Calibri"/>
              </a:rPr>
              <a:t>3-tier hybrid enterprise stack: React 19 SPA, Convex real-time &amp; Hyperledger Besu</a:t>
            </a:r>
            <a:endParaRPr sz="1200" dirty="0">
              <a:solidFill>
                <a:srgbClr val="475569"/>
              </a:solidFill>
              <a:latin typeface="Calibri"/>
            </a:endParaRPr>
          </a:p>
        </p:txBody>
      </p:sp>
      <p:sp>
        <p:nvSpPr>
          <p:cNvPr id="25" name="Rounded Rectangle 24"/>
          <p:cNvSpPr/>
          <p:nvPr/>
        </p:nvSpPr>
        <p:spPr>
          <a:xfrm>
            <a:off x="6217920" y="2468880"/>
            <a:ext cx="5394960" cy="10241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6" name="Rounded Rectangle 25"/>
          <p:cNvSpPr/>
          <p:nvPr/>
        </p:nvSpPr>
        <p:spPr>
          <a:xfrm>
            <a:off x="6355080" y="2633472"/>
            <a:ext cx="685800" cy="6858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00336A"/>
                </a:solidFill>
                <a:latin typeface="Calibri"/>
              </a:rPr>
              <a:t>06</a:t>
            </a:r>
            <a:endParaRPr sz="2800" b="1">
              <a:solidFill>
                <a:srgbClr val="00336A"/>
              </a:solidFill>
              <a:latin typeface="Calibri"/>
            </a:endParaRPr>
          </a:p>
        </p:txBody>
      </p:sp>
      <p:sp>
        <p:nvSpPr>
          <p:cNvPr id="27" name="TextBox 26"/>
          <p:cNvSpPr txBox="1"/>
          <p:nvPr/>
        </p:nvSpPr>
        <p:spPr>
          <a:xfrm>
            <a:off x="7178040" y="2560320"/>
            <a:ext cx="4297680" cy="733534"/>
          </a:xfrm>
          <a:prstGeom prst="rect">
            <a:avLst/>
          </a:prstGeom>
          <a:noFill/>
        </p:spPr>
        <p:txBody>
          <a:bodyPr wrap="square">
            <a:spAutoFit/>
          </a:bodyPr>
          <a:lstStyle/>
          <a:p>
            <a:r>
              <a:rPr sz="1600" b="1" dirty="0">
                <a:solidFill>
                  <a:srgbClr val="00336A"/>
                </a:solidFill>
                <a:latin typeface="Calibri"/>
              </a:rPr>
              <a:t>Academic Q&amp;A &amp; Identity Audit Workflow</a:t>
            </a:r>
            <a:endParaRPr sz="1600" b="1" dirty="0">
              <a:solidFill>
                <a:srgbClr val="00336A"/>
              </a:solidFill>
              <a:latin typeface="Calibri"/>
            </a:endParaRPr>
          </a:p>
          <a:p>
            <a:pPr>
              <a:spcBef>
                <a:spcPts val="200"/>
              </a:spcBef>
            </a:pPr>
            <a:r>
              <a:rPr sz="1200" dirty="0">
                <a:solidFill>
                  <a:srgbClr val="475569"/>
                </a:solidFill>
                <a:latin typeface="Calibri"/>
              </a:rPr>
              <a:t>6-step end-to-end verification lifecycle: classification, badging, DM &amp; ledger audit</a:t>
            </a:r>
            <a:endParaRPr sz="1200" dirty="0">
              <a:solidFill>
                <a:srgbClr val="475569"/>
              </a:solidFill>
              <a:latin typeface="Calibri"/>
            </a:endParaRPr>
          </a:p>
        </p:txBody>
      </p:sp>
      <p:sp>
        <p:nvSpPr>
          <p:cNvPr id="28" name="Rounded Rectangle 27"/>
          <p:cNvSpPr/>
          <p:nvPr/>
        </p:nvSpPr>
        <p:spPr>
          <a:xfrm>
            <a:off x="6217920" y="3611880"/>
            <a:ext cx="5394960" cy="10241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9" name="Rounded Rectangle 28"/>
          <p:cNvSpPr/>
          <p:nvPr/>
        </p:nvSpPr>
        <p:spPr>
          <a:xfrm>
            <a:off x="6355080" y="3776472"/>
            <a:ext cx="685800" cy="6858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00336A"/>
                </a:solidFill>
                <a:latin typeface="Calibri"/>
              </a:rPr>
              <a:t>07</a:t>
            </a:r>
            <a:endParaRPr sz="2800" b="1">
              <a:solidFill>
                <a:srgbClr val="00336A"/>
              </a:solidFill>
              <a:latin typeface="Calibri"/>
            </a:endParaRPr>
          </a:p>
        </p:txBody>
      </p:sp>
      <p:sp>
        <p:nvSpPr>
          <p:cNvPr id="30" name="TextBox 29"/>
          <p:cNvSpPr txBox="1"/>
          <p:nvPr/>
        </p:nvSpPr>
        <p:spPr>
          <a:xfrm>
            <a:off x="7178040" y="3703320"/>
            <a:ext cx="4297680" cy="733534"/>
          </a:xfrm>
          <a:prstGeom prst="rect">
            <a:avLst/>
          </a:prstGeom>
          <a:noFill/>
        </p:spPr>
        <p:txBody>
          <a:bodyPr wrap="square">
            <a:spAutoFit/>
          </a:bodyPr>
          <a:lstStyle/>
          <a:p>
            <a:r>
              <a:rPr sz="1600" b="1" dirty="0">
                <a:solidFill>
                  <a:srgbClr val="00336A"/>
                </a:solidFill>
                <a:latin typeface="Calibri"/>
              </a:rPr>
              <a:t>Empirical Results &amp; Live System Demo</a:t>
            </a:r>
            <a:endParaRPr sz="1600" b="1" dirty="0">
              <a:solidFill>
                <a:srgbClr val="00336A"/>
              </a:solidFill>
              <a:latin typeface="Calibri"/>
            </a:endParaRPr>
          </a:p>
          <a:p>
            <a:pPr>
              <a:spcBef>
                <a:spcPts val="200"/>
              </a:spcBef>
            </a:pPr>
            <a:r>
              <a:rPr sz="1200" dirty="0">
                <a:solidFill>
                  <a:srgbClr val="475569"/>
                </a:solidFill>
                <a:latin typeface="Calibri"/>
              </a:rPr>
              <a:t>100% PASS verification suite, sub-50ms latency &amp; panel-ready live feature demo</a:t>
            </a:r>
            <a:endParaRPr sz="1200" dirty="0">
              <a:solidFill>
                <a:srgbClr val="475569"/>
              </a:solidFill>
              <a:latin typeface="Calibri"/>
            </a:endParaRPr>
          </a:p>
        </p:txBody>
      </p:sp>
      <p:sp>
        <p:nvSpPr>
          <p:cNvPr id="31" name="Rounded Rectangle 30"/>
          <p:cNvSpPr/>
          <p:nvPr/>
        </p:nvSpPr>
        <p:spPr>
          <a:xfrm>
            <a:off x="6217920" y="4754880"/>
            <a:ext cx="5394960" cy="102412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32" name="Rounded Rectangle 31"/>
          <p:cNvSpPr/>
          <p:nvPr/>
        </p:nvSpPr>
        <p:spPr>
          <a:xfrm>
            <a:off x="6355080" y="4919472"/>
            <a:ext cx="685800" cy="68580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00336A"/>
                </a:solidFill>
                <a:latin typeface="Calibri"/>
              </a:rPr>
              <a:t>08</a:t>
            </a:r>
            <a:endParaRPr sz="2800" b="1">
              <a:solidFill>
                <a:srgbClr val="00336A"/>
              </a:solidFill>
              <a:latin typeface="Calibri"/>
            </a:endParaRPr>
          </a:p>
        </p:txBody>
      </p:sp>
      <p:sp>
        <p:nvSpPr>
          <p:cNvPr id="33" name="TextBox 32"/>
          <p:cNvSpPr txBox="1"/>
          <p:nvPr/>
        </p:nvSpPr>
        <p:spPr>
          <a:xfrm>
            <a:off x="7178040" y="4846320"/>
            <a:ext cx="4297680" cy="733534"/>
          </a:xfrm>
          <a:prstGeom prst="rect">
            <a:avLst/>
          </a:prstGeom>
          <a:noFill/>
        </p:spPr>
        <p:txBody>
          <a:bodyPr wrap="square">
            <a:spAutoFit/>
          </a:bodyPr>
          <a:lstStyle/>
          <a:p>
            <a:r>
              <a:rPr sz="1600" b="1" dirty="0">
                <a:solidFill>
                  <a:srgbClr val="00336A"/>
                </a:solidFill>
                <a:latin typeface="Calibri"/>
              </a:rPr>
              <a:t>Limitations, Future Work &amp; Conclusion</a:t>
            </a:r>
            <a:endParaRPr sz="1600" b="1" dirty="0">
              <a:solidFill>
                <a:srgbClr val="00336A"/>
              </a:solidFill>
              <a:latin typeface="Calibri"/>
            </a:endParaRPr>
          </a:p>
          <a:p>
            <a:pPr>
              <a:spcBef>
                <a:spcPts val="200"/>
              </a:spcBef>
            </a:pPr>
            <a:r>
              <a:rPr sz="1200" dirty="0">
                <a:solidFill>
                  <a:srgbClr val="475569"/>
                </a:solidFill>
                <a:latin typeface="Calibri"/>
              </a:rPr>
              <a:t>System boundaries, multi-node consortium roadmap &amp; final project conclusions</a:t>
            </a:r>
            <a:endParaRPr sz="1200" dirty="0">
              <a:solidFill>
                <a:srgbClr val="475569"/>
              </a:solidFill>
              <a:latin typeface="Calibri"/>
            </a:endParaRPr>
          </a:p>
        </p:txBody>
      </p:sp>
      <p:sp>
        <p:nvSpPr>
          <p:cNvPr id="34" name="Rounded Rectangle 33"/>
          <p:cNvSpPr/>
          <p:nvPr/>
        </p:nvSpPr>
        <p:spPr>
          <a:xfrm>
            <a:off x="548640" y="5870448"/>
            <a:ext cx="11064240" cy="530352"/>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35" name="Rounded Rectangle 34"/>
          <p:cNvSpPr/>
          <p:nvPr/>
        </p:nvSpPr>
        <p:spPr>
          <a:xfrm>
            <a:off x="548640" y="5922645"/>
            <a:ext cx="91440" cy="41148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36" name="TextBox 35"/>
          <p:cNvSpPr txBox="1"/>
          <p:nvPr/>
        </p:nvSpPr>
        <p:spPr>
          <a:xfrm>
            <a:off x="731520" y="5844540"/>
            <a:ext cx="10789919" cy="646331"/>
          </a:xfrm>
          <a:prstGeom prst="rect">
            <a:avLst/>
          </a:prstGeom>
          <a:noFill/>
        </p:spPr>
        <p:txBody>
          <a:bodyPr wrap="square">
            <a:spAutoFit/>
          </a:bodyPr>
          <a:lstStyle/>
          <a:p>
            <a:pPr algn="l"/>
            <a:r>
              <a:rPr sz="1750" b="1" dirty="0">
                <a:solidFill>
                  <a:srgbClr val="FFC107"/>
                </a:solidFill>
                <a:latin typeface="Calibri"/>
              </a:rPr>
              <a:t>PRESENTATION SCOPE: </a:t>
            </a:r>
            <a:r>
              <a:rPr sz="1750" dirty="0">
                <a:solidFill>
                  <a:srgbClr val="FFFFFF"/>
                </a:solidFill>
                <a:latin typeface="Calibri"/>
              </a:rPr>
              <a:t>Structured 10-slide defense aligned with the Department of Computer Science &amp; Informatics guidelines.</a:t>
            </a:r>
            <a:endParaRPr sz="1750" dirty="0">
              <a:solidFill>
                <a:srgbClr val="FFFFFF"/>
              </a:solidFill>
              <a:latin typeface="Calibri"/>
            </a:endParaRPr>
          </a:p>
        </p:txBody>
      </p:sp>
      <p:pic>
        <p:nvPicPr>
          <p:cNvPr id="40" name="Picture 39"/>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400" b="1">
                <a:solidFill>
                  <a:srgbClr val="00336A"/>
                </a:solidFill>
                <a:latin typeface="Calibri"/>
              </a:rPr>
              <a:t>01</a:t>
            </a:r>
            <a:endParaRPr sz="2400" b="1">
              <a:solidFill>
                <a:srgbClr val="00336A"/>
              </a:solidFill>
              <a:latin typeface="Calibri"/>
            </a:endParaRPr>
          </a:p>
        </p:txBody>
      </p:sp>
      <p:sp>
        <p:nvSpPr>
          <p:cNvPr id="6" name="TextBox 5"/>
          <p:cNvSpPr txBox="1"/>
          <p:nvPr/>
        </p:nvSpPr>
        <p:spPr>
          <a:xfrm>
            <a:off x="1325880" y="109728"/>
            <a:ext cx="9601200" cy="646331"/>
          </a:xfrm>
          <a:prstGeom prst="rect">
            <a:avLst/>
          </a:prstGeom>
          <a:noFill/>
        </p:spPr>
        <p:txBody>
          <a:bodyPr wrap="square">
            <a:spAutoFit/>
          </a:bodyPr>
          <a:lstStyle/>
          <a:p>
            <a:r>
              <a:rPr sz="2400" b="1">
                <a:solidFill>
                  <a:srgbClr val="FFFFFF"/>
                </a:solidFill>
                <a:latin typeface="Calibri"/>
              </a:rPr>
              <a:t>Background &amp; Academic Reality in Higher Education</a:t>
            </a:r>
            <a:endParaRPr sz="2400" b="1">
              <a:solidFill>
                <a:srgbClr val="FFFFFF"/>
              </a:solidFill>
              <a:latin typeface="Calibri"/>
            </a:endParaRPr>
          </a:p>
          <a:p>
            <a:r>
              <a:rPr sz="1200" i="1">
                <a:solidFill>
                  <a:srgbClr val="BAE6FD"/>
                </a:solidFill>
                <a:latin typeface="Calibri"/>
              </a:rPr>
              <a:t>The Missing Academic Commons in Universities &amp; The Failure of Informal Channels (Case Study: UENR)</a:t>
            </a:r>
            <a:endParaRPr sz="1200" i="1">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TextBox 7"/>
          <p:cNvSpPr txBox="1"/>
          <p:nvPr/>
        </p:nvSpPr>
        <p:spPr>
          <a:xfrm>
            <a:off x="365760" y="6556248"/>
            <a:ext cx="5030544" cy="230832"/>
          </a:xfrm>
          <a:prstGeom prst="rect">
            <a:avLst/>
          </a:prstGeom>
          <a:noFill/>
        </p:spPr>
        <p:txBody>
          <a:bodyPr wrap="none">
            <a:spAutoFit/>
          </a:bodyPr>
          <a:lstStyle/>
          <a:p>
            <a:r>
              <a:rPr sz="900">
                <a:solidFill>
                  <a:srgbClr val="475569"/>
                </a:solidFill>
                <a:latin typeface="Calibri"/>
              </a:rPr>
              <a:t>QCampus Connect | Verified Academic Q&amp;A Forum &amp; Secure Consultation Platform | Case Study: UENR</a:t>
            </a:r>
            <a:endParaRPr sz="900">
              <a:solidFill>
                <a:srgbClr val="475569"/>
              </a:solidFill>
              <a:latin typeface="Calibri"/>
            </a:endParaRPr>
          </a:p>
        </p:txBody>
      </p:sp>
      <p:sp>
        <p:nvSpPr>
          <p:cNvPr id="9" name="TextBox 8"/>
          <p:cNvSpPr txBox="1"/>
          <p:nvPr/>
        </p:nvSpPr>
        <p:spPr>
          <a:xfrm>
            <a:off x="11021189" y="6556248"/>
            <a:ext cx="774571" cy="230832"/>
          </a:xfrm>
          <a:prstGeom prst="rect">
            <a:avLst/>
          </a:prstGeom>
          <a:noFill/>
        </p:spPr>
        <p:txBody>
          <a:bodyPr wrap="none">
            <a:spAutoFit/>
          </a:bodyPr>
          <a:lstStyle/>
          <a:p>
            <a:pPr algn="r"/>
            <a:r>
              <a:rPr sz="900" b="1">
                <a:solidFill>
                  <a:srgbClr val="00336A"/>
                </a:solidFill>
                <a:latin typeface="Calibri"/>
              </a:rPr>
              <a:t>Slide 01 / 08</a:t>
            </a:r>
            <a:endParaRPr sz="900" b="1">
              <a:solidFill>
                <a:srgbClr val="00336A"/>
              </a:solidFill>
              <a:latin typeface="Calibri"/>
            </a:endParaRPr>
          </a:p>
        </p:txBody>
      </p:sp>
      <p:sp>
        <p:nvSpPr>
          <p:cNvPr id="10" name="Rounded Rectangle 9"/>
          <p:cNvSpPr/>
          <p:nvPr/>
        </p:nvSpPr>
        <p:spPr>
          <a:xfrm>
            <a:off x="457200" y="1234440"/>
            <a:ext cx="5669280" cy="22402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TextBox 10"/>
          <p:cNvSpPr txBox="1"/>
          <p:nvPr/>
        </p:nvSpPr>
        <p:spPr>
          <a:xfrm>
            <a:off x="594360" y="1298448"/>
            <a:ext cx="5394960" cy="2246769"/>
          </a:xfrm>
          <a:prstGeom prst="rect">
            <a:avLst/>
          </a:prstGeom>
          <a:noFill/>
        </p:spPr>
        <p:txBody>
          <a:bodyPr wrap="square">
            <a:spAutoFit/>
          </a:bodyPr>
          <a:lstStyle/>
          <a:p>
            <a:r>
              <a:rPr sz="1600" b="1" dirty="0">
                <a:solidFill>
                  <a:srgbClr val="00336A"/>
                </a:solidFill>
                <a:latin typeface="Calibri"/>
              </a:rPr>
              <a:t>🏛️ The Missing Academic Commons in Higher Education</a:t>
            </a:r>
            <a:endParaRPr sz="1600" b="1" dirty="0">
              <a:solidFill>
                <a:srgbClr val="00336A"/>
              </a:solidFill>
              <a:latin typeface="Calibri"/>
            </a:endParaRPr>
          </a:p>
          <a:p>
            <a:pPr>
              <a:spcBef>
                <a:spcPts val="400"/>
              </a:spcBef>
            </a:pPr>
            <a:r>
              <a:rPr sz="1400" b="1" dirty="0">
                <a:solidFill>
                  <a:srgbClr val="1E293B"/>
                </a:solidFill>
                <a:latin typeface="Calibri"/>
              </a:rPr>
              <a:t>• Static Portals vs. Interactive Commons: </a:t>
            </a:r>
            <a:r>
              <a:rPr sz="1200" dirty="0">
                <a:solidFill>
                  <a:srgbClr val="475569"/>
                </a:solidFill>
                <a:latin typeface="Calibri"/>
              </a:rPr>
              <a:t>Universities invest in grade portals and static LMS (lecture notes), but lack an open, interactive academic commons for student-faculty scholarly discussions.</a:t>
            </a:r>
            <a:endParaRPr sz="1200" dirty="0">
              <a:solidFill>
                <a:srgbClr val="475569"/>
              </a:solidFill>
              <a:latin typeface="Calibri"/>
            </a:endParaRPr>
          </a:p>
          <a:p>
            <a:pPr>
              <a:spcBef>
                <a:spcPts val="400"/>
              </a:spcBef>
            </a:pPr>
            <a:r>
              <a:rPr sz="1400" b="1" dirty="0">
                <a:solidFill>
                  <a:srgbClr val="1E293B"/>
                </a:solidFill>
                <a:latin typeface="Calibri"/>
              </a:rPr>
              <a:t>• Observed Reality at UENR: </a:t>
            </a:r>
            <a:r>
              <a:rPr sz="1200" dirty="0">
                <a:solidFill>
                  <a:srgbClr val="475569"/>
                </a:solidFill>
                <a:latin typeface="Calibri"/>
              </a:rPr>
              <a:t>To clarify coursework or project problems, students must physically hunt lecturers across campus buildings, queue outside offices, or make unscheduled phone calls.</a:t>
            </a:r>
            <a:endParaRPr sz="1200" dirty="0">
              <a:solidFill>
                <a:srgbClr val="475569"/>
              </a:solidFill>
              <a:latin typeface="Calibri"/>
            </a:endParaRPr>
          </a:p>
          <a:p>
            <a:pPr>
              <a:spcBef>
                <a:spcPts val="400"/>
              </a:spcBef>
            </a:pPr>
            <a:r>
              <a:rPr sz="1400" b="1" dirty="0">
                <a:solidFill>
                  <a:srgbClr val="1E293B"/>
                </a:solidFill>
                <a:latin typeface="Calibri"/>
              </a:rPr>
              <a:t>• Knowledge Fragmentation: </a:t>
            </a:r>
            <a:r>
              <a:rPr sz="1200" dirty="0">
                <a:solidFill>
                  <a:srgbClr val="475569"/>
                </a:solidFill>
                <a:latin typeface="Calibri"/>
              </a:rPr>
              <a:t>When a lecturer clarifies a concept to one student in private, that academic insight is lost to the remaining 100+ students in the cohort</a:t>
            </a:r>
            <a:r>
              <a:rPr sz="1050" dirty="0">
                <a:solidFill>
                  <a:srgbClr val="475569"/>
                </a:solidFill>
                <a:latin typeface="Calibri"/>
              </a:rPr>
              <a:t>.</a:t>
            </a:r>
            <a:endParaRPr sz="1050" dirty="0">
              <a:solidFill>
                <a:srgbClr val="475569"/>
              </a:solidFill>
              <a:latin typeface="Calibri"/>
            </a:endParaRPr>
          </a:p>
        </p:txBody>
      </p:sp>
      <p:sp>
        <p:nvSpPr>
          <p:cNvPr id="12" name="Rounded Rectangle 11"/>
          <p:cNvSpPr/>
          <p:nvPr/>
        </p:nvSpPr>
        <p:spPr>
          <a:xfrm>
            <a:off x="457200" y="3566160"/>
            <a:ext cx="5669280" cy="228600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3" name="TextBox 12"/>
          <p:cNvSpPr txBox="1"/>
          <p:nvPr/>
        </p:nvSpPr>
        <p:spPr>
          <a:xfrm>
            <a:off x="594360" y="3630168"/>
            <a:ext cx="5394960" cy="2246769"/>
          </a:xfrm>
          <a:prstGeom prst="rect">
            <a:avLst/>
          </a:prstGeom>
          <a:noFill/>
        </p:spPr>
        <p:txBody>
          <a:bodyPr wrap="square">
            <a:spAutoFit/>
          </a:bodyPr>
          <a:lstStyle/>
          <a:p>
            <a:r>
              <a:rPr sz="1600" b="1" dirty="0">
                <a:solidFill>
                  <a:srgbClr val="B91C1C"/>
                </a:solidFill>
                <a:latin typeface="Calibri"/>
              </a:rPr>
              <a:t>⚠️ Why Informal Channels (WhatsApp / Telegram) Fail</a:t>
            </a:r>
            <a:endParaRPr sz="1600" b="1" dirty="0">
              <a:solidFill>
                <a:srgbClr val="B91C1C"/>
              </a:solidFill>
              <a:latin typeface="Calibri"/>
            </a:endParaRPr>
          </a:p>
          <a:p>
            <a:pPr>
              <a:spcBef>
                <a:spcPts val="400"/>
              </a:spcBef>
            </a:pPr>
            <a:r>
              <a:rPr sz="1400" b="1" dirty="0">
                <a:solidFill>
                  <a:srgbClr val="1E293B"/>
                </a:solidFill>
                <a:latin typeface="Calibri"/>
              </a:rPr>
              <a:t>• Cluttered &amp; Ephemeral Streams: </a:t>
            </a:r>
            <a:r>
              <a:rPr sz="1200" dirty="0">
                <a:solidFill>
                  <a:srgbClr val="475569"/>
                </a:solidFill>
                <a:latin typeface="Calibri"/>
              </a:rPr>
              <a:t>Informal groups mix casual banter, memes, and administrative noise; serious academic inquiries and technical findings are quickly buried.</a:t>
            </a:r>
            <a:endParaRPr sz="1200" dirty="0">
              <a:solidFill>
                <a:srgbClr val="475569"/>
              </a:solidFill>
              <a:latin typeface="Calibri"/>
            </a:endParaRPr>
          </a:p>
          <a:p>
            <a:pPr>
              <a:spcBef>
                <a:spcPts val="400"/>
              </a:spcBef>
            </a:pPr>
            <a:r>
              <a:rPr sz="1400" b="1" dirty="0">
                <a:solidFill>
                  <a:srgbClr val="1E293B"/>
                </a:solidFill>
                <a:latin typeface="Calibri"/>
              </a:rPr>
              <a:t>• Redundant Faculty Burden: </a:t>
            </a:r>
            <a:r>
              <a:rPr sz="1200" dirty="0">
                <a:solidFill>
                  <a:srgbClr val="475569"/>
                </a:solidFill>
                <a:latin typeface="Calibri"/>
              </a:rPr>
              <a:t>Lecturers repeatedly answer the exact same questions for different students in private DMs with no searchable institutional knowledge archive.</a:t>
            </a:r>
            <a:endParaRPr sz="1200" dirty="0">
              <a:solidFill>
                <a:srgbClr val="475569"/>
              </a:solidFill>
              <a:latin typeface="Calibri"/>
            </a:endParaRPr>
          </a:p>
          <a:p>
            <a:pPr>
              <a:spcBef>
                <a:spcPts val="400"/>
              </a:spcBef>
            </a:pPr>
            <a:r>
              <a:rPr sz="1400" b="1" dirty="0">
                <a:solidFill>
                  <a:srgbClr val="1E293B"/>
                </a:solidFill>
                <a:latin typeface="Calibri"/>
              </a:rPr>
              <a:t>• </a:t>
            </a:r>
            <a:r>
              <a:rPr sz="1400" b="1" dirty="0" err="1">
                <a:solidFill>
                  <a:srgbClr val="1E293B"/>
                </a:solidFill>
                <a:latin typeface="Calibri"/>
              </a:rPr>
              <a:t>QCampus</a:t>
            </a:r>
            <a:r>
              <a:rPr sz="1400" b="1" dirty="0">
                <a:solidFill>
                  <a:srgbClr val="1E293B"/>
                </a:solidFill>
                <a:latin typeface="Calibri"/>
              </a:rPr>
              <a:t> Connect Solution: </a:t>
            </a:r>
            <a:r>
              <a:rPr sz="1200" dirty="0">
                <a:solidFill>
                  <a:srgbClr val="475569"/>
                </a:solidFill>
                <a:latin typeface="Calibri"/>
              </a:rPr>
              <a:t>A centralized university Q&amp;A forum where discussions are public, searchable, and verified, with 1-on-1 messaging reserved only as a follow-up consultation tool.</a:t>
            </a:r>
            <a:endParaRPr sz="1200" dirty="0">
              <a:solidFill>
                <a:srgbClr val="475569"/>
              </a:solidFill>
              <a:latin typeface="Calibri"/>
            </a:endParaRPr>
          </a:p>
        </p:txBody>
      </p:sp>
      <p:sp>
        <p:nvSpPr>
          <p:cNvPr id="14" name="Rounded Rectangle 13"/>
          <p:cNvSpPr/>
          <p:nvPr/>
        </p:nvSpPr>
        <p:spPr>
          <a:xfrm>
            <a:off x="6309360" y="1234440"/>
            <a:ext cx="5394960" cy="4617720"/>
          </a:xfrm>
          <a:prstGeom prst="roundRect">
            <a:avLst/>
          </a:prstGeom>
          <a:solidFill>
            <a:srgbClr val="EEF4FA"/>
          </a:solidFill>
          <a:ln w="19050">
            <a:solidFill>
              <a:srgbClr val="1E90FF"/>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5" name="Rounded Rectangle 14"/>
          <p:cNvSpPr/>
          <p:nvPr/>
        </p:nvSpPr>
        <p:spPr>
          <a:xfrm>
            <a:off x="6492240" y="1371600"/>
            <a:ext cx="5029200" cy="41148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dirty="0">
                <a:solidFill>
                  <a:srgbClr val="FFFFFF"/>
                </a:solidFill>
                <a:latin typeface="Calibri"/>
              </a:rPr>
              <a:t>📸  WORKFLOW COMPARISON &amp; PROBLEM SCENARIO</a:t>
            </a:r>
            <a:endParaRPr sz="1400" b="1" dirty="0">
              <a:solidFill>
                <a:srgbClr val="FFFFFF"/>
              </a:solidFill>
              <a:latin typeface="Calibri"/>
            </a:endParaRPr>
          </a:p>
        </p:txBody>
      </p:sp>
      <p:sp>
        <p:nvSpPr>
          <p:cNvPr id="16" name="TextBox 15"/>
          <p:cNvSpPr txBox="1"/>
          <p:nvPr/>
        </p:nvSpPr>
        <p:spPr>
          <a:xfrm>
            <a:off x="6537960" y="1828800"/>
            <a:ext cx="4937760" cy="3211135"/>
          </a:xfrm>
          <a:prstGeom prst="rect">
            <a:avLst/>
          </a:prstGeom>
          <a:noFill/>
        </p:spPr>
        <p:txBody>
          <a:bodyPr wrap="square">
            <a:spAutoFit/>
          </a:bodyPr>
          <a:lstStyle/>
          <a:p>
            <a:pPr algn="ctr"/>
            <a:r>
              <a:rPr sz="1600" b="1" i="1" dirty="0">
                <a:solidFill>
                  <a:srgbClr val="00509E"/>
                </a:solidFill>
                <a:latin typeface="Calibri"/>
              </a:rPr>
              <a:t>Traditional Campus Wandering vs. </a:t>
            </a:r>
            <a:r>
              <a:rPr sz="1600" b="1" i="1" dirty="0" err="1">
                <a:solidFill>
                  <a:srgbClr val="00509E"/>
                </a:solidFill>
                <a:latin typeface="Calibri"/>
              </a:rPr>
              <a:t>QCampus</a:t>
            </a:r>
            <a:r>
              <a:rPr sz="1600" b="1" i="1" dirty="0">
                <a:solidFill>
                  <a:srgbClr val="00509E"/>
                </a:solidFill>
                <a:latin typeface="Calibri"/>
              </a:rPr>
              <a:t> Connect Digital Commons</a:t>
            </a:r>
            <a:endParaRPr sz="1600" b="1" i="1" dirty="0">
              <a:solidFill>
                <a:srgbClr val="00509E"/>
              </a:solidFill>
              <a:latin typeface="Calibri"/>
            </a:endParaRPr>
          </a:p>
          <a:p>
            <a:pPr>
              <a:spcBef>
                <a:spcPts val="400"/>
              </a:spcBef>
            </a:pPr>
            <a:r>
              <a:rPr sz="1400" dirty="0">
                <a:solidFill>
                  <a:srgbClr val="1E293B"/>
                </a:solidFill>
                <a:latin typeface="Calibri"/>
              </a:rPr>
              <a:t>• Left Side: Traditional Breakdown (Office queues, unscheduled phone calls, WhatsApp noise, duplicate DMs).</a:t>
            </a:r>
            <a:endParaRPr sz="1400" dirty="0">
              <a:solidFill>
                <a:srgbClr val="1E293B"/>
              </a:solidFill>
              <a:latin typeface="Calibri"/>
            </a:endParaRPr>
          </a:p>
          <a:p>
            <a:pPr>
              <a:spcBef>
                <a:spcPts val="400"/>
              </a:spcBef>
            </a:pPr>
            <a:r>
              <a:rPr sz="1400" dirty="0">
                <a:solidFill>
                  <a:srgbClr val="1E293B"/>
                </a:solidFill>
                <a:latin typeface="Calibri"/>
              </a:rPr>
              <a:t>• Right Side: </a:t>
            </a:r>
            <a:r>
              <a:rPr sz="1400" dirty="0" err="1">
                <a:solidFill>
                  <a:srgbClr val="1E293B"/>
                </a:solidFill>
                <a:latin typeface="Calibri"/>
              </a:rPr>
              <a:t>QCampus</a:t>
            </a:r>
            <a:r>
              <a:rPr sz="1400" dirty="0">
                <a:solidFill>
                  <a:srgbClr val="1E293B"/>
                </a:solidFill>
                <a:latin typeface="Calibri"/>
              </a:rPr>
              <a:t> Connect Model (Public Forum Question -&gt; Verified Faculty Answer -&gt; Searchable Knowledge -&gt; Optional 1-on-1 Consultation).</a:t>
            </a:r>
            <a:endParaRPr sz="1400" dirty="0">
              <a:solidFill>
                <a:srgbClr val="1E293B"/>
              </a:solidFill>
              <a:latin typeface="Calibri"/>
            </a:endParaRPr>
          </a:p>
          <a:p>
            <a:pPr>
              <a:spcBef>
                <a:spcPts val="400"/>
              </a:spcBef>
            </a:pPr>
            <a:r>
              <a:rPr sz="1400" dirty="0">
                <a:solidFill>
                  <a:srgbClr val="1E293B"/>
                </a:solidFill>
                <a:latin typeface="Calibri"/>
              </a:rPr>
              <a:t>• Demonstrates how public Q&amp;A solves the 1-to-many knowledge distribution barrier.</a:t>
            </a:r>
            <a:endParaRPr sz="1400" dirty="0">
              <a:solidFill>
                <a:srgbClr val="1E293B"/>
              </a:solidFill>
              <a:latin typeface="Calibri"/>
            </a:endParaRPr>
          </a:p>
          <a:p>
            <a:pPr>
              <a:spcBef>
                <a:spcPts val="400"/>
              </a:spcBef>
            </a:pPr>
            <a:r>
              <a:rPr sz="1400" dirty="0">
                <a:solidFill>
                  <a:srgbClr val="1E293B"/>
                </a:solidFill>
                <a:latin typeface="Calibri"/>
              </a:rPr>
              <a:t>• Shows the seamless transition to client-encrypted direct messaging for deep private consultations.</a:t>
            </a:r>
            <a:endParaRPr sz="1400" dirty="0">
              <a:solidFill>
                <a:srgbClr val="1E293B"/>
              </a:solidFill>
              <a:latin typeface="Calibri"/>
            </a:endParaRPr>
          </a:p>
          <a:p>
            <a:pPr>
              <a:spcBef>
                <a:spcPts val="400"/>
              </a:spcBef>
            </a:pPr>
            <a:r>
              <a:rPr sz="1400" dirty="0">
                <a:solidFill>
                  <a:srgbClr val="1E293B"/>
                </a:solidFill>
                <a:latin typeface="Calibri"/>
              </a:rPr>
              <a:t>• Eliminates late-night WhatsApp submission disputes with cryptographic timestamp proof.</a:t>
            </a:r>
            <a:endParaRPr sz="1400" dirty="0">
              <a:solidFill>
                <a:srgbClr val="1E293B"/>
              </a:solidFill>
              <a:latin typeface="Calibri"/>
            </a:endParaRPr>
          </a:p>
        </p:txBody>
      </p:sp>
      <p:sp>
        <p:nvSpPr>
          <p:cNvPr id="17" name="Rounded Rectangle 16"/>
          <p:cNvSpPr/>
          <p:nvPr/>
        </p:nvSpPr>
        <p:spPr>
          <a:xfrm>
            <a:off x="457200" y="5989320"/>
            <a:ext cx="11247120" cy="41148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8" name="Rounded Rectangle 17"/>
          <p:cNvSpPr/>
          <p:nvPr/>
        </p:nvSpPr>
        <p:spPr>
          <a:xfrm>
            <a:off x="457200" y="5989320"/>
            <a:ext cx="91440" cy="41148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9" name="TextBox 18"/>
          <p:cNvSpPr txBox="1"/>
          <p:nvPr/>
        </p:nvSpPr>
        <p:spPr>
          <a:xfrm>
            <a:off x="640080" y="6035040"/>
            <a:ext cx="10972800" cy="276999"/>
          </a:xfrm>
          <a:prstGeom prst="rect">
            <a:avLst/>
          </a:prstGeom>
          <a:noFill/>
        </p:spPr>
        <p:txBody>
          <a:bodyPr wrap="square">
            <a:spAutoFit/>
          </a:bodyPr>
          <a:lstStyle/>
          <a:p>
            <a:pPr algn="l"/>
            <a:r>
              <a:rPr sz="1200" b="1">
                <a:solidFill>
                  <a:srgbClr val="FFC107"/>
                </a:solidFill>
                <a:latin typeface="Calibri"/>
              </a:rPr>
              <a:t>CORE PARADIGM: </a:t>
            </a:r>
            <a:r>
              <a:rPr sz="1200">
                <a:solidFill>
                  <a:srgbClr val="FFFFFF"/>
                </a:solidFill>
                <a:latin typeface="Calibri"/>
              </a:rPr>
              <a:t>Academic discussions must be open, centralized, and persistent so one lecturer explanation benefits the entire student cohort.</a:t>
            </a:r>
            <a:endParaRPr sz="1200">
              <a:solidFill>
                <a:srgbClr val="FFFFFF"/>
              </a:solidFill>
              <a:latin typeface="Calibri"/>
            </a:endParaRPr>
          </a:p>
        </p:txBody>
      </p:sp>
      <p:pic>
        <p:nvPicPr>
          <p:cNvPr id="21" name="Picture 20"/>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00336A"/>
                </a:solidFill>
                <a:latin typeface="Calibri"/>
              </a:rPr>
              <a:t>02</a:t>
            </a:r>
            <a:endParaRPr sz="2000" b="1">
              <a:solidFill>
                <a:srgbClr val="00336A"/>
              </a:solidFill>
              <a:latin typeface="Calibri"/>
            </a:endParaRPr>
          </a:p>
        </p:txBody>
      </p:sp>
      <p:sp>
        <p:nvSpPr>
          <p:cNvPr id="6" name="TextBox 5"/>
          <p:cNvSpPr txBox="1"/>
          <p:nvPr/>
        </p:nvSpPr>
        <p:spPr>
          <a:xfrm>
            <a:off x="1325880" y="109728"/>
            <a:ext cx="9601200" cy="584775"/>
          </a:xfrm>
          <a:prstGeom prst="rect">
            <a:avLst/>
          </a:prstGeom>
          <a:noFill/>
        </p:spPr>
        <p:txBody>
          <a:bodyPr wrap="square">
            <a:spAutoFit/>
          </a:bodyPr>
          <a:lstStyle/>
          <a:p>
            <a:r>
              <a:rPr sz="2000" b="1" dirty="0">
                <a:solidFill>
                  <a:srgbClr val="FFFFFF"/>
                </a:solidFill>
                <a:latin typeface="Calibri"/>
              </a:rPr>
              <a:t>Problem Statement: Higher Education Communication Gap</a:t>
            </a:r>
            <a:endParaRPr sz="2000" b="1" dirty="0">
              <a:solidFill>
                <a:srgbClr val="FFFFFF"/>
              </a:solidFill>
              <a:latin typeface="Calibri"/>
            </a:endParaRPr>
          </a:p>
          <a:p>
            <a:r>
              <a:rPr sz="1200" i="1" dirty="0">
                <a:solidFill>
                  <a:srgbClr val="BAE6FD"/>
                </a:solidFill>
                <a:latin typeface="Calibri"/>
              </a:rPr>
              <a:t>Four Critical Institutional Bottlenecks in Campus Communication &amp; Student-Faculty Collaboration</a:t>
            </a:r>
            <a:endParaRPr sz="1200" i="1" dirty="0">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56248"/>
            <a:ext cx="9601200" cy="274320"/>
          </a:xfrm>
          <a:prstGeom prst="rect">
            <a:avLst/>
          </a:prstGeom>
          <a:noFill/>
        </p:spPr>
        <p:txBody>
          <a:bodyPr wrap="none">
            <a:spAutoFit/>
          </a:bodyPr>
          <a:lstStyle/>
          <a:p>
            <a:r>
              <a:rPr sz="850">
                <a:solidFill>
                  <a:srgbClr val="475569"/>
                </a:solidFill>
                <a:latin typeface="Calibri"/>
              </a:rPr>
              <a:t>QCampus Connect | Verified Academic Q&amp;A Forum &amp; Secure Consultation Platform | Case Study: UENR</a:t>
            </a:r>
            <a:endParaRPr sz="850">
              <a:solidFill>
                <a:srgbClr val="475569"/>
              </a:solidFill>
              <a:latin typeface="Calibri"/>
            </a:endParaRPr>
          </a:p>
        </p:txBody>
      </p:sp>
      <p:sp>
        <p:nvSpPr>
          <p:cNvPr id="9" name="TextBox 8"/>
          <p:cNvSpPr txBox="1"/>
          <p:nvPr/>
        </p:nvSpPr>
        <p:spPr>
          <a:xfrm>
            <a:off x="10332720" y="6556248"/>
            <a:ext cx="1463040" cy="274320"/>
          </a:xfrm>
          <a:prstGeom prst="rect">
            <a:avLst/>
          </a:prstGeom>
          <a:noFill/>
        </p:spPr>
        <p:txBody>
          <a:bodyPr wrap="none">
            <a:spAutoFit/>
          </a:bodyPr>
          <a:lstStyle/>
          <a:p>
            <a:pPr algn="r"/>
            <a:r>
              <a:rPr sz="850" b="1">
                <a:solidFill>
                  <a:srgbClr val="00336A"/>
                </a:solidFill>
                <a:latin typeface="Calibri"/>
              </a:rPr>
              <a:t>Slide 02 / 08</a:t>
            </a:r>
            <a:endParaRPr sz="850" b="1">
              <a:solidFill>
                <a:srgbClr val="00336A"/>
              </a:solidFill>
              <a:latin typeface="Calibri"/>
            </a:endParaRPr>
          </a:p>
        </p:txBody>
      </p:sp>
      <p:sp>
        <p:nvSpPr>
          <p:cNvPr id="10" name="Rounded Rectangle 9"/>
          <p:cNvSpPr/>
          <p:nvPr/>
        </p:nvSpPr>
        <p:spPr>
          <a:xfrm>
            <a:off x="457200" y="1234440"/>
            <a:ext cx="5532120" cy="21488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234440"/>
            <a:ext cx="5532120" cy="73152"/>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44168"/>
            <a:ext cx="5257800" cy="1715854"/>
          </a:xfrm>
          <a:prstGeom prst="rect">
            <a:avLst/>
          </a:prstGeom>
          <a:noFill/>
        </p:spPr>
        <p:txBody>
          <a:bodyPr wrap="square">
            <a:spAutoFit/>
          </a:bodyPr>
          <a:lstStyle/>
          <a:p>
            <a:r>
              <a:rPr sz="1400" b="1" dirty="0">
                <a:solidFill>
                  <a:srgbClr val="EF4444"/>
                </a:solidFill>
                <a:latin typeface="Calibri"/>
              </a:rPr>
              <a:t>Problem 1: Academic Isolation &amp; Inaccessibility</a:t>
            </a:r>
            <a:endParaRPr sz="1400" b="1" dirty="0">
              <a:solidFill>
                <a:srgbClr val="EF4444"/>
              </a:solidFill>
              <a:latin typeface="Calibri"/>
            </a:endParaRPr>
          </a:p>
          <a:p>
            <a:r>
              <a:rPr sz="1200" b="1" dirty="0">
                <a:solidFill>
                  <a:srgbClr val="1E293B"/>
                </a:solidFill>
                <a:latin typeface="Calibri"/>
              </a:rPr>
              <a:t>Office Queue Bottlenecks &amp; Physical Barriers</a:t>
            </a:r>
            <a:endParaRPr sz="1200" b="1" dirty="0">
              <a:solidFill>
                <a:srgbClr val="1E293B"/>
              </a:solidFill>
              <a:latin typeface="Calibri"/>
            </a:endParaRPr>
          </a:p>
          <a:p>
            <a:pPr>
              <a:spcBef>
                <a:spcPts val="300"/>
              </a:spcBef>
            </a:pPr>
            <a:r>
              <a:rPr sz="1200" dirty="0">
                <a:solidFill>
                  <a:srgbClr val="475569"/>
                </a:solidFill>
                <a:latin typeface="Calibri"/>
              </a:rPr>
              <a:t>• Students must physically pursue lecturers across campus buildings or wait in long queues outside offices.
• Off-campus, commuting, distance, or introverted students receive zero guidance outside limited physical office hours.
• Critical academic clarification is unavailable during revision and project deadlines.</a:t>
            </a:r>
            <a:endParaRPr sz="1200" dirty="0">
              <a:solidFill>
                <a:srgbClr val="475569"/>
              </a:solidFill>
              <a:latin typeface="Calibri"/>
            </a:endParaRPr>
          </a:p>
        </p:txBody>
      </p:sp>
      <p:sp>
        <p:nvSpPr>
          <p:cNvPr id="13" name="Rounded Rectangle 12"/>
          <p:cNvSpPr/>
          <p:nvPr/>
        </p:nvSpPr>
        <p:spPr>
          <a:xfrm>
            <a:off x="6172200" y="1234440"/>
            <a:ext cx="5532120" cy="21488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72200" y="1234440"/>
            <a:ext cx="5532120" cy="7315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344168"/>
            <a:ext cx="5257800" cy="1531188"/>
          </a:xfrm>
          <a:prstGeom prst="rect">
            <a:avLst/>
          </a:prstGeom>
          <a:noFill/>
        </p:spPr>
        <p:txBody>
          <a:bodyPr wrap="square">
            <a:spAutoFit/>
          </a:bodyPr>
          <a:lstStyle/>
          <a:p>
            <a:r>
              <a:rPr sz="1400" b="1" dirty="0">
                <a:solidFill>
                  <a:srgbClr val="F59E0B"/>
                </a:solidFill>
                <a:latin typeface="Calibri"/>
              </a:rPr>
              <a:t>Problem 2: Unqualified Advice as Expert Authority</a:t>
            </a:r>
            <a:endParaRPr sz="1400" b="1" dirty="0">
              <a:solidFill>
                <a:srgbClr val="F59E0B"/>
              </a:solidFill>
              <a:latin typeface="Calibri"/>
            </a:endParaRPr>
          </a:p>
          <a:p>
            <a:r>
              <a:rPr sz="1200" b="1" dirty="0">
                <a:solidFill>
                  <a:srgbClr val="1E293B"/>
                </a:solidFill>
                <a:latin typeface="Calibri"/>
              </a:rPr>
              <a:t>Social Media Hearsay &amp; Rumor Propagation</a:t>
            </a:r>
            <a:endParaRPr sz="1200" b="1" dirty="0">
              <a:solidFill>
                <a:srgbClr val="1E293B"/>
              </a:solidFill>
              <a:latin typeface="Calibri"/>
            </a:endParaRPr>
          </a:p>
          <a:p>
            <a:pPr>
              <a:spcBef>
                <a:spcPts val="300"/>
              </a:spcBef>
            </a:pPr>
            <a:r>
              <a:rPr sz="1200" dirty="0">
                <a:solidFill>
                  <a:srgbClr val="475569"/>
                </a:solidFill>
                <a:latin typeface="Calibri"/>
              </a:rPr>
              <a:t>• In informal forums or WhatsApp groups, student upvotes and popularity outrank verified faculty expertise.
• Unverified rumors regarding exam dates, grading criteria, and coursework solutions circulate unchecked.
• No institutional badges exist to distinguish real professors from casual students.</a:t>
            </a:r>
            <a:endParaRPr sz="1200" dirty="0">
              <a:solidFill>
                <a:srgbClr val="475569"/>
              </a:solidFill>
              <a:latin typeface="Calibri"/>
            </a:endParaRPr>
          </a:p>
        </p:txBody>
      </p:sp>
      <p:sp>
        <p:nvSpPr>
          <p:cNvPr id="16" name="Rounded Rectangle 15"/>
          <p:cNvSpPr/>
          <p:nvPr/>
        </p:nvSpPr>
        <p:spPr>
          <a:xfrm>
            <a:off x="457200" y="3520440"/>
            <a:ext cx="5532120" cy="21488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 y="3520440"/>
            <a:ext cx="5532120" cy="73152"/>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630168"/>
            <a:ext cx="5257800" cy="1531188"/>
          </a:xfrm>
          <a:prstGeom prst="rect">
            <a:avLst/>
          </a:prstGeom>
          <a:noFill/>
        </p:spPr>
        <p:txBody>
          <a:bodyPr wrap="square">
            <a:spAutoFit/>
          </a:bodyPr>
          <a:lstStyle/>
          <a:p>
            <a:r>
              <a:rPr sz="1400" b="1" dirty="0">
                <a:solidFill>
                  <a:srgbClr val="3B82F6"/>
                </a:solidFill>
                <a:latin typeface="Calibri"/>
              </a:rPr>
              <a:t>Problem 3: Redundant Repetition &amp; Faculty Burden</a:t>
            </a:r>
            <a:endParaRPr sz="1400" b="1" dirty="0">
              <a:solidFill>
                <a:srgbClr val="3B82F6"/>
              </a:solidFill>
              <a:latin typeface="Calibri"/>
            </a:endParaRPr>
          </a:p>
          <a:p>
            <a:r>
              <a:rPr sz="1200" b="1" dirty="0">
                <a:solidFill>
                  <a:srgbClr val="1E293B"/>
                </a:solidFill>
                <a:latin typeface="Calibri"/>
              </a:rPr>
              <a:t>Knowledge Trapped in 1-on-1 Silos</a:t>
            </a:r>
            <a:endParaRPr sz="1200" b="1" dirty="0">
              <a:solidFill>
                <a:srgbClr val="1E293B"/>
              </a:solidFill>
              <a:latin typeface="Calibri"/>
            </a:endParaRPr>
          </a:p>
          <a:p>
            <a:pPr>
              <a:spcBef>
                <a:spcPts val="300"/>
              </a:spcBef>
            </a:pPr>
            <a:r>
              <a:rPr sz="1200" dirty="0">
                <a:solidFill>
                  <a:srgbClr val="475569"/>
                </a:solidFill>
                <a:latin typeface="Calibri"/>
              </a:rPr>
              <a:t>• Lecturers spend dozens of hours answering identical conceptual questions repeatedly across separate private chats.
• Explanations given in 1-on-1 DMs are lost to the rest of the 100+ cohort.
• No searchable, persistent university knowledge repository exists to archive solved problems.</a:t>
            </a:r>
            <a:endParaRPr sz="1200" dirty="0">
              <a:solidFill>
                <a:srgbClr val="475569"/>
              </a:solidFill>
              <a:latin typeface="Calibri"/>
            </a:endParaRPr>
          </a:p>
        </p:txBody>
      </p:sp>
      <p:sp>
        <p:nvSpPr>
          <p:cNvPr id="19" name="Rounded Rectangle 18"/>
          <p:cNvSpPr/>
          <p:nvPr/>
        </p:nvSpPr>
        <p:spPr>
          <a:xfrm>
            <a:off x="6172200" y="3520440"/>
            <a:ext cx="5532120" cy="21488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72200" y="3520440"/>
            <a:ext cx="5532120" cy="73152"/>
          </a:xfrm>
          <a:prstGeom prst="round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630168"/>
            <a:ext cx="5257800" cy="1531188"/>
          </a:xfrm>
          <a:prstGeom prst="rect">
            <a:avLst/>
          </a:prstGeom>
          <a:noFill/>
        </p:spPr>
        <p:txBody>
          <a:bodyPr wrap="square">
            <a:spAutoFit/>
          </a:bodyPr>
          <a:lstStyle/>
          <a:p>
            <a:r>
              <a:rPr sz="1400" b="1" dirty="0">
                <a:solidFill>
                  <a:srgbClr val="8B5CF6"/>
                </a:solidFill>
                <a:latin typeface="Calibri"/>
              </a:rPr>
              <a:t>Problem 4: Ephemeral Records &amp; Evidence Tampering</a:t>
            </a:r>
            <a:endParaRPr sz="1400" b="1" dirty="0">
              <a:solidFill>
                <a:srgbClr val="8B5CF6"/>
              </a:solidFill>
              <a:latin typeface="Calibri"/>
            </a:endParaRPr>
          </a:p>
          <a:p>
            <a:r>
              <a:rPr sz="1200" b="1" dirty="0">
                <a:solidFill>
                  <a:srgbClr val="1E293B"/>
                </a:solidFill>
                <a:latin typeface="Calibri"/>
              </a:rPr>
              <a:t>Lack of Cryptographic Non-Repudiation</a:t>
            </a:r>
            <a:endParaRPr sz="1200" b="1" dirty="0">
              <a:solidFill>
                <a:srgbClr val="1E293B"/>
              </a:solidFill>
              <a:latin typeface="Calibri"/>
            </a:endParaRPr>
          </a:p>
          <a:p>
            <a:pPr>
              <a:spcBef>
                <a:spcPts val="300"/>
              </a:spcBef>
            </a:pPr>
            <a:r>
              <a:rPr sz="1200" dirty="0">
                <a:solidFill>
                  <a:srgbClr val="475569"/>
                </a:solidFill>
                <a:latin typeface="Calibri"/>
              </a:rPr>
              <a:t>• Social chat platforms allow 'Delete for Everyone', destroying evidence of critical interactions and assignment agreements.
• Database logs in standard LMS portals are mutable and vulnerable to timestamp falsification disputes.
• No independent, cryptographic audit trail exists to resolve submission disputes.</a:t>
            </a:r>
            <a:endParaRPr sz="1200" dirty="0">
              <a:solidFill>
                <a:srgbClr val="475569"/>
              </a:solidFill>
              <a:latin typeface="Calibri"/>
            </a:endParaRPr>
          </a:p>
        </p:txBody>
      </p:sp>
      <p:sp>
        <p:nvSpPr>
          <p:cNvPr id="22" name="Rounded Rectangle 21"/>
          <p:cNvSpPr/>
          <p:nvPr/>
        </p:nvSpPr>
        <p:spPr>
          <a:xfrm>
            <a:off x="457200" y="5897880"/>
            <a:ext cx="11247120" cy="50292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7200" y="5897880"/>
            <a:ext cx="91440" cy="50292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943600"/>
            <a:ext cx="10972800" cy="411480"/>
          </a:xfrm>
          <a:prstGeom prst="rect">
            <a:avLst/>
          </a:prstGeom>
          <a:noFill/>
        </p:spPr>
        <p:txBody>
          <a:bodyPr wrap="square">
            <a:spAutoFit/>
          </a:bodyPr>
          <a:lstStyle/>
          <a:p>
            <a:pPr algn="l"/>
            <a:r>
              <a:rPr sz="1100" b="1">
                <a:solidFill>
                  <a:srgbClr val="FFC107"/>
                </a:solidFill>
                <a:latin typeface="Calibri"/>
              </a:rPr>
              <a:t>CORE RESEARCH QUESTION: </a:t>
            </a:r>
            <a:r>
              <a:rPr sz="1100">
                <a:solidFill>
                  <a:srgbClr val="FFFFFF"/>
                </a:solidFill>
                <a:latin typeface="Calibri"/>
              </a:rPr>
              <a:t>"How can higher education institutions provide a structured, real-time academic discussion platform that eliminates physical accessibility barriers, verifies faculty authority, and preserves institutional knowledge? (Case Study: UENR)"</a:t>
            </a:r>
            <a:endParaRPr sz="1100">
              <a:solidFill>
                <a:srgbClr val="FFFFFF"/>
              </a:solidFill>
              <a:latin typeface="Calibri"/>
            </a:endParaRPr>
          </a:p>
        </p:txBody>
      </p:sp>
      <p:pic>
        <p:nvPicPr>
          <p:cNvPr id="26" name="Picture 25"/>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00336A"/>
                </a:solidFill>
                <a:latin typeface="Calibri"/>
              </a:rPr>
              <a:t>03</a:t>
            </a:r>
            <a:endParaRPr sz="2000" b="1">
              <a:solidFill>
                <a:srgbClr val="00336A"/>
              </a:solidFill>
              <a:latin typeface="Calibri"/>
            </a:endParaRPr>
          </a:p>
        </p:txBody>
      </p:sp>
      <p:sp>
        <p:nvSpPr>
          <p:cNvPr id="6" name="TextBox 5"/>
          <p:cNvSpPr txBox="1"/>
          <p:nvPr/>
        </p:nvSpPr>
        <p:spPr>
          <a:xfrm>
            <a:off x="1325880" y="109728"/>
            <a:ext cx="9601200" cy="822960"/>
          </a:xfrm>
          <a:prstGeom prst="rect">
            <a:avLst/>
          </a:prstGeom>
          <a:noFill/>
        </p:spPr>
        <p:txBody>
          <a:bodyPr wrap="square">
            <a:spAutoFit/>
          </a:bodyPr>
          <a:lstStyle/>
          <a:p>
            <a:r>
              <a:rPr sz="2000" b="1">
                <a:solidFill>
                  <a:srgbClr val="FFFFFF"/>
                </a:solidFill>
                <a:latin typeface="Calibri"/>
              </a:rPr>
              <a:t>Aim &amp; Specific Objectives (Case Study: UENR)</a:t>
            </a:r>
            <a:endParaRPr sz="2000" b="1">
              <a:solidFill>
                <a:srgbClr val="FFFFFF"/>
              </a:solidFill>
              <a:latin typeface="Calibri"/>
            </a:endParaRPr>
          </a:p>
          <a:p>
            <a:r>
              <a:rPr sz="1100" i="1">
                <a:solidFill>
                  <a:srgbClr val="BAE6FD"/>
                </a:solidFill>
                <a:latin typeface="Calibri"/>
              </a:rPr>
              <a:t>Research Scope, Mission Statement, and Five Primary Technical Deliverables</a:t>
            </a:r>
            <a:endParaRPr sz="1100" i="1">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56248"/>
            <a:ext cx="9601200" cy="274320"/>
          </a:xfrm>
          <a:prstGeom prst="rect">
            <a:avLst/>
          </a:prstGeom>
          <a:noFill/>
        </p:spPr>
        <p:txBody>
          <a:bodyPr wrap="none">
            <a:spAutoFit/>
          </a:bodyPr>
          <a:lstStyle/>
          <a:p>
            <a:r>
              <a:rPr sz="850">
                <a:solidFill>
                  <a:srgbClr val="475569"/>
                </a:solidFill>
                <a:latin typeface="Calibri"/>
              </a:rPr>
              <a:t>QCampus Connect | Verified Academic Q&amp;A Forum &amp; Secure Consultation Platform | Case Study: UENR</a:t>
            </a:r>
            <a:endParaRPr sz="850">
              <a:solidFill>
                <a:srgbClr val="475569"/>
              </a:solidFill>
              <a:latin typeface="Calibri"/>
            </a:endParaRPr>
          </a:p>
        </p:txBody>
      </p:sp>
      <p:sp>
        <p:nvSpPr>
          <p:cNvPr id="9" name="TextBox 8"/>
          <p:cNvSpPr txBox="1"/>
          <p:nvPr/>
        </p:nvSpPr>
        <p:spPr>
          <a:xfrm>
            <a:off x="10332720" y="6556248"/>
            <a:ext cx="1463040" cy="274320"/>
          </a:xfrm>
          <a:prstGeom prst="rect">
            <a:avLst/>
          </a:prstGeom>
          <a:noFill/>
        </p:spPr>
        <p:txBody>
          <a:bodyPr wrap="none">
            <a:spAutoFit/>
          </a:bodyPr>
          <a:lstStyle/>
          <a:p>
            <a:pPr algn="r"/>
            <a:r>
              <a:rPr sz="850" b="1">
                <a:solidFill>
                  <a:srgbClr val="00336A"/>
                </a:solidFill>
                <a:latin typeface="Calibri"/>
              </a:rPr>
              <a:t>Slide 03 / 08</a:t>
            </a:r>
            <a:endParaRPr sz="850" b="1">
              <a:solidFill>
                <a:srgbClr val="00336A"/>
              </a:solidFill>
              <a:latin typeface="Calibri"/>
            </a:endParaRPr>
          </a:p>
        </p:txBody>
      </p:sp>
      <p:sp>
        <p:nvSpPr>
          <p:cNvPr id="10" name="Rounded Rectangle 9"/>
          <p:cNvSpPr/>
          <p:nvPr/>
        </p:nvSpPr>
        <p:spPr>
          <a:xfrm>
            <a:off x="457200" y="1234440"/>
            <a:ext cx="11247120" cy="10515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234440"/>
            <a:ext cx="91440" cy="105156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280160"/>
            <a:ext cx="10881360" cy="702756"/>
          </a:xfrm>
          <a:prstGeom prst="rect">
            <a:avLst/>
          </a:prstGeom>
          <a:noFill/>
        </p:spPr>
        <p:txBody>
          <a:bodyPr wrap="square">
            <a:spAutoFit/>
          </a:bodyPr>
          <a:lstStyle/>
          <a:p>
            <a:r>
              <a:rPr sz="1150" b="1" dirty="0">
                <a:solidFill>
                  <a:srgbClr val="00336A"/>
                </a:solidFill>
                <a:latin typeface="Calibri"/>
              </a:rPr>
              <a:t>🎯 </a:t>
            </a:r>
            <a:r>
              <a:rPr sz="1400" b="1" dirty="0">
                <a:solidFill>
                  <a:srgbClr val="00336A"/>
                </a:solidFill>
                <a:latin typeface="Calibri"/>
              </a:rPr>
              <a:t>MAIN RESEARCH AIM</a:t>
            </a:r>
            <a:endParaRPr sz="1400" b="1" dirty="0">
              <a:solidFill>
                <a:srgbClr val="00336A"/>
              </a:solidFill>
              <a:latin typeface="Calibri"/>
            </a:endParaRPr>
          </a:p>
          <a:p>
            <a:pPr>
              <a:spcBef>
                <a:spcPts val="200"/>
              </a:spcBef>
            </a:pPr>
            <a:r>
              <a:rPr sz="1200" dirty="0">
                <a:solidFill>
                  <a:srgbClr val="1E293B"/>
                </a:solidFill>
                <a:latin typeface="Calibri"/>
              </a:rPr>
              <a:t>To design, implement, and benchmark </a:t>
            </a:r>
            <a:r>
              <a:rPr sz="1200" dirty="0" err="1">
                <a:solidFill>
                  <a:srgbClr val="1E293B"/>
                </a:solidFill>
                <a:latin typeface="Calibri"/>
              </a:rPr>
              <a:t>QCampus</a:t>
            </a:r>
            <a:r>
              <a:rPr sz="1200" dirty="0">
                <a:solidFill>
                  <a:srgbClr val="1E293B"/>
                </a:solidFill>
                <a:latin typeface="Calibri"/>
              </a:rPr>
              <a:t> Connect (</a:t>
            </a:r>
            <a:r>
              <a:rPr sz="1200" dirty="0" err="1">
                <a:solidFill>
                  <a:srgbClr val="1E293B"/>
                </a:solidFill>
                <a:latin typeface="Calibri"/>
              </a:rPr>
              <a:t>QChat</a:t>
            </a:r>
            <a:r>
              <a:rPr sz="1200" dirty="0">
                <a:solidFill>
                  <a:srgbClr val="1E293B"/>
                </a:solidFill>
                <a:latin typeface="Calibri"/>
              </a:rPr>
              <a:t>) — a verified academic Q&amp;A and knowledge-sharing platform for higher education institutions (with UENR as the pilot case study) where students ask questions publicly, verified faculty provide authoritative guidance, and interactions carry cryptographic trust.</a:t>
            </a:r>
            <a:endParaRPr sz="1200" dirty="0">
              <a:solidFill>
                <a:srgbClr val="1E293B"/>
              </a:solidFill>
              <a:latin typeface="Calibri"/>
            </a:endParaRPr>
          </a:p>
        </p:txBody>
      </p:sp>
      <p:sp>
        <p:nvSpPr>
          <p:cNvPr id="13" name="Rounded Rectangle 12"/>
          <p:cNvSpPr/>
          <p:nvPr/>
        </p:nvSpPr>
        <p:spPr>
          <a:xfrm>
            <a:off x="457200" y="2423160"/>
            <a:ext cx="2139696" cy="33375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7200" y="2423160"/>
            <a:ext cx="2139696" cy="41148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dirty="0">
                <a:solidFill>
                  <a:srgbClr val="FFFFFF"/>
                </a:solidFill>
                <a:latin typeface="Calibri"/>
              </a:rPr>
              <a:t>PRIMARY WORKSPACE</a:t>
            </a:r>
            <a:endParaRPr sz="1200" b="1" dirty="0">
              <a:solidFill>
                <a:srgbClr val="FFFFFF"/>
              </a:solidFill>
              <a:latin typeface="Calibri"/>
            </a:endParaRPr>
          </a:p>
        </p:txBody>
      </p:sp>
      <p:sp>
        <p:nvSpPr>
          <p:cNvPr id="15" name="TextBox 14"/>
          <p:cNvSpPr txBox="1"/>
          <p:nvPr/>
        </p:nvSpPr>
        <p:spPr>
          <a:xfrm>
            <a:off x="548640" y="2880360"/>
            <a:ext cx="1956815" cy="2482731"/>
          </a:xfrm>
          <a:prstGeom prst="rect">
            <a:avLst/>
          </a:prstGeom>
          <a:noFill/>
        </p:spPr>
        <p:txBody>
          <a:bodyPr wrap="square">
            <a:spAutoFit/>
          </a:bodyPr>
          <a:lstStyle/>
          <a:p>
            <a:r>
              <a:rPr sz="1100" b="1" dirty="0">
                <a:solidFill>
                  <a:srgbClr val="00336A"/>
                </a:solidFill>
                <a:latin typeface="Calibri"/>
              </a:rPr>
              <a:t>Obj 1: Real-Time Academic Q&amp;A</a:t>
            </a:r>
            <a:endParaRPr sz="1100" b="1" dirty="0">
              <a:solidFill>
                <a:srgbClr val="00336A"/>
              </a:solidFill>
              <a:latin typeface="Calibri"/>
            </a:endParaRPr>
          </a:p>
          <a:p>
            <a:pPr>
              <a:spcBef>
                <a:spcPts val="400"/>
              </a:spcBef>
            </a:pPr>
            <a:r>
              <a:rPr sz="1300" dirty="0">
                <a:solidFill>
                  <a:srgbClr val="475569"/>
                </a:solidFill>
                <a:latin typeface="Calibri"/>
              </a:rPr>
              <a:t>Build a structured discussion forum categorized by Department (e.g., Computer Science) and Subject topics (e.g., Cryptography, OS, AI) with sub-50ms reactive WebSocket synchronization.</a:t>
            </a:r>
            <a:endParaRPr sz="1300" dirty="0">
              <a:solidFill>
                <a:srgbClr val="475569"/>
              </a:solidFill>
              <a:latin typeface="Calibri"/>
            </a:endParaRPr>
          </a:p>
        </p:txBody>
      </p:sp>
      <p:sp>
        <p:nvSpPr>
          <p:cNvPr id="16" name="Rounded Rectangle 15"/>
          <p:cNvSpPr/>
          <p:nvPr/>
        </p:nvSpPr>
        <p:spPr>
          <a:xfrm>
            <a:off x="2734056" y="2423160"/>
            <a:ext cx="2139696" cy="33375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734056" y="2423160"/>
            <a:ext cx="2139696" cy="411480"/>
          </a:xfrm>
          <a:prstGeom prst="roundRect">
            <a:avLst/>
          </a:prstGeom>
          <a:solidFill>
            <a:srgbClr val="1E9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dirty="0">
                <a:solidFill>
                  <a:srgbClr val="FFFFFF"/>
                </a:solidFill>
                <a:latin typeface="Calibri"/>
              </a:rPr>
              <a:t>IDENTITY </a:t>
            </a:r>
            <a:r>
              <a:rPr sz="1200" b="1" dirty="0">
                <a:solidFill>
                  <a:srgbClr val="FFFFFF"/>
                </a:solidFill>
                <a:latin typeface="Calibri"/>
              </a:rPr>
              <a:t>VERIFICATION</a:t>
            </a:r>
            <a:endParaRPr sz="1050" b="1" dirty="0">
              <a:solidFill>
                <a:srgbClr val="FFFFFF"/>
              </a:solidFill>
              <a:latin typeface="Calibri"/>
            </a:endParaRPr>
          </a:p>
        </p:txBody>
      </p:sp>
      <p:sp>
        <p:nvSpPr>
          <p:cNvPr id="18" name="TextBox 17"/>
          <p:cNvSpPr txBox="1"/>
          <p:nvPr/>
        </p:nvSpPr>
        <p:spPr>
          <a:xfrm>
            <a:off x="2825496" y="2880360"/>
            <a:ext cx="1956815" cy="2282676"/>
          </a:xfrm>
          <a:prstGeom prst="rect">
            <a:avLst/>
          </a:prstGeom>
          <a:noFill/>
        </p:spPr>
        <p:txBody>
          <a:bodyPr wrap="square">
            <a:spAutoFit/>
          </a:bodyPr>
          <a:lstStyle/>
          <a:p>
            <a:r>
              <a:rPr sz="1100" b="1" dirty="0">
                <a:solidFill>
                  <a:srgbClr val="00336A"/>
                </a:solidFill>
                <a:latin typeface="Calibri"/>
              </a:rPr>
              <a:t>Obj 2: Authority &amp; Field Badges</a:t>
            </a:r>
            <a:endParaRPr sz="1100" b="1" dirty="0">
              <a:solidFill>
                <a:srgbClr val="00336A"/>
              </a:solidFill>
              <a:latin typeface="Calibri"/>
            </a:endParaRPr>
          </a:p>
          <a:p>
            <a:pPr>
              <a:spcBef>
                <a:spcPts val="400"/>
              </a:spcBef>
            </a:pPr>
            <a:r>
              <a:rPr sz="1300" dirty="0">
                <a:solidFill>
                  <a:srgbClr val="475569"/>
                </a:solidFill>
                <a:latin typeface="Calibri"/>
              </a:rPr>
              <a:t>Cryptographically bind real institutional credentials (Student Index / Staff ID) and display verified departmental badges (CS) and specialization labels (Cryptography) on every faculty response.</a:t>
            </a:r>
            <a:endParaRPr sz="1300" dirty="0">
              <a:solidFill>
                <a:srgbClr val="475569"/>
              </a:solidFill>
              <a:latin typeface="Calibri"/>
            </a:endParaRPr>
          </a:p>
        </p:txBody>
      </p:sp>
      <p:sp>
        <p:nvSpPr>
          <p:cNvPr id="19" name="Rounded Rectangle 18"/>
          <p:cNvSpPr/>
          <p:nvPr/>
        </p:nvSpPr>
        <p:spPr>
          <a:xfrm>
            <a:off x="5010912" y="2423160"/>
            <a:ext cx="2139696" cy="33375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10912" y="2423160"/>
            <a:ext cx="2139696" cy="41148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dirty="0">
                <a:solidFill>
                  <a:srgbClr val="FFFFFF"/>
                </a:solidFill>
                <a:latin typeface="Calibri"/>
              </a:rPr>
              <a:t>SECURE SUB-FEATURE</a:t>
            </a:r>
            <a:endParaRPr sz="1200" b="1" dirty="0">
              <a:solidFill>
                <a:srgbClr val="FFFFFF"/>
              </a:solidFill>
              <a:latin typeface="Calibri"/>
            </a:endParaRPr>
          </a:p>
        </p:txBody>
      </p:sp>
      <p:sp>
        <p:nvSpPr>
          <p:cNvPr id="21" name="TextBox 20"/>
          <p:cNvSpPr txBox="1"/>
          <p:nvPr/>
        </p:nvSpPr>
        <p:spPr>
          <a:xfrm>
            <a:off x="5102351" y="2880360"/>
            <a:ext cx="1956815" cy="2113399"/>
          </a:xfrm>
          <a:prstGeom prst="rect">
            <a:avLst/>
          </a:prstGeom>
          <a:noFill/>
        </p:spPr>
        <p:txBody>
          <a:bodyPr wrap="square">
            <a:spAutoFit/>
          </a:bodyPr>
          <a:lstStyle/>
          <a:p>
            <a:r>
              <a:rPr sz="1100" b="1" dirty="0">
                <a:solidFill>
                  <a:srgbClr val="00336A"/>
                </a:solidFill>
                <a:latin typeface="Calibri"/>
              </a:rPr>
              <a:t>Obj 3: 1-on-1 Encrypted DMs</a:t>
            </a:r>
            <a:endParaRPr sz="1100" b="1" dirty="0">
              <a:solidFill>
                <a:srgbClr val="00336A"/>
              </a:solidFill>
              <a:latin typeface="Calibri"/>
            </a:endParaRPr>
          </a:p>
          <a:p>
            <a:pPr>
              <a:spcBef>
                <a:spcPts val="400"/>
              </a:spcBef>
            </a:pPr>
            <a:r>
              <a:rPr sz="1300" dirty="0">
                <a:solidFill>
                  <a:srgbClr val="475569"/>
                </a:solidFill>
                <a:latin typeface="Calibri"/>
              </a:rPr>
              <a:t>Enable private student-faculty consultation initiated directly from Q&amp;A threads using client-side RSA-OAEP 2048 &amp; AES-GCM 256 encryption, paired with an educational BB84 QKD simulator.</a:t>
            </a:r>
            <a:endParaRPr sz="1300" dirty="0">
              <a:solidFill>
                <a:srgbClr val="475569"/>
              </a:solidFill>
              <a:latin typeface="Calibri"/>
            </a:endParaRPr>
          </a:p>
        </p:txBody>
      </p:sp>
      <p:sp>
        <p:nvSpPr>
          <p:cNvPr id="22" name="Rounded Rectangle 21"/>
          <p:cNvSpPr/>
          <p:nvPr/>
        </p:nvSpPr>
        <p:spPr>
          <a:xfrm>
            <a:off x="7287767" y="2423160"/>
            <a:ext cx="2139696" cy="33375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87767" y="2423160"/>
            <a:ext cx="2139696" cy="41148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dirty="0">
                <a:solidFill>
                  <a:srgbClr val="FFFFFF"/>
                </a:solidFill>
                <a:latin typeface="Calibri"/>
              </a:rPr>
              <a:t>IMMUTABLE TRUST</a:t>
            </a:r>
            <a:endParaRPr sz="1200" b="1" dirty="0">
              <a:solidFill>
                <a:srgbClr val="FFFFFF"/>
              </a:solidFill>
              <a:latin typeface="Calibri"/>
            </a:endParaRPr>
          </a:p>
        </p:txBody>
      </p:sp>
      <p:sp>
        <p:nvSpPr>
          <p:cNvPr id="24" name="TextBox 23"/>
          <p:cNvSpPr txBox="1"/>
          <p:nvPr/>
        </p:nvSpPr>
        <p:spPr>
          <a:xfrm>
            <a:off x="7379207" y="2880360"/>
            <a:ext cx="1956815" cy="2313454"/>
          </a:xfrm>
          <a:prstGeom prst="rect">
            <a:avLst/>
          </a:prstGeom>
          <a:noFill/>
        </p:spPr>
        <p:txBody>
          <a:bodyPr wrap="square">
            <a:spAutoFit/>
          </a:bodyPr>
          <a:lstStyle/>
          <a:p>
            <a:r>
              <a:rPr sz="1100" b="1" dirty="0">
                <a:solidFill>
                  <a:srgbClr val="00336A"/>
                </a:solidFill>
                <a:latin typeface="Calibri"/>
              </a:rPr>
              <a:t>Obj 4: Blockchain Audit Trail</a:t>
            </a:r>
            <a:endParaRPr sz="1100" b="1" dirty="0">
              <a:solidFill>
                <a:srgbClr val="00336A"/>
              </a:solidFill>
              <a:latin typeface="Calibri"/>
            </a:endParaRPr>
          </a:p>
          <a:p>
            <a:pPr>
              <a:spcBef>
                <a:spcPts val="400"/>
              </a:spcBef>
            </a:pPr>
            <a:r>
              <a:rPr sz="1300" dirty="0">
                <a:solidFill>
                  <a:srgbClr val="475569"/>
                </a:solidFill>
                <a:latin typeface="Calibri"/>
              </a:rPr>
              <a:t>Anchor SHA-256 digests of answers and submissions to a permissioned Hyperledger Besu blockchain (QBFT, zero-gas smart contracts) for permanent non-repudiation and dispute resolution.</a:t>
            </a:r>
            <a:endParaRPr sz="1300" dirty="0">
              <a:solidFill>
                <a:srgbClr val="475569"/>
              </a:solidFill>
              <a:latin typeface="Calibri"/>
            </a:endParaRPr>
          </a:p>
        </p:txBody>
      </p:sp>
      <p:sp>
        <p:nvSpPr>
          <p:cNvPr id="25" name="Rounded Rectangle 24"/>
          <p:cNvSpPr/>
          <p:nvPr/>
        </p:nvSpPr>
        <p:spPr>
          <a:xfrm>
            <a:off x="9564624" y="2423160"/>
            <a:ext cx="2139696" cy="33375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64624" y="2423160"/>
            <a:ext cx="2139696" cy="411480"/>
          </a:xfrm>
          <a:prstGeom prst="round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dirty="0">
                <a:solidFill>
                  <a:srgbClr val="FFFFFF"/>
                </a:solidFill>
                <a:latin typeface="Calibri"/>
              </a:rPr>
              <a:t>INSTITUTIONAL CONTROL</a:t>
            </a:r>
            <a:endParaRPr sz="1200" b="1" dirty="0">
              <a:solidFill>
                <a:srgbClr val="FFFFFF"/>
              </a:solidFill>
              <a:latin typeface="Calibri"/>
            </a:endParaRPr>
          </a:p>
        </p:txBody>
      </p:sp>
      <p:sp>
        <p:nvSpPr>
          <p:cNvPr id="27" name="TextBox 26"/>
          <p:cNvSpPr txBox="1"/>
          <p:nvPr/>
        </p:nvSpPr>
        <p:spPr>
          <a:xfrm>
            <a:off x="9656063" y="2880360"/>
            <a:ext cx="1956815" cy="2082621"/>
          </a:xfrm>
          <a:prstGeom prst="rect">
            <a:avLst/>
          </a:prstGeom>
          <a:noFill/>
        </p:spPr>
        <p:txBody>
          <a:bodyPr wrap="square">
            <a:spAutoFit/>
          </a:bodyPr>
          <a:lstStyle/>
          <a:p>
            <a:r>
              <a:rPr sz="1100" b="1" dirty="0">
                <a:solidFill>
                  <a:srgbClr val="00336A"/>
                </a:solidFill>
                <a:latin typeface="Calibri"/>
              </a:rPr>
              <a:t>Obj 5: Admin &amp; Governance Desk</a:t>
            </a:r>
            <a:endParaRPr sz="1100" b="1" dirty="0">
              <a:solidFill>
                <a:srgbClr val="00336A"/>
              </a:solidFill>
              <a:latin typeface="Calibri"/>
            </a:endParaRPr>
          </a:p>
          <a:p>
            <a:pPr>
              <a:spcBef>
                <a:spcPts val="400"/>
              </a:spcBef>
            </a:pPr>
            <a:r>
              <a:rPr sz="1300" dirty="0">
                <a:solidFill>
                  <a:srgbClr val="475569"/>
                </a:solidFill>
                <a:latin typeface="Calibri"/>
              </a:rPr>
              <a:t>Provide administrative tooling for departmental routing, lecturer credential approval, and cryptographic dispute audit verification via real student index/staff queries.</a:t>
            </a:r>
            <a:endParaRPr sz="1300" dirty="0">
              <a:solidFill>
                <a:srgbClr val="475569"/>
              </a:solidFill>
              <a:latin typeface="Calibri"/>
            </a:endParaRPr>
          </a:p>
        </p:txBody>
      </p:sp>
      <p:sp>
        <p:nvSpPr>
          <p:cNvPr id="28" name="Rounded Rectangle 27"/>
          <p:cNvSpPr/>
          <p:nvPr/>
        </p:nvSpPr>
        <p:spPr>
          <a:xfrm>
            <a:off x="457200" y="5897880"/>
            <a:ext cx="11247120" cy="50292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57200" y="5897880"/>
            <a:ext cx="91440" cy="50292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5943600"/>
            <a:ext cx="10972800" cy="338554"/>
          </a:xfrm>
          <a:prstGeom prst="rect">
            <a:avLst/>
          </a:prstGeom>
          <a:noFill/>
        </p:spPr>
        <p:txBody>
          <a:bodyPr wrap="square">
            <a:spAutoFit/>
          </a:bodyPr>
          <a:lstStyle/>
          <a:p>
            <a:pPr algn="l"/>
            <a:r>
              <a:rPr sz="1100" b="1" dirty="0">
                <a:solidFill>
                  <a:srgbClr val="FFC107"/>
                </a:solidFill>
                <a:latin typeface="Calibri"/>
              </a:rPr>
              <a:t>CENTRAL ARCHITECTURAL PRINCIPLE: </a:t>
            </a:r>
            <a:r>
              <a:rPr sz="1100" dirty="0">
                <a:solidFill>
                  <a:srgbClr val="FFFFFF"/>
                </a:solidFill>
                <a:latin typeface="Calibri"/>
              </a:rPr>
              <a:t>"Q&amp;A is the </a:t>
            </a:r>
            <a:r>
              <a:rPr sz="1600" dirty="0">
                <a:solidFill>
                  <a:srgbClr val="FFFFFF"/>
                </a:solidFill>
                <a:latin typeface="Calibri"/>
              </a:rPr>
              <a:t>primary</a:t>
            </a:r>
            <a:r>
              <a:rPr sz="1100" dirty="0">
                <a:solidFill>
                  <a:srgbClr val="FFFFFF"/>
                </a:solidFill>
                <a:latin typeface="Calibri"/>
              </a:rPr>
              <a:t> campus workspace. Direct messaging is a follow-up tool. Blockchain provides the proof."</a:t>
            </a:r>
            <a:endParaRPr sz="1100" dirty="0">
              <a:solidFill>
                <a:srgbClr val="FFFFFF"/>
              </a:solidFill>
              <a:latin typeface="Calibri"/>
            </a:endParaRPr>
          </a:p>
        </p:txBody>
      </p:sp>
      <p:pic>
        <p:nvPicPr>
          <p:cNvPr id="32" name="Picture 31"/>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00336A"/>
                </a:solidFill>
                <a:latin typeface="Calibri"/>
              </a:rPr>
              <a:t>04</a:t>
            </a:r>
            <a:endParaRPr sz="2000" b="1">
              <a:solidFill>
                <a:srgbClr val="00336A"/>
              </a:solidFill>
              <a:latin typeface="Calibri"/>
            </a:endParaRPr>
          </a:p>
        </p:txBody>
      </p:sp>
      <p:sp>
        <p:nvSpPr>
          <p:cNvPr id="6" name="TextBox 5"/>
          <p:cNvSpPr txBox="1"/>
          <p:nvPr/>
        </p:nvSpPr>
        <p:spPr>
          <a:xfrm>
            <a:off x="1325880" y="109728"/>
            <a:ext cx="9601200" cy="822960"/>
          </a:xfrm>
          <a:prstGeom prst="rect">
            <a:avLst/>
          </a:prstGeom>
          <a:noFill/>
        </p:spPr>
        <p:txBody>
          <a:bodyPr wrap="square">
            <a:spAutoFit/>
          </a:bodyPr>
          <a:lstStyle/>
          <a:p>
            <a:r>
              <a:rPr sz="2000" b="1">
                <a:solidFill>
                  <a:srgbClr val="FFFFFF"/>
                </a:solidFill>
                <a:latin typeface="Calibri"/>
              </a:rPr>
              <a:t>Related Work &amp; Platform Comparison</a:t>
            </a:r>
            <a:endParaRPr sz="2000" b="1">
              <a:solidFill>
                <a:srgbClr val="FFFFFF"/>
              </a:solidFill>
              <a:latin typeface="Calibri"/>
            </a:endParaRPr>
          </a:p>
          <a:p>
            <a:r>
              <a:rPr sz="1100" i="1">
                <a:solidFill>
                  <a:srgbClr val="BAE6FD"/>
                </a:solidFill>
                <a:latin typeface="Calibri"/>
              </a:rPr>
              <a:t>Comparative Analysis of Existing Higher Education Communication Channels vs. QCampus Connect</a:t>
            </a:r>
            <a:endParaRPr sz="1100" i="1">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56248"/>
            <a:ext cx="9601200" cy="274320"/>
          </a:xfrm>
          <a:prstGeom prst="rect">
            <a:avLst/>
          </a:prstGeom>
          <a:noFill/>
        </p:spPr>
        <p:txBody>
          <a:bodyPr wrap="none">
            <a:spAutoFit/>
          </a:bodyPr>
          <a:lstStyle/>
          <a:p>
            <a:r>
              <a:rPr sz="850">
                <a:solidFill>
                  <a:srgbClr val="475569"/>
                </a:solidFill>
                <a:latin typeface="Calibri"/>
              </a:rPr>
              <a:t>QCampus Connect | Verified Academic Q&amp;A Forum &amp; Secure Consultation Platform | Case Study: UENR</a:t>
            </a:r>
            <a:endParaRPr sz="850">
              <a:solidFill>
                <a:srgbClr val="475569"/>
              </a:solidFill>
              <a:latin typeface="Calibri"/>
            </a:endParaRPr>
          </a:p>
        </p:txBody>
      </p:sp>
      <p:sp>
        <p:nvSpPr>
          <p:cNvPr id="9" name="TextBox 8"/>
          <p:cNvSpPr txBox="1"/>
          <p:nvPr/>
        </p:nvSpPr>
        <p:spPr>
          <a:xfrm>
            <a:off x="10332720" y="6556248"/>
            <a:ext cx="1463040" cy="274320"/>
          </a:xfrm>
          <a:prstGeom prst="rect">
            <a:avLst/>
          </a:prstGeom>
          <a:noFill/>
        </p:spPr>
        <p:txBody>
          <a:bodyPr wrap="none">
            <a:spAutoFit/>
          </a:bodyPr>
          <a:lstStyle/>
          <a:p>
            <a:pPr algn="r"/>
            <a:r>
              <a:rPr sz="850" b="1">
                <a:solidFill>
                  <a:srgbClr val="00336A"/>
                </a:solidFill>
                <a:latin typeface="Calibri"/>
              </a:rPr>
              <a:t>Slide 04 / 08</a:t>
            </a:r>
            <a:endParaRPr sz="850" b="1">
              <a:solidFill>
                <a:srgbClr val="00336A"/>
              </a:solidFill>
              <a:latin typeface="Calibri"/>
            </a:endParaRPr>
          </a:p>
        </p:txBody>
      </p:sp>
      <p:sp>
        <p:nvSpPr>
          <p:cNvPr id="10" name="Rounded Rectangle 9"/>
          <p:cNvSpPr/>
          <p:nvPr/>
        </p:nvSpPr>
        <p:spPr>
          <a:xfrm>
            <a:off x="457200" y="1234440"/>
            <a:ext cx="5532120" cy="21031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234440"/>
            <a:ext cx="553212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25880"/>
            <a:ext cx="5257800" cy="1615827"/>
          </a:xfrm>
          <a:prstGeom prst="rect">
            <a:avLst/>
          </a:prstGeom>
          <a:noFill/>
        </p:spPr>
        <p:txBody>
          <a:bodyPr wrap="square">
            <a:spAutoFit/>
          </a:bodyPr>
          <a:lstStyle/>
          <a:p>
            <a:r>
              <a:rPr sz="2400" b="1" dirty="0">
                <a:solidFill>
                  <a:srgbClr val="00336A"/>
                </a:solidFill>
                <a:latin typeface="Calibri"/>
              </a:rPr>
              <a:t>WhatsApp / Telegram</a:t>
            </a:r>
            <a:r>
              <a:rPr sz="1400" i="1" dirty="0">
                <a:solidFill>
                  <a:srgbClr val="475569"/>
                </a:solidFill>
                <a:latin typeface="Calibri"/>
              </a:rPr>
              <a:t>  (Consumer Instant Messaging)</a:t>
            </a:r>
            <a:endParaRPr sz="1400" i="1" dirty="0">
              <a:solidFill>
                <a:srgbClr val="475569"/>
              </a:solidFill>
              <a:latin typeface="Calibri"/>
            </a:endParaRPr>
          </a:p>
          <a:p>
            <a:pPr>
              <a:spcBef>
                <a:spcPts val="300"/>
              </a:spcBef>
            </a:pPr>
            <a:r>
              <a:rPr sz="1400" dirty="0">
                <a:solidFill>
                  <a:srgbClr val="1E293B"/>
                </a:solidFill>
                <a:latin typeface="Calibri"/>
              </a:rPr>
              <a:t>• Strengths: Sub-second message delivery; transit encryption (Signal Protocol); ubiquitous adoption.
• Critical Academic Gaps: Unstructured, noisy chat streams; messages easily deleted ('Delete for Everyone'); zero institutional role verification; completely untrusted for formal academic audit.</a:t>
            </a:r>
            <a:endParaRPr sz="1400" dirty="0">
              <a:solidFill>
                <a:srgbClr val="1E293B"/>
              </a:solidFill>
              <a:latin typeface="Calibri"/>
            </a:endParaRPr>
          </a:p>
        </p:txBody>
      </p:sp>
      <p:sp>
        <p:nvSpPr>
          <p:cNvPr id="13" name="Rounded Rectangle 12"/>
          <p:cNvSpPr/>
          <p:nvPr/>
        </p:nvSpPr>
        <p:spPr>
          <a:xfrm>
            <a:off x="6172200" y="1234440"/>
            <a:ext cx="5532120" cy="21031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72200" y="1234440"/>
            <a:ext cx="5532120" cy="54864"/>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325880"/>
            <a:ext cx="5257800" cy="1400383"/>
          </a:xfrm>
          <a:prstGeom prst="rect">
            <a:avLst/>
          </a:prstGeom>
          <a:noFill/>
        </p:spPr>
        <p:txBody>
          <a:bodyPr wrap="square">
            <a:spAutoFit/>
          </a:bodyPr>
          <a:lstStyle/>
          <a:p>
            <a:r>
              <a:rPr sz="2400" b="1" dirty="0">
                <a:solidFill>
                  <a:srgbClr val="00336A"/>
                </a:solidFill>
                <a:latin typeface="Calibri"/>
              </a:rPr>
              <a:t>Reddit / Stack Overflow</a:t>
            </a:r>
            <a:r>
              <a:rPr sz="1400" i="1" dirty="0">
                <a:solidFill>
                  <a:srgbClr val="475569"/>
                </a:solidFill>
                <a:latin typeface="Calibri"/>
              </a:rPr>
              <a:t>  (Public Discussion Forums)</a:t>
            </a:r>
            <a:endParaRPr sz="1400" i="1" dirty="0">
              <a:solidFill>
                <a:srgbClr val="475569"/>
              </a:solidFill>
              <a:latin typeface="Calibri"/>
            </a:endParaRPr>
          </a:p>
          <a:p>
            <a:pPr>
              <a:spcBef>
                <a:spcPts val="300"/>
              </a:spcBef>
            </a:pPr>
            <a:r>
              <a:rPr sz="1400" dirty="0">
                <a:solidFill>
                  <a:srgbClr val="1E293B"/>
                </a:solidFill>
                <a:latin typeface="Calibri"/>
              </a:rPr>
              <a:t>• Strengths: Structured Q&amp;A threading; community voting; topic tags.
• Critical Academic Gaps: Completely detached from university curricula; pseudonymous accounts; upvote karma rewards popularity over academic expertise; posts can be silently edited with no proof.</a:t>
            </a:r>
            <a:endParaRPr sz="1400" dirty="0">
              <a:solidFill>
                <a:srgbClr val="1E293B"/>
              </a:solidFill>
              <a:latin typeface="Calibri"/>
            </a:endParaRPr>
          </a:p>
        </p:txBody>
      </p:sp>
      <p:sp>
        <p:nvSpPr>
          <p:cNvPr id="16" name="Rounded Rectangle 15"/>
          <p:cNvSpPr/>
          <p:nvPr/>
        </p:nvSpPr>
        <p:spPr>
          <a:xfrm>
            <a:off x="457200" y="3474720"/>
            <a:ext cx="5532120" cy="21031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 y="3474720"/>
            <a:ext cx="5532120" cy="54864"/>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566160"/>
            <a:ext cx="5257800" cy="1831271"/>
          </a:xfrm>
          <a:prstGeom prst="rect">
            <a:avLst/>
          </a:prstGeom>
          <a:noFill/>
        </p:spPr>
        <p:txBody>
          <a:bodyPr wrap="square">
            <a:spAutoFit/>
          </a:bodyPr>
          <a:lstStyle/>
          <a:p>
            <a:r>
              <a:rPr sz="2400" b="1" dirty="0">
                <a:solidFill>
                  <a:srgbClr val="00336A"/>
                </a:solidFill>
                <a:latin typeface="Calibri"/>
              </a:rPr>
              <a:t>Canvas / Moodle LMS</a:t>
            </a:r>
            <a:r>
              <a:rPr sz="1400" i="1" dirty="0">
                <a:solidFill>
                  <a:srgbClr val="475569"/>
                </a:solidFill>
                <a:latin typeface="Calibri"/>
              </a:rPr>
              <a:t>  (Coursework Management (VLE))</a:t>
            </a:r>
            <a:endParaRPr sz="1400" i="1" dirty="0">
              <a:solidFill>
                <a:srgbClr val="475569"/>
              </a:solidFill>
              <a:latin typeface="Calibri"/>
            </a:endParaRPr>
          </a:p>
          <a:p>
            <a:pPr>
              <a:spcBef>
                <a:spcPts val="300"/>
              </a:spcBef>
            </a:pPr>
            <a:r>
              <a:rPr sz="1400" dirty="0">
                <a:solidFill>
                  <a:srgbClr val="1E293B"/>
                </a:solidFill>
                <a:latin typeface="Calibri"/>
              </a:rPr>
              <a:t>• Strengths: Assignment submission modules; gradebook tracking; course file hosting.
• Critical Academic Gaps: Static file repositories; lacks real-time interactive peer-faculty discussions; relies on mutable SQL database logs without cryptographic non-repudiation.</a:t>
            </a:r>
            <a:endParaRPr sz="1400" dirty="0">
              <a:solidFill>
                <a:srgbClr val="1E293B"/>
              </a:solidFill>
              <a:latin typeface="Calibri"/>
            </a:endParaRPr>
          </a:p>
        </p:txBody>
      </p:sp>
      <p:sp>
        <p:nvSpPr>
          <p:cNvPr id="19" name="Rounded Rectangle 18"/>
          <p:cNvSpPr/>
          <p:nvPr/>
        </p:nvSpPr>
        <p:spPr>
          <a:xfrm>
            <a:off x="6172200" y="3474720"/>
            <a:ext cx="5532120" cy="21031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72200" y="3474720"/>
            <a:ext cx="5532120" cy="54864"/>
          </a:xfrm>
          <a:prstGeom prst="round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566160"/>
            <a:ext cx="5257800" cy="1831271"/>
          </a:xfrm>
          <a:prstGeom prst="rect">
            <a:avLst/>
          </a:prstGeom>
          <a:noFill/>
        </p:spPr>
        <p:txBody>
          <a:bodyPr wrap="square">
            <a:spAutoFit/>
          </a:bodyPr>
          <a:lstStyle/>
          <a:p>
            <a:r>
              <a:rPr sz="2400" b="1" dirty="0">
                <a:solidFill>
                  <a:srgbClr val="00336A"/>
                </a:solidFill>
                <a:latin typeface="Calibri"/>
              </a:rPr>
              <a:t>Slack / Microsoft Teams</a:t>
            </a:r>
            <a:r>
              <a:rPr sz="1400" i="1" dirty="0">
                <a:solidFill>
                  <a:srgbClr val="475569"/>
                </a:solidFill>
                <a:latin typeface="Calibri"/>
              </a:rPr>
              <a:t>  (Enterprise Team Collaboration)</a:t>
            </a:r>
            <a:endParaRPr sz="1400" i="1" dirty="0">
              <a:solidFill>
                <a:srgbClr val="475569"/>
              </a:solidFill>
              <a:latin typeface="Calibri"/>
            </a:endParaRPr>
          </a:p>
          <a:p>
            <a:pPr>
              <a:spcBef>
                <a:spcPts val="300"/>
              </a:spcBef>
            </a:pPr>
            <a:r>
              <a:rPr sz="1400" dirty="0">
                <a:solidFill>
                  <a:srgbClr val="1E293B"/>
                </a:solidFill>
                <a:latin typeface="Calibri"/>
              </a:rPr>
              <a:t>• Strengths: Organized departmental channels; file sharing; role-based access control.
• Critical Academic Gaps: Expensive licensing; centralized server custody (admins can purge or edit records); no independent client-side encryption or blockchain proof.</a:t>
            </a:r>
            <a:endParaRPr sz="1400" dirty="0">
              <a:solidFill>
                <a:srgbClr val="1E293B"/>
              </a:solidFill>
              <a:latin typeface="Calibri"/>
            </a:endParaRPr>
          </a:p>
        </p:txBody>
      </p:sp>
      <p:sp>
        <p:nvSpPr>
          <p:cNvPr id="22" name="Rounded Rectangle 21"/>
          <p:cNvSpPr/>
          <p:nvPr/>
        </p:nvSpPr>
        <p:spPr>
          <a:xfrm>
            <a:off x="457200" y="5806440"/>
            <a:ext cx="11247120" cy="59436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7200" y="5806440"/>
            <a:ext cx="91440" cy="59436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852159"/>
            <a:ext cx="10972800" cy="492443"/>
          </a:xfrm>
          <a:prstGeom prst="rect">
            <a:avLst/>
          </a:prstGeom>
          <a:noFill/>
        </p:spPr>
        <p:txBody>
          <a:bodyPr wrap="square">
            <a:spAutoFit/>
          </a:bodyPr>
          <a:lstStyle/>
          <a:p>
            <a:pPr algn="l"/>
            <a:r>
              <a:rPr sz="1300" b="1" dirty="0">
                <a:solidFill>
                  <a:srgbClr val="FFC107"/>
                </a:solidFill>
                <a:latin typeface="Calibri"/>
              </a:rPr>
              <a:t>RESEARCH SYNTHESIS: </a:t>
            </a:r>
            <a:r>
              <a:rPr sz="1300" dirty="0" err="1">
                <a:solidFill>
                  <a:srgbClr val="FFFFFF"/>
                </a:solidFill>
                <a:latin typeface="Calibri"/>
              </a:rPr>
              <a:t>QCampus</a:t>
            </a:r>
            <a:r>
              <a:rPr sz="1300" dirty="0">
                <a:solidFill>
                  <a:srgbClr val="FFFFFF"/>
                </a:solidFill>
                <a:latin typeface="Calibri"/>
              </a:rPr>
              <a:t> Connect uniquely unifies: (1) Sub-50ms reactive WebSocket discussion (Convex), (2) Institutional identity &amp; specialization badges, (3) Client-encrypted 1-on-1 consultation (RSA/AES), and (4) Zero-gas immutable blockchain provenance (Hyperledger Besu).</a:t>
            </a:r>
            <a:endParaRPr sz="1300" dirty="0">
              <a:solidFill>
                <a:srgbClr val="FFFFFF"/>
              </a:solidFill>
              <a:latin typeface="Calibri"/>
            </a:endParaRPr>
          </a:p>
        </p:txBody>
      </p:sp>
      <p:pic>
        <p:nvPicPr>
          <p:cNvPr id="26" name="Picture 25"/>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00336A"/>
                </a:solidFill>
                <a:latin typeface="Calibri"/>
              </a:rPr>
              <a:t>05</a:t>
            </a:r>
            <a:endParaRPr sz="2000" b="1">
              <a:solidFill>
                <a:srgbClr val="00336A"/>
              </a:solidFill>
              <a:latin typeface="Calibri"/>
            </a:endParaRPr>
          </a:p>
        </p:txBody>
      </p:sp>
      <p:sp>
        <p:nvSpPr>
          <p:cNvPr id="6" name="TextBox 5"/>
          <p:cNvSpPr txBox="1"/>
          <p:nvPr/>
        </p:nvSpPr>
        <p:spPr>
          <a:xfrm>
            <a:off x="1325880" y="109728"/>
            <a:ext cx="9601200" cy="822960"/>
          </a:xfrm>
          <a:prstGeom prst="rect">
            <a:avLst/>
          </a:prstGeom>
          <a:noFill/>
        </p:spPr>
        <p:txBody>
          <a:bodyPr wrap="square">
            <a:spAutoFit/>
          </a:bodyPr>
          <a:lstStyle/>
          <a:p>
            <a:r>
              <a:rPr sz="2000" b="1">
                <a:solidFill>
                  <a:srgbClr val="FFFFFF"/>
                </a:solidFill>
                <a:latin typeface="Calibri"/>
              </a:rPr>
              <a:t>Methodology &amp; System Architecture</a:t>
            </a:r>
            <a:endParaRPr sz="2000" b="1">
              <a:solidFill>
                <a:srgbClr val="FFFFFF"/>
              </a:solidFill>
              <a:latin typeface="Calibri"/>
            </a:endParaRPr>
          </a:p>
          <a:p>
            <a:r>
              <a:rPr sz="1100" i="1">
                <a:solidFill>
                  <a:srgbClr val="BAE6FD"/>
                </a:solidFill>
                <a:latin typeface="Calibri"/>
              </a:rPr>
              <a:t>Three-Tier Enterprise Architecture: Client-Side WebCrypto, Real-Time Serverless &amp; Blockchain Layer</a:t>
            </a:r>
            <a:endParaRPr sz="1100" i="1">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56248"/>
            <a:ext cx="9601200" cy="274320"/>
          </a:xfrm>
          <a:prstGeom prst="rect">
            <a:avLst/>
          </a:prstGeom>
          <a:noFill/>
        </p:spPr>
        <p:txBody>
          <a:bodyPr wrap="none">
            <a:spAutoFit/>
          </a:bodyPr>
          <a:lstStyle/>
          <a:p>
            <a:r>
              <a:rPr sz="850">
                <a:solidFill>
                  <a:srgbClr val="475569"/>
                </a:solidFill>
                <a:latin typeface="Calibri"/>
              </a:rPr>
              <a:t>QCampus Connect | Verified Academic Q&amp;A Forum &amp; Secure Consultation Platform | Case Study: UENR</a:t>
            </a:r>
            <a:endParaRPr sz="850">
              <a:solidFill>
                <a:srgbClr val="475569"/>
              </a:solidFill>
              <a:latin typeface="Calibri"/>
            </a:endParaRPr>
          </a:p>
        </p:txBody>
      </p:sp>
      <p:sp>
        <p:nvSpPr>
          <p:cNvPr id="9" name="TextBox 8"/>
          <p:cNvSpPr txBox="1"/>
          <p:nvPr/>
        </p:nvSpPr>
        <p:spPr>
          <a:xfrm>
            <a:off x="10332720" y="6556248"/>
            <a:ext cx="1463040" cy="274320"/>
          </a:xfrm>
          <a:prstGeom prst="rect">
            <a:avLst/>
          </a:prstGeom>
          <a:noFill/>
        </p:spPr>
        <p:txBody>
          <a:bodyPr wrap="none">
            <a:spAutoFit/>
          </a:bodyPr>
          <a:lstStyle/>
          <a:p>
            <a:pPr algn="r"/>
            <a:r>
              <a:rPr sz="850" b="1">
                <a:solidFill>
                  <a:srgbClr val="00336A"/>
                </a:solidFill>
                <a:latin typeface="Calibri"/>
              </a:rPr>
              <a:t>Slide 05 / 08</a:t>
            </a:r>
            <a:endParaRPr sz="850" b="1">
              <a:solidFill>
                <a:srgbClr val="00336A"/>
              </a:solidFill>
              <a:latin typeface="Calibri"/>
            </a:endParaRPr>
          </a:p>
        </p:txBody>
      </p:sp>
      <p:sp>
        <p:nvSpPr>
          <p:cNvPr id="10" name="Rounded Rectangle 9"/>
          <p:cNvSpPr/>
          <p:nvPr/>
        </p:nvSpPr>
        <p:spPr>
          <a:xfrm>
            <a:off x="457200" y="1234440"/>
            <a:ext cx="5669280" cy="14173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234440"/>
            <a:ext cx="73152" cy="141732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07592"/>
            <a:ext cx="5440680" cy="1261884"/>
          </a:xfrm>
          <a:prstGeom prst="rect">
            <a:avLst/>
          </a:prstGeom>
          <a:noFill/>
        </p:spPr>
        <p:txBody>
          <a:bodyPr wrap="square">
            <a:spAutoFit/>
          </a:bodyPr>
          <a:lstStyle/>
          <a:p>
            <a:r>
              <a:rPr sz="1100" b="1" dirty="0">
                <a:solidFill>
                  <a:srgbClr val="00336A"/>
                </a:solidFill>
                <a:latin typeface="Calibri"/>
              </a:rPr>
              <a:t>1. PRESENTATION LAYER (Browser — React 19 SPA)</a:t>
            </a:r>
            <a:endParaRPr sz="1100" b="1" dirty="0">
              <a:solidFill>
                <a:srgbClr val="00336A"/>
              </a:solidFill>
              <a:latin typeface="Calibri"/>
            </a:endParaRPr>
          </a:p>
          <a:p>
            <a:pPr>
              <a:spcBef>
                <a:spcPts val="200"/>
              </a:spcBef>
            </a:pPr>
            <a:r>
              <a:rPr sz="1200" dirty="0">
                <a:solidFill>
                  <a:srgbClr val="1E293B"/>
                </a:solidFill>
                <a:latin typeface="Calibri"/>
              </a:rPr>
              <a:t>Tech Stack: React 19 + TypeScript + Vite + Tailwind CSS + Web Crypto API
• Core Modules: Verified Q&amp;A Forum (Primary), Direct Messages (Sub-feature), Admin Audit Desk, BB84 Simulator.
• Security: RSA-OAEP 2048 keypairs &amp; AES-GCM 256 generated locally in browser; private keys stored securely in </a:t>
            </a:r>
            <a:r>
              <a:rPr sz="1200" dirty="0" err="1">
                <a:solidFill>
                  <a:srgbClr val="1E293B"/>
                </a:solidFill>
                <a:latin typeface="Calibri"/>
              </a:rPr>
              <a:t>IndexedDB</a:t>
            </a:r>
            <a:r>
              <a:rPr sz="1200" dirty="0">
                <a:solidFill>
                  <a:srgbClr val="1E293B"/>
                </a:solidFill>
                <a:latin typeface="Calibri"/>
              </a:rPr>
              <a:t>.</a:t>
            </a:r>
            <a:endParaRPr sz="1200" dirty="0">
              <a:solidFill>
                <a:srgbClr val="1E293B"/>
              </a:solidFill>
              <a:latin typeface="Calibri"/>
            </a:endParaRPr>
          </a:p>
        </p:txBody>
      </p:sp>
      <p:sp>
        <p:nvSpPr>
          <p:cNvPr id="13" name="Rounded Rectangle 12"/>
          <p:cNvSpPr/>
          <p:nvPr/>
        </p:nvSpPr>
        <p:spPr>
          <a:xfrm>
            <a:off x="457200" y="2743200"/>
            <a:ext cx="5669280" cy="14173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7200" y="2743200"/>
            <a:ext cx="73152" cy="1417320"/>
          </a:xfrm>
          <a:prstGeom prst="roundRect">
            <a:avLst/>
          </a:prstGeom>
          <a:solidFill>
            <a:srgbClr val="1E9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816352"/>
            <a:ext cx="5440680" cy="1287532"/>
          </a:xfrm>
          <a:prstGeom prst="rect">
            <a:avLst/>
          </a:prstGeom>
          <a:noFill/>
        </p:spPr>
        <p:txBody>
          <a:bodyPr wrap="square">
            <a:spAutoFit/>
          </a:bodyPr>
          <a:lstStyle/>
          <a:p>
            <a:r>
              <a:rPr sz="1100" b="1" dirty="0">
                <a:solidFill>
                  <a:srgbClr val="1E90FF"/>
                </a:solidFill>
                <a:latin typeface="Calibri"/>
              </a:rPr>
              <a:t>2. APPLICATION LAYER (Convex Serverless Platform)</a:t>
            </a:r>
            <a:endParaRPr sz="1100" b="1" dirty="0">
              <a:solidFill>
                <a:srgbClr val="1E90FF"/>
              </a:solidFill>
              <a:latin typeface="Calibri"/>
            </a:endParaRPr>
          </a:p>
          <a:p>
            <a:pPr>
              <a:spcBef>
                <a:spcPts val="200"/>
              </a:spcBef>
            </a:pPr>
            <a:r>
              <a:rPr sz="1200" dirty="0">
                <a:solidFill>
                  <a:srgbClr val="1E293B"/>
                </a:solidFill>
                <a:latin typeface="Calibri"/>
              </a:rPr>
              <a:t>Tech Stack: Convex Serverless Cloud &amp; WebSocket Engine (~50ms Reactive Sync)
• Document Store: users, departments, questions, answers, </a:t>
            </a:r>
            <a:r>
              <a:rPr sz="1200" dirty="0" err="1">
                <a:solidFill>
                  <a:srgbClr val="1E293B"/>
                </a:solidFill>
                <a:latin typeface="Calibri"/>
              </a:rPr>
              <a:t>chatRooms</a:t>
            </a:r>
            <a:r>
              <a:rPr sz="1200" dirty="0">
                <a:solidFill>
                  <a:srgbClr val="1E293B"/>
                </a:solidFill>
                <a:latin typeface="Calibri"/>
              </a:rPr>
              <a:t>, </a:t>
            </a:r>
            <a:r>
              <a:rPr sz="1200" dirty="0" err="1">
                <a:solidFill>
                  <a:srgbClr val="1E293B"/>
                </a:solidFill>
                <a:latin typeface="Calibri"/>
              </a:rPr>
              <a:t>encryptedFiles</a:t>
            </a:r>
            <a:r>
              <a:rPr sz="1200" dirty="0">
                <a:solidFill>
                  <a:srgbClr val="1E293B"/>
                </a:solidFill>
                <a:latin typeface="Calibri"/>
              </a:rPr>
              <a:t>.
• Functions: </a:t>
            </a:r>
            <a:r>
              <a:rPr sz="1200" dirty="0" err="1">
                <a:solidFill>
                  <a:srgbClr val="1E293B"/>
                </a:solidFill>
                <a:latin typeface="Calibri"/>
              </a:rPr>
              <a:t>getQuestions</a:t>
            </a:r>
            <a:r>
              <a:rPr sz="1200" dirty="0">
                <a:solidFill>
                  <a:srgbClr val="1E293B"/>
                </a:solidFill>
                <a:latin typeface="Calibri"/>
              </a:rPr>
              <a:t>, </a:t>
            </a:r>
            <a:r>
              <a:rPr sz="1200" dirty="0" err="1">
                <a:solidFill>
                  <a:srgbClr val="1E293B"/>
                </a:solidFill>
                <a:latin typeface="Calibri"/>
              </a:rPr>
              <a:t>askQuestion</a:t>
            </a:r>
            <a:r>
              <a:rPr sz="1200" dirty="0">
                <a:solidFill>
                  <a:srgbClr val="1E293B"/>
                </a:solidFill>
                <a:latin typeface="Calibri"/>
              </a:rPr>
              <a:t>, </a:t>
            </a:r>
            <a:r>
              <a:rPr sz="1200" dirty="0" err="1">
                <a:solidFill>
                  <a:srgbClr val="1E293B"/>
                </a:solidFill>
                <a:latin typeface="Calibri"/>
              </a:rPr>
              <a:t>addAnswer</a:t>
            </a:r>
            <a:r>
              <a:rPr sz="1200" dirty="0">
                <a:solidFill>
                  <a:srgbClr val="1E293B"/>
                </a:solidFill>
                <a:latin typeface="Calibri"/>
              </a:rPr>
              <a:t>, </a:t>
            </a:r>
            <a:r>
              <a:rPr sz="1200" dirty="0" err="1">
                <a:solidFill>
                  <a:srgbClr val="1E293B"/>
                </a:solidFill>
                <a:latin typeface="Calibri"/>
              </a:rPr>
              <a:t>getOrCreateRoom</a:t>
            </a:r>
            <a:r>
              <a:rPr sz="1200" dirty="0">
                <a:solidFill>
                  <a:srgbClr val="1E293B"/>
                </a:solidFill>
                <a:latin typeface="Calibri"/>
              </a:rPr>
              <a:t>, </a:t>
            </a:r>
            <a:r>
              <a:rPr sz="1200" dirty="0" err="1">
                <a:solidFill>
                  <a:srgbClr val="1E293B"/>
                </a:solidFill>
                <a:latin typeface="Calibri"/>
              </a:rPr>
              <a:t>verifyUser</a:t>
            </a:r>
            <a:r>
              <a:rPr sz="1200" dirty="0">
                <a:solidFill>
                  <a:srgbClr val="1E293B"/>
                </a:solidFill>
                <a:latin typeface="Calibri"/>
              </a:rPr>
              <a:t>.
• Unread count tracking and live UI state synchronization</a:t>
            </a:r>
            <a:r>
              <a:rPr sz="1050" dirty="0">
                <a:solidFill>
                  <a:srgbClr val="1E293B"/>
                </a:solidFill>
                <a:latin typeface="Calibri"/>
              </a:rPr>
              <a:t>.</a:t>
            </a:r>
            <a:endParaRPr sz="1050" dirty="0">
              <a:solidFill>
                <a:srgbClr val="1E293B"/>
              </a:solidFill>
              <a:latin typeface="Calibri"/>
            </a:endParaRPr>
          </a:p>
        </p:txBody>
      </p:sp>
      <p:sp>
        <p:nvSpPr>
          <p:cNvPr id="16" name="Rounded Rectangle 15"/>
          <p:cNvSpPr/>
          <p:nvPr/>
        </p:nvSpPr>
        <p:spPr>
          <a:xfrm>
            <a:off x="457200" y="4251960"/>
            <a:ext cx="5669280" cy="14173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 y="4251960"/>
            <a:ext cx="73152" cy="1417320"/>
          </a:xfrm>
          <a:prstGeom prst="roundRect">
            <a:avLst/>
          </a:prstGeom>
          <a:solidFill>
            <a:srgbClr val="0050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296537"/>
            <a:ext cx="5440680" cy="1461939"/>
          </a:xfrm>
          <a:prstGeom prst="rect">
            <a:avLst/>
          </a:prstGeom>
          <a:noFill/>
        </p:spPr>
        <p:txBody>
          <a:bodyPr wrap="square">
            <a:spAutoFit/>
          </a:bodyPr>
          <a:lstStyle/>
          <a:p>
            <a:r>
              <a:rPr sz="1100" b="1" dirty="0">
                <a:solidFill>
                  <a:srgbClr val="00509E"/>
                </a:solidFill>
                <a:latin typeface="Calibri"/>
              </a:rPr>
              <a:t>3. VERIFICATION LAYER (Hyperledger Besu + Solidity)</a:t>
            </a:r>
            <a:endParaRPr sz="1100" b="1" dirty="0">
              <a:solidFill>
                <a:srgbClr val="00509E"/>
              </a:solidFill>
              <a:latin typeface="Calibri"/>
            </a:endParaRPr>
          </a:p>
          <a:p>
            <a:pPr>
              <a:spcBef>
                <a:spcPts val="200"/>
              </a:spcBef>
            </a:pPr>
            <a:r>
              <a:rPr sz="1200" dirty="0">
                <a:solidFill>
                  <a:srgbClr val="1E293B"/>
                </a:solidFill>
                <a:latin typeface="Calibri"/>
              </a:rPr>
              <a:t>Tech Stack: Hyperledger Besu Private Ethereum Network (QBFT Consensus, </a:t>
            </a:r>
            <a:r>
              <a:rPr sz="1200" dirty="0" err="1">
                <a:solidFill>
                  <a:srgbClr val="1E293B"/>
                </a:solidFill>
                <a:latin typeface="Calibri"/>
              </a:rPr>
              <a:t>ChainId</a:t>
            </a:r>
            <a:r>
              <a:rPr sz="1200" dirty="0">
                <a:solidFill>
                  <a:srgbClr val="1E293B"/>
                </a:solidFill>
                <a:latin typeface="Calibri"/>
              </a:rPr>
              <a:t> 1337, Zero Gas)
• Smart Contract: </a:t>
            </a:r>
            <a:r>
              <a:rPr sz="1200" dirty="0" err="1">
                <a:solidFill>
                  <a:srgbClr val="1E293B"/>
                </a:solidFill>
                <a:latin typeface="Calibri"/>
              </a:rPr>
              <a:t>MessageVerifier.sol</a:t>
            </a:r>
            <a:r>
              <a:rPr sz="1200" dirty="0">
                <a:solidFill>
                  <a:srgbClr val="1E293B"/>
                </a:solidFill>
                <a:latin typeface="Calibri"/>
              </a:rPr>
              <a:t> (</a:t>
            </a:r>
            <a:r>
              <a:rPr sz="1200" dirty="0" err="1">
                <a:solidFill>
                  <a:srgbClr val="1E293B"/>
                </a:solidFill>
                <a:latin typeface="Calibri"/>
              </a:rPr>
              <a:t>recordHash</a:t>
            </a:r>
            <a:r>
              <a:rPr sz="1200" dirty="0">
                <a:solidFill>
                  <a:srgbClr val="1E293B"/>
                </a:solidFill>
                <a:latin typeface="Calibri"/>
              </a:rPr>
              <a:t>, </a:t>
            </a:r>
            <a:r>
              <a:rPr sz="1200" dirty="0" err="1">
                <a:solidFill>
                  <a:srgbClr val="1E293B"/>
                </a:solidFill>
                <a:latin typeface="Calibri"/>
              </a:rPr>
              <a:t>verifyUserWithIndex</a:t>
            </a:r>
            <a:r>
              <a:rPr sz="1200" dirty="0">
                <a:solidFill>
                  <a:srgbClr val="1E293B"/>
                </a:solidFill>
                <a:latin typeface="Calibri"/>
              </a:rPr>
              <a:t>, </a:t>
            </a:r>
            <a:r>
              <a:rPr sz="1200" dirty="0" err="1">
                <a:solidFill>
                  <a:srgbClr val="1E293B"/>
                </a:solidFill>
                <a:latin typeface="Calibri"/>
              </a:rPr>
              <a:t>verifyUserWithStaffId</a:t>
            </a:r>
            <a:r>
              <a:rPr sz="1200" dirty="0">
                <a:solidFill>
                  <a:srgbClr val="1E293B"/>
                </a:solidFill>
                <a:latin typeface="Calibri"/>
              </a:rPr>
              <a:t>).
• Audit Trail: Asynchronous SHA-256 digest anchoring (~0.3-0.5s block write) for non-repudiation.</a:t>
            </a:r>
            <a:endParaRPr sz="1200" dirty="0">
              <a:solidFill>
                <a:srgbClr val="1E293B"/>
              </a:solidFill>
              <a:latin typeface="Calibri"/>
            </a:endParaRPr>
          </a:p>
        </p:txBody>
      </p:sp>
      <p:sp>
        <p:nvSpPr>
          <p:cNvPr id="19" name="Rounded Rectangle 18"/>
          <p:cNvSpPr/>
          <p:nvPr/>
        </p:nvSpPr>
        <p:spPr>
          <a:xfrm>
            <a:off x="6309360" y="1234440"/>
            <a:ext cx="5394960" cy="4434840"/>
          </a:xfrm>
          <a:prstGeom prst="roundRect">
            <a:avLst/>
          </a:prstGeom>
          <a:solidFill>
            <a:srgbClr val="EEF4FA"/>
          </a:solidFill>
          <a:ln w="19050">
            <a:solidFill>
              <a:srgbClr val="1E90FF"/>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92240" y="1371600"/>
            <a:ext cx="5029200" cy="41148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dirty="0">
                <a:solidFill>
                  <a:srgbClr val="FFFFFF"/>
                </a:solidFill>
                <a:latin typeface="Calibri"/>
              </a:rPr>
              <a:t>  THREE-TIER SYSTEM ARCHITECTURE &amp; CRYPTO FLOW</a:t>
            </a:r>
            <a:endParaRPr sz="1200" b="1" dirty="0">
              <a:solidFill>
                <a:srgbClr val="FFFFFF"/>
              </a:solidFill>
              <a:latin typeface="Calibri"/>
            </a:endParaRPr>
          </a:p>
        </p:txBody>
      </p:sp>
      <p:sp>
        <p:nvSpPr>
          <p:cNvPr id="21" name="TextBox 20"/>
          <p:cNvSpPr txBox="1"/>
          <p:nvPr/>
        </p:nvSpPr>
        <p:spPr>
          <a:xfrm>
            <a:off x="6537960" y="1828800"/>
            <a:ext cx="4937760" cy="2995692"/>
          </a:xfrm>
          <a:prstGeom prst="rect">
            <a:avLst/>
          </a:prstGeom>
          <a:noFill/>
        </p:spPr>
        <p:txBody>
          <a:bodyPr wrap="square">
            <a:spAutoFit/>
          </a:bodyPr>
          <a:lstStyle/>
          <a:p>
            <a:pPr algn="ctr"/>
            <a:r>
              <a:rPr sz="1600" b="1" i="1" dirty="0">
                <a:solidFill>
                  <a:srgbClr val="00509E"/>
                </a:solidFill>
                <a:latin typeface="Calibri"/>
              </a:rPr>
              <a:t>End-to-End Reactive </a:t>
            </a:r>
            <a:r>
              <a:rPr sz="1600" b="1" i="1" dirty="0" err="1">
                <a:solidFill>
                  <a:srgbClr val="00509E"/>
                </a:solidFill>
                <a:latin typeface="Calibri"/>
              </a:rPr>
              <a:t>WebSockets</a:t>
            </a:r>
            <a:r>
              <a:rPr sz="1600" b="1" i="1" dirty="0">
                <a:solidFill>
                  <a:srgbClr val="00509E"/>
                </a:solidFill>
                <a:latin typeface="Calibri"/>
              </a:rPr>
              <a:t> &amp; Asynchronous Besu Blockchain Anchoring</a:t>
            </a:r>
            <a:endParaRPr sz="1600" b="1" i="1" dirty="0">
              <a:solidFill>
                <a:srgbClr val="00509E"/>
              </a:solidFill>
              <a:latin typeface="Calibri"/>
            </a:endParaRPr>
          </a:p>
          <a:p>
            <a:pPr>
              <a:spcBef>
                <a:spcPts val="400"/>
              </a:spcBef>
            </a:pPr>
            <a:r>
              <a:rPr sz="1400" dirty="0">
                <a:solidFill>
                  <a:srgbClr val="1E293B"/>
                </a:solidFill>
                <a:latin typeface="Calibri"/>
              </a:rPr>
              <a:t>• User Browser: Web Crypto API generates RSA-2048 &amp; AES-256 keys locally. Private key saved to </a:t>
            </a:r>
            <a:r>
              <a:rPr sz="1400" dirty="0" err="1">
                <a:solidFill>
                  <a:srgbClr val="1E293B"/>
                </a:solidFill>
                <a:latin typeface="Calibri"/>
              </a:rPr>
              <a:t>IndexedDB</a:t>
            </a:r>
            <a:r>
              <a:rPr sz="1400" dirty="0">
                <a:solidFill>
                  <a:srgbClr val="1E293B"/>
                </a:solidFill>
                <a:latin typeface="Calibri"/>
              </a:rPr>
              <a:t>.</a:t>
            </a:r>
            <a:endParaRPr sz="1400" dirty="0">
              <a:solidFill>
                <a:srgbClr val="1E293B"/>
              </a:solidFill>
              <a:latin typeface="Calibri"/>
            </a:endParaRPr>
          </a:p>
          <a:p>
            <a:pPr>
              <a:spcBef>
                <a:spcPts val="400"/>
              </a:spcBef>
            </a:pPr>
            <a:r>
              <a:rPr sz="1400" dirty="0">
                <a:solidFill>
                  <a:srgbClr val="1E293B"/>
                </a:solidFill>
                <a:latin typeface="Calibri"/>
              </a:rPr>
              <a:t>• Convex Serverless: Real-time </a:t>
            </a:r>
            <a:r>
              <a:rPr sz="1400" dirty="0" err="1">
                <a:solidFill>
                  <a:srgbClr val="1E293B"/>
                </a:solidFill>
                <a:latin typeface="Calibri"/>
              </a:rPr>
              <a:t>WebSockets</a:t>
            </a:r>
            <a:r>
              <a:rPr sz="1400" dirty="0">
                <a:solidFill>
                  <a:srgbClr val="1E293B"/>
                </a:solidFill>
                <a:latin typeface="Calibri"/>
              </a:rPr>
              <a:t> sync questions and answers to all active clients in &lt;50ms.</a:t>
            </a:r>
            <a:endParaRPr sz="1400" dirty="0">
              <a:solidFill>
                <a:srgbClr val="1E293B"/>
              </a:solidFill>
              <a:latin typeface="Calibri"/>
            </a:endParaRPr>
          </a:p>
          <a:p>
            <a:pPr>
              <a:spcBef>
                <a:spcPts val="400"/>
              </a:spcBef>
            </a:pPr>
            <a:r>
              <a:rPr sz="1400" dirty="0">
                <a:solidFill>
                  <a:srgbClr val="1E293B"/>
                </a:solidFill>
                <a:latin typeface="Calibri"/>
              </a:rPr>
              <a:t>• Besu Blockchain: Asynchronous background worker commits SHA-256 hash digests to </a:t>
            </a:r>
            <a:r>
              <a:rPr sz="1400" dirty="0" err="1">
                <a:solidFill>
                  <a:srgbClr val="1E293B"/>
                </a:solidFill>
                <a:latin typeface="Calibri"/>
              </a:rPr>
              <a:t>MessageVerifier.sol</a:t>
            </a:r>
            <a:r>
              <a:rPr sz="1400" dirty="0">
                <a:solidFill>
                  <a:srgbClr val="1E293B"/>
                </a:solidFill>
                <a:latin typeface="Calibri"/>
              </a:rPr>
              <a:t>.</a:t>
            </a:r>
            <a:endParaRPr sz="1400" dirty="0">
              <a:solidFill>
                <a:srgbClr val="1E293B"/>
              </a:solidFill>
              <a:latin typeface="Calibri"/>
            </a:endParaRPr>
          </a:p>
          <a:p>
            <a:pPr>
              <a:spcBef>
                <a:spcPts val="400"/>
              </a:spcBef>
            </a:pPr>
            <a:r>
              <a:rPr sz="1400" dirty="0">
                <a:solidFill>
                  <a:srgbClr val="1E293B"/>
                </a:solidFill>
                <a:latin typeface="Calibri"/>
              </a:rPr>
              <a:t>• Admin Audit Desk: Independent verifier queries smart contract to prove authenticity without trusting server.</a:t>
            </a:r>
            <a:endParaRPr sz="1400" dirty="0">
              <a:solidFill>
                <a:srgbClr val="1E293B"/>
              </a:solidFill>
              <a:latin typeface="Calibri"/>
            </a:endParaRPr>
          </a:p>
          <a:p>
            <a:pPr>
              <a:spcBef>
                <a:spcPts val="400"/>
              </a:spcBef>
            </a:pPr>
            <a:r>
              <a:rPr sz="1400" dirty="0">
                <a:solidFill>
                  <a:srgbClr val="1E293B"/>
                </a:solidFill>
                <a:latin typeface="Calibri"/>
              </a:rPr>
              <a:t>• Zero Gas Fees: QBFT consensus on private Besu network eliminates all transaction costs for university.</a:t>
            </a:r>
            <a:endParaRPr sz="1400" dirty="0">
              <a:solidFill>
                <a:srgbClr val="1E293B"/>
              </a:solidFill>
              <a:latin typeface="Calibri"/>
            </a:endParaRPr>
          </a:p>
        </p:txBody>
      </p:sp>
      <p:sp>
        <p:nvSpPr>
          <p:cNvPr id="22" name="Rounded Rectangle 21"/>
          <p:cNvSpPr/>
          <p:nvPr/>
        </p:nvSpPr>
        <p:spPr>
          <a:xfrm>
            <a:off x="457200" y="5806440"/>
            <a:ext cx="11247120" cy="59436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7200" y="5806440"/>
            <a:ext cx="91440" cy="59436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852159"/>
            <a:ext cx="10972800" cy="461665"/>
          </a:xfrm>
          <a:prstGeom prst="rect">
            <a:avLst/>
          </a:prstGeom>
          <a:noFill/>
        </p:spPr>
        <p:txBody>
          <a:bodyPr wrap="square">
            <a:spAutoFit/>
          </a:bodyPr>
          <a:lstStyle/>
          <a:p>
            <a:pPr algn="l"/>
            <a:r>
              <a:rPr sz="1200" b="1" dirty="0">
                <a:solidFill>
                  <a:srgbClr val="FFC107"/>
                </a:solidFill>
                <a:latin typeface="Calibri"/>
              </a:rPr>
              <a:t>ARCHITECTURAL INSIGHT: </a:t>
            </a:r>
            <a:r>
              <a:rPr sz="1200" dirty="0">
                <a:solidFill>
                  <a:srgbClr val="FFFFFF"/>
                </a:solidFill>
                <a:latin typeface="Calibri"/>
              </a:rPr>
              <a:t>Users experience ~50ms instant messaging via Convex </a:t>
            </a:r>
            <a:r>
              <a:rPr sz="1200" dirty="0" err="1">
                <a:solidFill>
                  <a:srgbClr val="FFFFFF"/>
                </a:solidFill>
                <a:latin typeface="Calibri"/>
              </a:rPr>
              <a:t>WebSockets</a:t>
            </a:r>
            <a:r>
              <a:rPr sz="1200" dirty="0">
                <a:solidFill>
                  <a:srgbClr val="FFFFFF"/>
                </a:solidFill>
                <a:latin typeface="Calibri"/>
              </a:rPr>
              <a:t>, while blockchain audit logging occurs asynchronously in the background (~0.3-0.5s) without blocking the UI or charging gas fees.</a:t>
            </a:r>
            <a:endParaRPr sz="1200" dirty="0">
              <a:solidFill>
                <a:srgbClr val="FFFFFF"/>
              </a:solidFill>
              <a:latin typeface="Calibri"/>
            </a:endParaRPr>
          </a:p>
        </p:txBody>
      </p:sp>
      <p:pic>
        <p:nvPicPr>
          <p:cNvPr id="26" name="Picture 25"/>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00336A"/>
                </a:solidFill>
                <a:latin typeface="Calibri"/>
              </a:rPr>
              <a:t>06</a:t>
            </a:r>
            <a:endParaRPr sz="2000" b="1">
              <a:solidFill>
                <a:srgbClr val="00336A"/>
              </a:solidFill>
              <a:latin typeface="Calibri"/>
            </a:endParaRPr>
          </a:p>
        </p:txBody>
      </p:sp>
      <p:sp>
        <p:nvSpPr>
          <p:cNvPr id="6" name="TextBox 5"/>
          <p:cNvSpPr txBox="1"/>
          <p:nvPr/>
        </p:nvSpPr>
        <p:spPr>
          <a:xfrm>
            <a:off x="1325880" y="109728"/>
            <a:ext cx="9601200" cy="822960"/>
          </a:xfrm>
          <a:prstGeom prst="rect">
            <a:avLst/>
          </a:prstGeom>
          <a:noFill/>
        </p:spPr>
        <p:txBody>
          <a:bodyPr wrap="square">
            <a:spAutoFit/>
          </a:bodyPr>
          <a:lstStyle/>
          <a:p>
            <a:r>
              <a:rPr sz="2000" b="1">
                <a:solidFill>
                  <a:srgbClr val="FFFFFF"/>
                </a:solidFill>
                <a:latin typeface="Calibri"/>
              </a:rPr>
              <a:t>Academic Q&amp;A &amp; Real-World Identity Workflow</a:t>
            </a:r>
            <a:endParaRPr sz="2000" b="1">
              <a:solidFill>
                <a:srgbClr val="FFFFFF"/>
              </a:solidFill>
              <a:latin typeface="Calibri"/>
            </a:endParaRPr>
          </a:p>
          <a:p>
            <a:r>
              <a:rPr sz="1100" i="1">
                <a:solidFill>
                  <a:srgbClr val="BAE6FD"/>
                </a:solidFill>
                <a:latin typeface="Calibri"/>
              </a:rPr>
              <a:t>End-to-End Six-Step Cryptographic Verification &amp; Consultation Lifecycle (From Forum Question to Audit Proof)</a:t>
            </a:r>
            <a:endParaRPr sz="1100" i="1">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56248"/>
            <a:ext cx="9601200" cy="274320"/>
          </a:xfrm>
          <a:prstGeom prst="rect">
            <a:avLst/>
          </a:prstGeom>
          <a:noFill/>
        </p:spPr>
        <p:txBody>
          <a:bodyPr wrap="none">
            <a:spAutoFit/>
          </a:bodyPr>
          <a:lstStyle/>
          <a:p>
            <a:r>
              <a:rPr sz="850">
                <a:solidFill>
                  <a:srgbClr val="475569"/>
                </a:solidFill>
                <a:latin typeface="Calibri"/>
              </a:rPr>
              <a:t>QCampus Connect | Verified Academic Q&amp;A Forum &amp; Secure Consultation Platform | Case Study: UENR</a:t>
            </a:r>
            <a:endParaRPr sz="850">
              <a:solidFill>
                <a:srgbClr val="475569"/>
              </a:solidFill>
              <a:latin typeface="Calibri"/>
            </a:endParaRPr>
          </a:p>
        </p:txBody>
      </p:sp>
      <p:sp>
        <p:nvSpPr>
          <p:cNvPr id="9" name="TextBox 8"/>
          <p:cNvSpPr txBox="1"/>
          <p:nvPr/>
        </p:nvSpPr>
        <p:spPr>
          <a:xfrm>
            <a:off x="10332720" y="6556248"/>
            <a:ext cx="1463040" cy="274320"/>
          </a:xfrm>
          <a:prstGeom prst="rect">
            <a:avLst/>
          </a:prstGeom>
          <a:noFill/>
        </p:spPr>
        <p:txBody>
          <a:bodyPr wrap="none">
            <a:spAutoFit/>
          </a:bodyPr>
          <a:lstStyle/>
          <a:p>
            <a:pPr algn="r"/>
            <a:r>
              <a:rPr sz="850" b="1">
                <a:solidFill>
                  <a:srgbClr val="00336A"/>
                </a:solidFill>
                <a:latin typeface="Calibri"/>
              </a:rPr>
              <a:t>Slide 06 / 08</a:t>
            </a:r>
            <a:endParaRPr sz="850" b="1">
              <a:solidFill>
                <a:srgbClr val="00336A"/>
              </a:solidFill>
              <a:latin typeface="Calibri"/>
            </a:endParaRPr>
          </a:p>
        </p:txBody>
      </p:sp>
      <p:sp>
        <p:nvSpPr>
          <p:cNvPr id="10" name="Rounded Rectangle 9"/>
          <p:cNvSpPr/>
          <p:nvPr/>
        </p:nvSpPr>
        <p:spPr>
          <a:xfrm>
            <a:off x="457200" y="1234440"/>
            <a:ext cx="5669280" cy="44348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280160"/>
            <a:ext cx="5394960" cy="4154984"/>
          </a:xfrm>
          <a:prstGeom prst="rect">
            <a:avLst/>
          </a:prstGeom>
          <a:noFill/>
        </p:spPr>
        <p:txBody>
          <a:bodyPr wrap="square">
            <a:spAutoFit/>
          </a:bodyPr>
          <a:lstStyle/>
          <a:p>
            <a:r>
              <a:rPr sz="1200" b="1" dirty="0">
                <a:solidFill>
                  <a:srgbClr val="00336A"/>
                </a:solidFill>
                <a:latin typeface="Calibri"/>
              </a:rPr>
              <a:t>🔄 </a:t>
            </a:r>
            <a:r>
              <a:rPr sz="1600" b="1" dirty="0">
                <a:solidFill>
                  <a:srgbClr val="00336A"/>
                </a:solidFill>
                <a:latin typeface="Calibri"/>
              </a:rPr>
              <a:t>Six-Step End-to-End Verification Lifecycle</a:t>
            </a:r>
            <a:endParaRPr sz="1600" b="1" dirty="0">
              <a:solidFill>
                <a:srgbClr val="00336A"/>
              </a:solidFill>
              <a:latin typeface="Calibri"/>
            </a:endParaRPr>
          </a:p>
          <a:p>
            <a:pPr>
              <a:spcBef>
                <a:spcPts val="400"/>
              </a:spcBef>
            </a:pPr>
            <a:r>
              <a:rPr sz="1400" b="1" dirty="0">
                <a:solidFill>
                  <a:srgbClr val="1E293B"/>
                </a:solidFill>
                <a:latin typeface="Calibri"/>
              </a:rPr>
              <a:t>• Step 1: Question Posting &amp; Department Classification: </a:t>
            </a:r>
            <a:r>
              <a:rPr sz="1200" dirty="0">
                <a:solidFill>
                  <a:srgbClr val="475569"/>
                </a:solidFill>
                <a:latin typeface="Calibri"/>
              </a:rPr>
              <a:t>Student posts question categorized by Department (e.g. Computer Science) and Topic tag (e.g. Cryptography). Thread is indexed publicly for all peers to study.</a:t>
            </a:r>
            <a:endParaRPr sz="1200" dirty="0">
              <a:solidFill>
                <a:srgbClr val="475569"/>
              </a:solidFill>
              <a:latin typeface="Calibri"/>
            </a:endParaRPr>
          </a:p>
          <a:p>
            <a:pPr>
              <a:spcBef>
                <a:spcPts val="400"/>
              </a:spcBef>
            </a:pPr>
            <a:r>
              <a:rPr sz="1400" b="1" dirty="0">
                <a:solidFill>
                  <a:srgbClr val="1E293B"/>
                </a:solidFill>
                <a:latin typeface="Calibri"/>
              </a:rPr>
              <a:t>• Step 2: Faculty Answer &amp; Cryptographic Badge Binding: </a:t>
            </a:r>
            <a:r>
              <a:rPr sz="1200" dirty="0">
                <a:solidFill>
                  <a:srgbClr val="475569"/>
                </a:solidFill>
                <a:latin typeface="Calibri"/>
              </a:rPr>
              <a:t>Verified faculty member answers; system automatically validates credentials and renders badges: 🏛️ Computer Science &amp; 📚 Cryptography, proving expert authority.</a:t>
            </a:r>
            <a:endParaRPr sz="1200" dirty="0">
              <a:solidFill>
                <a:srgbClr val="475569"/>
              </a:solidFill>
              <a:latin typeface="Calibri"/>
            </a:endParaRPr>
          </a:p>
          <a:p>
            <a:pPr>
              <a:spcBef>
                <a:spcPts val="400"/>
              </a:spcBef>
            </a:pPr>
            <a:r>
              <a:rPr sz="1400" b="1" dirty="0">
                <a:solidFill>
                  <a:srgbClr val="1E293B"/>
                </a:solidFill>
                <a:latin typeface="Calibri"/>
              </a:rPr>
              <a:t>• Step 3: 1-on-1 Private Consultation Trigger: </a:t>
            </a:r>
            <a:r>
              <a:rPr sz="1200" dirty="0">
                <a:solidFill>
                  <a:srgbClr val="475569"/>
                </a:solidFill>
                <a:latin typeface="Calibri"/>
              </a:rPr>
              <a:t>If deeper private assistance is required, the student clicks '💬 Message' directly on the faculty's answer to launch an end-to-end encrypted direct chat session.</a:t>
            </a:r>
            <a:endParaRPr sz="1200" dirty="0">
              <a:solidFill>
                <a:srgbClr val="475569"/>
              </a:solidFill>
              <a:latin typeface="Calibri"/>
            </a:endParaRPr>
          </a:p>
          <a:p>
            <a:pPr>
              <a:spcBef>
                <a:spcPts val="400"/>
              </a:spcBef>
            </a:pPr>
            <a:r>
              <a:rPr sz="1400" b="1" dirty="0">
                <a:solidFill>
                  <a:srgbClr val="1E293B"/>
                </a:solidFill>
                <a:latin typeface="Calibri"/>
              </a:rPr>
              <a:t>• Step 4: Asynchronous Blockchain Hash Anchoring: </a:t>
            </a:r>
            <a:r>
              <a:rPr sz="1200" dirty="0">
                <a:solidFill>
                  <a:srgbClr val="475569"/>
                </a:solidFill>
                <a:latin typeface="Calibri"/>
              </a:rPr>
              <a:t>System computes SHA-256 digest of question, answer, or assignment submission and registers it on Hyperledger Besu (</a:t>
            </a:r>
            <a:r>
              <a:rPr sz="1200" dirty="0" err="1">
                <a:solidFill>
                  <a:srgbClr val="475569"/>
                </a:solidFill>
                <a:latin typeface="Calibri"/>
              </a:rPr>
              <a:t>MessageVerifier.sol</a:t>
            </a:r>
            <a:r>
              <a:rPr sz="1200" dirty="0">
                <a:solidFill>
                  <a:srgbClr val="475569"/>
                </a:solidFill>
                <a:latin typeface="Calibri"/>
              </a:rPr>
              <a:t>) with block timestamp.</a:t>
            </a:r>
            <a:endParaRPr sz="1200" dirty="0">
              <a:solidFill>
                <a:srgbClr val="475569"/>
              </a:solidFill>
              <a:latin typeface="Calibri"/>
            </a:endParaRPr>
          </a:p>
          <a:p>
            <a:pPr>
              <a:spcBef>
                <a:spcPts val="400"/>
              </a:spcBef>
            </a:pPr>
            <a:r>
              <a:rPr sz="1400" b="1" dirty="0">
                <a:solidFill>
                  <a:srgbClr val="1E293B"/>
                </a:solidFill>
                <a:latin typeface="Calibri"/>
              </a:rPr>
              <a:t>• Step 5: Admin Identifier Search (Audit Desk): </a:t>
            </a:r>
            <a:r>
              <a:rPr sz="1200" dirty="0">
                <a:solidFill>
                  <a:srgbClr val="475569"/>
                </a:solidFill>
                <a:latin typeface="Calibri"/>
              </a:rPr>
              <a:t>Admin or examiner searches student by real institutional credential (Index: UEB3509022 / Email: osei@uenr.edu.gh / Staff: PS001) in the Admin Audit Desk.</a:t>
            </a:r>
            <a:endParaRPr sz="1200" dirty="0">
              <a:solidFill>
                <a:srgbClr val="475569"/>
              </a:solidFill>
              <a:latin typeface="Calibri"/>
            </a:endParaRPr>
          </a:p>
          <a:p>
            <a:pPr>
              <a:spcBef>
                <a:spcPts val="400"/>
              </a:spcBef>
            </a:pPr>
            <a:r>
              <a:rPr sz="1400" b="1" dirty="0">
                <a:solidFill>
                  <a:srgbClr val="1E293B"/>
                </a:solidFill>
                <a:latin typeface="Calibri"/>
              </a:rPr>
              <a:t>• Step 6: Certified Verdict &amp; Non-Repudiation Report: </a:t>
            </a:r>
            <a:r>
              <a:rPr sz="1200" dirty="0">
                <a:solidFill>
                  <a:srgbClr val="475569"/>
                </a:solidFill>
                <a:latin typeface="Calibri"/>
              </a:rPr>
              <a:t>System compares live database digest against immutable Besu block timestamp, displaying instant verdict: '✅ Authentic Submission' with permanent </a:t>
            </a:r>
            <a:r>
              <a:rPr sz="1200" dirty="0" err="1">
                <a:solidFill>
                  <a:srgbClr val="475569"/>
                </a:solidFill>
                <a:latin typeface="Calibri"/>
              </a:rPr>
              <a:t>tx</a:t>
            </a:r>
            <a:r>
              <a:rPr sz="1200" dirty="0">
                <a:solidFill>
                  <a:srgbClr val="475569"/>
                </a:solidFill>
                <a:latin typeface="Calibri"/>
              </a:rPr>
              <a:t> hash.</a:t>
            </a:r>
            <a:endParaRPr sz="1200" dirty="0">
              <a:solidFill>
                <a:srgbClr val="475569"/>
              </a:solidFill>
              <a:latin typeface="Calibri"/>
            </a:endParaRPr>
          </a:p>
        </p:txBody>
      </p:sp>
      <p:sp>
        <p:nvSpPr>
          <p:cNvPr id="12" name="Rounded Rectangle 11"/>
          <p:cNvSpPr/>
          <p:nvPr/>
        </p:nvSpPr>
        <p:spPr>
          <a:xfrm>
            <a:off x="6309360" y="1234440"/>
            <a:ext cx="5394960" cy="4434840"/>
          </a:xfrm>
          <a:prstGeom prst="roundRect">
            <a:avLst/>
          </a:prstGeom>
          <a:solidFill>
            <a:srgbClr val="EEF4FA"/>
          </a:solidFill>
          <a:ln w="19050">
            <a:solidFill>
              <a:srgbClr val="1E90FF"/>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371600"/>
            <a:ext cx="5029200" cy="41148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dirty="0">
                <a:solidFill>
                  <a:srgbClr val="FFFFFF"/>
                </a:solidFill>
                <a:latin typeface="Calibri"/>
              </a:rPr>
              <a:t>📸  ADMIN AUDIT DESK &amp; VERIFICATION PROOF MODAL</a:t>
            </a:r>
            <a:endParaRPr sz="1200" b="1" dirty="0">
              <a:solidFill>
                <a:srgbClr val="FFFFFF"/>
              </a:solidFill>
              <a:latin typeface="Calibri"/>
            </a:endParaRPr>
          </a:p>
        </p:txBody>
      </p:sp>
      <p:sp>
        <p:nvSpPr>
          <p:cNvPr id="14" name="TextBox 13"/>
          <p:cNvSpPr txBox="1"/>
          <p:nvPr/>
        </p:nvSpPr>
        <p:spPr>
          <a:xfrm>
            <a:off x="6537960" y="1828800"/>
            <a:ext cx="4937760" cy="2995692"/>
          </a:xfrm>
          <a:prstGeom prst="rect">
            <a:avLst/>
          </a:prstGeom>
          <a:noFill/>
        </p:spPr>
        <p:txBody>
          <a:bodyPr wrap="square">
            <a:spAutoFit/>
          </a:bodyPr>
          <a:lstStyle/>
          <a:p>
            <a:pPr algn="ctr"/>
            <a:r>
              <a:rPr sz="1600" b="1" i="1" dirty="0">
                <a:solidFill>
                  <a:srgbClr val="00509E"/>
                </a:solidFill>
                <a:latin typeface="Calibri"/>
              </a:rPr>
              <a:t>Live Blockchain Timestamp Verification &amp; Tamper Detection Interface</a:t>
            </a:r>
            <a:endParaRPr sz="1600" b="1" i="1" dirty="0">
              <a:solidFill>
                <a:srgbClr val="00509E"/>
              </a:solidFill>
              <a:latin typeface="Calibri"/>
            </a:endParaRPr>
          </a:p>
          <a:p>
            <a:pPr>
              <a:spcBef>
                <a:spcPts val="400"/>
              </a:spcBef>
            </a:pPr>
            <a:r>
              <a:rPr sz="1400" dirty="0">
                <a:solidFill>
                  <a:srgbClr val="1E293B"/>
                </a:solidFill>
                <a:latin typeface="Calibri"/>
              </a:rPr>
              <a:t>• Student Identifier Search: Query index number 'UEB3509022' or staff ID 'PS001'.</a:t>
            </a:r>
            <a:endParaRPr sz="1400" dirty="0">
              <a:solidFill>
                <a:srgbClr val="1E293B"/>
              </a:solidFill>
              <a:latin typeface="Calibri"/>
            </a:endParaRPr>
          </a:p>
          <a:p>
            <a:pPr>
              <a:spcBef>
                <a:spcPts val="400"/>
              </a:spcBef>
            </a:pPr>
            <a:r>
              <a:rPr sz="1400" dirty="0">
                <a:solidFill>
                  <a:srgbClr val="1E293B"/>
                </a:solidFill>
                <a:latin typeface="Calibri"/>
              </a:rPr>
              <a:t>• Submission &amp; Post Inspector: Shows submitted coursework, file attachments, and on-chain </a:t>
            </a:r>
            <a:r>
              <a:rPr sz="1400" dirty="0" err="1">
                <a:solidFill>
                  <a:srgbClr val="1E293B"/>
                </a:solidFill>
                <a:latin typeface="Calibri"/>
              </a:rPr>
              <a:t>tx</a:t>
            </a:r>
            <a:r>
              <a:rPr sz="1400" dirty="0">
                <a:solidFill>
                  <a:srgbClr val="1E293B"/>
                </a:solidFill>
                <a:latin typeface="Calibri"/>
              </a:rPr>
              <a:t> hashes.</a:t>
            </a:r>
            <a:endParaRPr sz="1400" dirty="0">
              <a:solidFill>
                <a:srgbClr val="1E293B"/>
              </a:solidFill>
              <a:latin typeface="Calibri"/>
            </a:endParaRPr>
          </a:p>
          <a:p>
            <a:pPr>
              <a:spcBef>
                <a:spcPts val="400"/>
              </a:spcBef>
            </a:pPr>
            <a:r>
              <a:rPr sz="1400" dirty="0">
                <a:solidFill>
                  <a:srgbClr val="1E293B"/>
                </a:solidFill>
                <a:latin typeface="Calibri"/>
              </a:rPr>
              <a:t>• Cryptographic Audit Trail Modal: Compares database record vs. immutable Besu block record.</a:t>
            </a:r>
            <a:endParaRPr sz="1400" dirty="0">
              <a:solidFill>
                <a:srgbClr val="1E293B"/>
              </a:solidFill>
              <a:latin typeface="Calibri"/>
            </a:endParaRPr>
          </a:p>
          <a:p>
            <a:pPr>
              <a:spcBef>
                <a:spcPts val="400"/>
              </a:spcBef>
            </a:pPr>
            <a:r>
              <a:rPr sz="1400" dirty="0">
                <a:solidFill>
                  <a:srgbClr val="1E293B"/>
                </a:solidFill>
                <a:latin typeface="Calibri"/>
              </a:rPr>
              <a:t>• Certified Verdict Banner: Displays '✅ Authentic Submission' confirmation.</a:t>
            </a:r>
            <a:endParaRPr sz="1400" dirty="0">
              <a:solidFill>
                <a:srgbClr val="1E293B"/>
              </a:solidFill>
              <a:latin typeface="Calibri"/>
            </a:endParaRPr>
          </a:p>
          <a:p>
            <a:pPr>
              <a:spcBef>
                <a:spcPts val="400"/>
              </a:spcBef>
            </a:pPr>
            <a:r>
              <a:rPr sz="1400" dirty="0">
                <a:solidFill>
                  <a:srgbClr val="1E293B"/>
                </a:solidFill>
                <a:latin typeface="Calibri"/>
              </a:rPr>
              <a:t>• Tamper Detection Guarantee: If database record is altered, SHA-256 hash mismatch alerts admin instantly.</a:t>
            </a:r>
            <a:endParaRPr sz="1400" dirty="0">
              <a:solidFill>
                <a:srgbClr val="1E293B"/>
              </a:solidFill>
              <a:latin typeface="Calibri"/>
            </a:endParaRPr>
          </a:p>
        </p:txBody>
      </p:sp>
      <p:sp>
        <p:nvSpPr>
          <p:cNvPr id="15" name="Rounded Rectangle 14"/>
          <p:cNvSpPr/>
          <p:nvPr/>
        </p:nvSpPr>
        <p:spPr>
          <a:xfrm>
            <a:off x="457200" y="5806440"/>
            <a:ext cx="11247120" cy="59436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7200" y="5806440"/>
            <a:ext cx="91440" cy="59436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52159"/>
            <a:ext cx="10972800" cy="461665"/>
          </a:xfrm>
          <a:prstGeom prst="rect">
            <a:avLst/>
          </a:prstGeom>
          <a:noFill/>
        </p:spPr>
        <p:txBody>
          <a:bodyPr wrap="square">
            <a:spAutoFit/>
          </a:bodyPr>
          <a:lstStyle/>
          <a:p>
            <a:pPr algn="l"/>
            <a:r>
              <a:rPr sz="1200" b="1" dirty="0">
                <a:solidFill>
                  <a:srgbClr val="FFC107"/>
                </a:solidFill>
                <a:latin typeface="Calibri"/>
              </a:rPr>
              <a:t>AUDIT GUARANTEE: </a:t>
            </a:r>
            <a:r>
              <a:rPr sz="1200" dirty="0">
                <a:solidFill>
                  <a:srgbClr val="FFFFFF"/>
                </a:solidFill>
                <a:latin typeface="Calibri"/>
              </a:rPr>
              <a:t>Even if a malicious actor alters a database submission timestamp or edits text directly in SQL, the SHA-256 block hash mismatch on Hyperledger Besu immediately exposes the tampering.</a:t>
            </a:r>
            <a:endParaRPr sz="1200" dirty="0">
              <a:solidFill>
                <a:srgbClr val="FFFFFF"/>
              </a:solidFill>
              <a:latin typeface="Calibri"/>
            </a:endParaRPr>
          </a:p>
        </p:txBody>
      </p:sp>
      <p:pic>
        <p:nvPicPr>
          <p:cNvPr id="19" name="Picture 18"/>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00336A"/>
                </a:solidFill>
                <a:latin typeface="Calibri"/>
              </a:rPr>
              <a:t>07</a:t>
            </a:r>
            <a:endParaRPr sz="2000" b="1">
              <a:solidFill>
                <a:srgbClr val="00336A"/>
              </a:solidFill>
              <a:latin typeface="Calibri"/>
            </a:endParaRPr>
          </a:p>
        </p:txBody>
      </p:sp>
      <p:sp>
        <p:nvSpPr>
          <p:cNvPr id="6" name="TextBox 5"/>
          <p:cNvSpPr txBox="1"/>
          <p:nvPr/>
        </p:nvSpPr>
        <p:spPr>
          <a:xfrm>
            <a:off x="1325880" y="109728"/>
            <a:ext cx="9601200" cy="822960"/>
          </a:xfrm>
          <a:prstGeom prst="rect">
            <a:avLst/>
          </a:prstGeom>
          <a:noFill/>
        </p:spPr>
        <p:txBody>
          <a:bodyPr wrap="square">
            <a:spAutoFit/>
          </a:bodyPr>
          <a:lstStyle/>
          <a:p>
            <a:r>
              <a:rPr sz="2000" b="1">
                <a:solidFill>
                  <a:srgbClr val="FFFFFF"/>
                </a:solidFill>
                <a:latin typeface="Calibri"/>
              </a:rPr>
              <a:t>Empirical Results &amp; Live System Demo</a:t>
            </a:r>
            <a:endParaRPr sz="2000" b="1">
              <a:solidFill>
                <a:srgbClr val="FFFFFF"/>
              </a:solidFill>
              <a:latin typeface="Calibri"/>
            </a:endParaRPr>
          </a:p>
          <a:p>
            <a:r>
              <a:rPr sz="1100" i="1">
                <a:solidFill>
                  <a:srgbClr val="BAE6FD"/>
                </a:solidFill>
                <a:latin typeface="Calibri"/>
              </a:rPr>
              <a:t>Empirical Test Suite (100% PASS), System Latency Benchmarks, and Live Feature Demonstration</a:t>
            </a:r>
            <a:endParaRPr sz="1100" i="1">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56248"/>
            <a:ext cx="9601200" cy="274320"/>
          </a:xfrm>
          <a:prstGeom prst="rect">
            <a:avLst/>
          </a:prstGeom>
          <a:noFill/>
        </p:spPr>
        <p:txBody>
          <a:bodyPr wrap="none">
            <a:spAutoFit/>
          </a:bodyPr>
          <a:lstStyle/>
          <a:p>
            <a:r>
              <a:rPr sz="850">
                <a:solidFill>
                  <a:srgbClr val="475569"/>
                </a:solidFill>
                <a:latin typeface="Calibri"/>
              </a:rPr>
              <a:t>QCampus Connect | Verified Academic Q&amp;A Forum &amp; Secure Consultation Platform | Case Study: UENR</a:t>
            </a:r>
            <a:endParaRPr sz="850">
              <a:solidFill>
                <a:srgbClr val="475569"/>
              </a:solidFill>
              <a:latin typeface="Calibri"/>
            </a:endParaRPr>
          </a:p>
        </p:txBody>
      </p:sp>
      <p:sp>
        <p:nvSpPr>
          <p:cNvPr id="9" name="TextBox 8"/>
          <p:cNvSpPr txBox="1"/>
          <p:nvPr/>
        </p:nvSpPr>
        <p:spPr>
          <a:xfrm>
            <a:off x="10332720" y="6556248"/>
            <a:ext cx="1463040" cy="274320"/>
          </a:xfrm>
          <a:prstGeom prst="rect">
            <a:avLst/>
          </a:prstGeom>
          <a:noFill/>
        </p:spPr>
        <p:txBody>
          <a:bodyPr wrap="none">
            <a:spAutoFit/>
          </a:bodyPr>
          <a:lstStyle/>
          <a:p>
            <a:pPr algn="r"/>
            <a:r>
              <a:rPr sz="850" b="1">
                <a:solidFill>
                  <a:srgbClr val="00336A"/>
                </a:solidFill>
                <a:latin typeface="Calibri"/>
              </a:rPr>
              <a:t>Slide 07 / 08</a:t>
            </a:r>
            <a:endParaRPr sz="850" b="1">
              <a:solidFill>
                <a:srgbClr val="00336A"/>
              </a:solidFill>
              <a:latin typeface="Calibri"/>
            </a:endParaRPr>
          </a:p>
        </p:txBody>
      </p:sp>
      <p:sp>
        <p:nvSpPr>
          <p:cNvPr id="10" name="Rounded Rectangle 9"/>
          <p:cNvSpPr/>
          <p:nvPr/>
        </p:nvSpPr>
        <p:spPr>
          <a:xfrm>
            <a:off x="457200" y="1234440"/>
            <a:ext cx="5669280" cy="44348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280160"/>
            <a:ext cx="5394960" cy="3962623"/>
          </a:xfrm>
          <a:prstGeom prst="rect">
            <a:avLst/>
          </a:prstGeom>
          <a:noFill/>
        </p:spPr>
        <p:txBody>
          <a:bodyPr wrap="square">
            <a:spAutoFit/>
          </a:bodyPr>
          <a:lstStyle/>
          <a:p>
            <a:r>
              <a:rPr sz="1400" b="1" dirty="0">
                <a:solidFill>
                  <a:srgbClr val="00336A"/>
                </a:solidFill>
                <a:latin typeface="Calibri"/>
              </a:rPr>
              <a:t>📊</a:t>
            </a:r>
            <a:r>
              <a:rPr sz="2400" b="1" dirty="0">
                <a:solidFill>
                  <a:srgbClr val="00336A"/>
                </a:solidFill>
                <a:latin typeface="Calibri"/>
              </a:rPr>
              <a:t> </a:t>
            </a:r>
            <a:r>
              <a:rPr sz="1600" b="1" dirty="0">
                <a:solidFill>
                  <a:srgbClr val="00336A"/>
                </a:solidFill>
                <a:latin typeface="Calibri"/>
              </a:rPr>
              <a:t>Empirical Verification Suite &amp; Benchmarks (100% PASS)</a:t>
            </a:r>
            <a:endParaRPr sz="1600" b="1" dirty="0">
              <a:solidFill>
                <a:srgbClr val="00336A"/>
              </a:solidFill>
              <a:latin typeface="Calibri"/>
            </a:endParaRPr>
          </a:p>
          <a:p>
            <a:pPr>
              <a:spcBef>
                <a:spcPts val="300"/>
              </a:spcBef>
            </a:pPr>
            <a:r>
              <a:rPr sz="1600" b="1" dirty="0">
                <a:solidFill>
                  <a:srgbClr val="1E293B"/>
                </a:solidFill>
                <a:latin typeface="Calibri"/>
              </a:rPr>
              <a:t>• Production Build: </a:t>
            </a:r>
            <a:r>
              <a:rPr sz="1400" dirty="0">
                <a:solidFill>
                  <a:srgbClr val="475569"/>
                </a:solidFill>
                <a:latin typeface="Calibri"/>
              </a:rPr>
              <a:t>Vite compiled 244 modules with 0 TypeScript errors in 3.36s (</a:t>
            </a:r>
            <a:r>
              <a:rPr sz="1400" dirty="0" err="1">
                <a:solidFill>
                  <a:srgbClr val="475569"/>
                </a:solidFill>
                <a:latin typeface="Calibri"/>
              </a:rPr>
              <a:t>dist</a:t>
            </a:r>
            <a:r>
              <a:rPr sz="1400" dirty="0">
                <a:solidFill>
                  <a:srgbClr val="475569"/>
                </a:solidFill>
                <a:latin typeface="Calibri"/>
              </a:rPr>
              <a:t>: 780 kB </a:t>
            </a:r>
            <a:r>
              <a:rPr sz="1400" dirty="0" err="1">
                <a:solidFill>
                  <a:srgbClr val="475569"/>
                </a:solidFill>
                <a:latin typeface="Calibri"/>
              </a:rPr>
              <a:t>js</a:t>
            </a:r>
            <a:r>
              <a:rPr sz="1400" dirty="0">
                <a:solidFill>
                  <a:srgbClr val="475569"/>
                </a:solidFill>
                <a:latin typeface="Calibri"/>
              </a:rPr>
              <a:t>, 94 kB </a:t>
            </a:r>
            <a:r>
              <a:rPr sz="1400" dirty="0" err="1">
                <a:solidFill>
                  <a:srgbClr val="475569"/>
                </a:solidFill>
                <a:latin typeface="Calibri"/>
              </a:rPr>
              <a:t>css</a:t>
            </a:r>
            <a:r>
              <a:rPr sz="1400" dirty="0">
                <a:solidFill>
                  <a:srgbClr val="475569"/>
                </a:solidFill>
                <a:latin typeface="Calibri"/>
              </a:rPr>
              <a:t>).</a:t>
            </a:r>
            <a:endParaRPr sz="1400" dirty="0">
              <a:solidFill>
                <a:srgbClr val="475569"/>
              </a:solidFill>
              <a:latin typeface="Calibri"/>
            </a:endParaRPr>
          </a:p>
          <a:p>
            <a:pPr>
              <a:spcBef>
                <a:spcPts val="300"/>
              </a:spcBef>
            </a:pPr>
            <a:r>
              <a:rPr sz="1600" b="1" dirty="0">
                <a:solidFill>
                  <a:srgbClr val="1E293B"/>
                </a:solidFill>
                <a:latin typeface="Calibri"/>
              </a:rPr>
              <a:t>• RSA-OAEP 2048 Keygen: </a:t>
            </a:r>
            <a:r>
              <a:rPr sz="1400" dirty="0">
                <a:solidFill>
                  <a:srgbClr val="475569"/>
                </a:solidFill>
                <a:latin typeface="Calibri"/>
              </a:rPr>
              <a:t>Generated in ~140ms in browser; private key committed to </a:t>
            </a:r>
            <a:r>
              <a:rPr sz="1400" dirty="0" err="1">
                <a:solidFill>
                  <a:srgbClr val="475569"/>
                </a:solidFill>
                <a:latin typeface="Calibri"/>
              </a:rPr>
              <a:t>IndexedDB</a:t>
            </a:r>
            <a:r>
              <a:rPr sz="1400" dirty="0">
                <a:solidFill>
                  <a:srgbClr val="475569"/>
                </a:solidFill>
                <a:latin typeface="Calibri"/>
              </a:rPr>
              <a:t> (✅ PASS).</a:t>
            </a:r>
            <a:endParaRPr sz="1400" dirty="0">
              <a:solidFill>
                <a:srgbClr val="475569"/>
              </a:solidFill>
              <a:latin typeface="Calibri"/>
            </a:endParaRPr>
          </a:p>
          <a:p>
            <a:pPr>
              <a:spcBef>
                <a:spcPts val="300"/>
              </a:spcBef>
            </a:pPr>
            <a:r>
              <a:rPr sz="1600" b="1" dirty="0">
                <a:solidFill>
                  <a:srgbClr val="1E293B"/>
                </a:solidFill>
                <a:latin typeface="Calibri"/>
              </a:rPr>
              <a:t>• AES-GCM-256 Cipher: </a:t>
            </a:r>
            <a:r>
              <a:rPr sz="1400" dirty="0">
                <a:solidFill>
                  <a:srgbClr val="475569"/>
                </a:solidFill>
                <a:latin typeface="Calibri"/>
              </a:rPr>
              <a:t>Payload encryption executed in ~2ms; invalid decryption key throws error (✅ PASS).</a:t>
            </a:r>
            <a:endParaRPr sz="1400" dirty="0">
              <a:solidFill>
                <a:srgbClr val="475569"/>
              </a:solidFill>
              <a:latin typeface="Calibri"/>
            </a:endParaRPr>
          </a:p>
          <a:p>
            <a:pPr>
              <a:spcBef>
                <a:spcPts val="300"/>
              </a:spcBef>
            </a:pPr>
            <a:r>
              <a:rPr sz="1600" b="1" dirty="0">
                <a:solidFill>
                  <a:srgbClr val="1E293B"/>
                </a:solidFill>
                <a:latin typeface="Calibri"/>
              </a:rPr>
              <a:t>• BB84 QKD Simulator: </a:t>
            </a:r>
            <a:r>
              <a:rPr sz="1400" dirty="0">
                <a:solidFill>
                  <a:srgbClr val="475569"/>
                </a:solidFill>
                <a:latin typeface="Calibri"/>
              </a:rPr>
              <a:t>256-bit sifted key derived in ~12ms; aborts correctly if QBER &gt; 11% (✅ PASS).</a:t>
            </a:r>
            <a:endParaRPr sz="1400" dirty="0">
              <a:solidFill>
                <a:srgbClr val="475569"/>
              </a:solidFill>
              <a:latin typeface="Calibri"/>
            </a:endParaRPr>
          </a:p>
          <a:p>
            <a:pPr>
              <a:spcBef>
                <a:spcPts val="300"/>
              </a:spcBef>
            </a:pPr>
            <a:r>
              <a:rPr sz="1600" b="1" dirty="0">
                <a:solidFill>
                  <a:srgbClr val="1E293B"/>
                </a:solidFill>
                <a:latin typeface="Calibri"/>
              </a:rPr>
              <a:t>• Besu Smart Contract: </a:t>
            </a:r>
            <a:r>
              <a:rPr sz="1400" dirty="0" err="1">
                <a:solidFill>
                  <a:srgbClr val="475569"/>
                </a:solidFill>
                <a:latin typeface="Calibri"/>
              </a:rPr>
              <a:t>recordHash</a:t>
            </a:r>
            <a:r>
              <a:rPr sz="1400" dirty="0">
                <a:solidFill>
                  <a:srgbClr val="475569"/>
                </a:solidFill>
                <a:latin typeface="Calibri"/>
              </a:rPr>
              <a:t> logs SHA-256 digest; duplicate write reverts; role checks enforced (✅ PASS).</a:t>
            </a:r>
            <a:endParaRPr sz="1400" dirty="0">
              <a:solidFill>
                <a:srgbClr val="475569"/>
              </a:solidFill>
              <a:latin typeface="Calibri"/>
            </a:endParaRPr>
          </a:p>
          <a:p>
            <a:pPr>
              <a:spcBef>
                <a:spcPts val="300"/>
              </a:spcBef>
            </a:pPr>
            <a:r>
              <a:rPr sz="1600" b="1" dirty="0">
                <a:solidFill>
                  <a:srgbClr val="1E293B"/>
                </a:solidFill>
                <a:latin typeface="Calibri"/>
              </a:rPr>
              <a:t>• Convex Reactive Latency: </a:t>
            </a:r>
            <a:r>
              <a:rPr sz="1400" dirty="0">
                <a:solidFill>
                  <a:srgbClr val="475569"/>
                </a:solidFill>
                <a:latin typeface="Calibri"/>
              </a:rPr>
              <a:t>WebSocket real-time delivery averaged ~50ms (well under the 200ms target).</a:t>
            </a:r>
            <a:endParaRPr sz="1400" dirty="0">
              <a:solidFill>
                <a:srgbClr val="475569"/>
              </a:solidFill>
              <a:latin typeface="Calibri"/>
            </a:endParaRPr>
          </a:p>
          <a:p>
            <a:pPr>
              <a:spcBef>
                <a:spcPts val="300"/>
              </a:spcBef>
            </a:pPr>
            <a:r>
              <a:rPr sz="1600" b="1" dirty="0">
                <a:solidFill>
                  <a:srgbClr val="1E293B"/>
                </a:solidFill>
                <a:latin typeface="Calibri"/>
              </a:rPr>
              <a:t>• Besu Block Anchoring: </a:t>
            </a:r>
            <a:r>
              <a:rPr sz="1400" dirty="0">
                <a:solidFill>
                  <a:srgbClr val="475569"/>
                </a:solidFill>
                <a:latin typeface="Calibri"/>
              </a:rPr>
              <a:t>Asynchronous transaction confirmation in ~0.3–0.5s with zero gas fees.</a:t>
            </a:r>
            <a:endParaRPr sz="1400" dirty="0">
              <a:solidFill>
                <a:srgbClr val="475569"/>
              </a:solidFill>
              <a:latin typeface="Calibri"/>
            </a:endParaRPr>
          </a:p>
        </p:txBody>
      </p:sp>
      <p:sp>
        <p:nvSpPr>
          <p:cNvPr id="12" name="Rounded Rectangle 11"/>
          <p:cNvSpPr/>
          <p:nvPr/>
        </p:nvSpPr>
        <p:spPr>
          <a:xfrm>
            <a:off x="6309360" y="1234440"/>
            <a:ext cx="5394960" cy="4434840"/>
          </a:xfrm>
          <a:prstGeom prst="roundRect">
            <a:avLst/>
          </a:prstGeom>
          <a:solidFill>
            <a:srgbClr val="EEF4FA"/>
          </a:solidFill>
          <a:ln w="19050">
            <a:solidFill>
              <a:srgbClr val="1E90FF"/>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371600"/>
            <a:ext cx="5029200" cy="41148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dirty="0">
                <a:solidFill>
                  <a:srgbClr val="FFFFFF"/>
                </a:solidFill>
                <a:latin typeface="Calibri"/>
              </a:rPr>
              <a:t>📸  LIVE SYSTEM INTERFACE: Q&amp;A FORUM &amp; DIRECT MESSAGING</a:t>
            </a:r>
            <a:endParaRPr sz="1200" b="1" dirty="0">
              <a:solidFill>
                <a:srgbClr val="FFFFFF"/>
              </a:solidFill>
              <a:latin typeface="Calibri"/>
            </a:endParaRPr>
          </a:p>
        </p:txBody>
      </p:sp>
      <p:sp>
        <p:nvSpPr>
          <p:cNvPr id="14" name="TextBox 13"/>
          <p:cNvSpPr txBox="1"/>
          <p:nvPr/>
        </p:nvSpPr>
        <p:spPr>
          <a:xfrm>
            <a:off x="6537960" y="1828800"/>
            <a:ext cx="4937760" cy="2995692"/>
          </a:xfrm>
          <a:prstGeom prst="rect">
            <a:avLst/>
          </a:prstGeom>
          <a:noFill/>
        </p:spPr>
        <p:txBody>
          <a:bodyPr wrap="square">
            <a:spAutoFit/>
          </a:bodyPr>
          <a:lstStyle/>
          <a:p>
            <a:pPr algn="ctr"/>
            <a:r>
              <a:rPr sz="1600" b="1" i="1" dirty="0">
                <a:solidFill>
                  <a:srgbClr val="00509E"/>
                </a:solidFill>
                <a:latin typeface="Calibri"/>
              </a:rPr>
              <a:t>Panel-Ready Demonstration: Verified Discussions &amp; Private Consultation Flow</a:t>
            </a:r>
            <a:endParaRPr sz="1600" b="1" i="1" dirty="0">
              <a:solidFill>
                <a:srgbClr val="00509E"/>
              </a:solidFill>
              <a:latin typeface="Calibri"/>
            </a:endParaRPr>
          </a:p>
          <a:p>
            <a:pPr>
              <a:spcBef>
                <a:spcPts val="400"/>
              </a:spcBef>
            </a:pPr>
            <a:r>
              <a:rPr sz="1400" dirty="0">
                <a:solidFill>
                  <a:srgbClr val="1E293B"/>
                </a:solidFill>
                <a:latin typeface="Calibri"/>
              </a:rPr>
              <a:t>• Verified Q&amp;A Forum Feed: Questions tagged by Department ('Computer Science') and Topic ('Cryptography').</a:t>
            </a:r>
            <a:endParaRPr sz="1400" dirty="0">
              <a:solidFill>
                <a:srgbClr val="1E293B"/>
              </a:solidFill>
              <a:latin typeface="Calibri"/>
            </a:endParaRPr>
          </a:p>
          <a:p>
            <a:pPr>
              <a:spcBef>
                <a:spcPts val="400"/>
              </a:spcBef>
            </a:pPr>
            <a:r>
              <a:rPr sz="1400" dirty="0">
                <a:solidFill>
                  <a:srgbClr val="1E293B"/>
                </a:solidFill>
                <a:latin typeface="Calibri"/>
              </a:rPr>
              <a:t>• Lecturer Answer View: Verified identity badge (🏛️ CS, 📚 Cryptography) establishing expert authority.</a:t>
            </a:r>
            <a:endParaRPr sz="1400" dirty="0">
              <a:solidFill>
                <a:srgbClr val="1E293B"/>
              </a:solidFill>
              <a:latin typeface="Calibri"/>
            </a:endParaRPr>
          </a:p>
          <a:p>
            <a:pPr>
              <a:spcBef>
                <a:spcPts val="400"/>
              </a:spcBef>
            </a:pPr>
            <a:r>
              <a:rPr sz="1400" dirty="0">
                <a:solidFill>
                  <a:srgbClr val="1E293B"/>
                </a:solidFill>
                <a:latin typeface="Calibri"/>
              </a:rPr>
              <a:t>• Direct Consultation Launch: '💬 Message' button on lecturer's answer seamlessly opens encrypted DM.</a:t>
            </a:r>
            <a:endParaRPr sz="1400" dirty="0">
              <a:solidFill>
                <a:srgbClr val="1E293B"/>
              </a:solidFill>
              <a:latin typeface="Calibri"/>
            </a:endParaRPr>
          </a:p>
          <a:p>
            <a:pPr>
              <a:spcBef>
                <a:spcPts val="400"/>
              </a:spcBef>
            </a:pPr>
            <a:r>
              <a:rPr sz="1400" dirty="0">
                <a:solidFill>
                  <a:srgbClr val="1E293B"/>
                </a:solidFill>
                <a:latin typeface="Calibri"/>
              </a:rPr>
              <a:t>• BB84 Simulation Interface: Live visualization of quantum state transmission, sifting, and error rate check.</a:t>
            </a:r>
            <a:endParaRPr sz="1400" dirty="0">
              <a:solidFill>
                <a:srgbClr val="1E293B"/>
              </a:solidFill>
              <a:latin typeface="Calibri"/>
            </a:endParaRPr>
          </a:p>
          <a:p>
            <a:pPr>
              <a:spcBef>
                <a:spcPts val="400"/>
              </a:spcBef>
            </a:pPr>
            <a:r>
              <a:rPr sz="1400" dirty="0">
                <a:solidFill>
                  <a:srgbClr val="1E293B"/>
                </a:solidFill>
                <a:latin typeface="Calibri"/>
              </a:rPr>
              <a:t>• Verified Student Index: Osei Nana Kwaku (UEB3509022) submission generating live Besu blockchain receipt.</a:t>
            </a:r>
            <a:endParaRPr sz="1400" dirty="0">
              <a:solidFill>
                <a:srgbClr val="1E293B"/>
              </a:solidFill>
              <a:latin typeface="Calibri"/>
            </a:endParaRPr>
          </a:p>
        </p:txBody>
      </p:sp>
      <p:sp>
        <p:nvSpPr>
          <p:cNvPr id="15" name="Rounded Rectangle 14"/>
          <p:cNvSpPr/>
          <p:nvPr/>
        </p:nvSpPr>
        <p:spPr>
          <a:xfrm>
            <a:off x="457200" y="5806440"/>
            <a:ext cx="11247120" cy="59436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7200" y="5806440"/>
            <a:ext cx="91440" cy="59436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52159"/>
            <a:ext cx="10972800" cy="461665"/>
          </a:xfrm>
          <a:prstGeom prst="rect">
            <a:avLst/>
          </a:prstGeom>
          <a:noFill/>
        </p:spPr>
        <p:txBody>
          <a:bodyPr wrap="square">
            <a:spAutoFit/>
          </a:bodyPr>
          <a:lstStyle/>
          <a:p>
            <a:pPr algn="l"/>
            <a:r>
              <a:rPr sz="1200" b="1" dirty="0">
                <a:solidFill>
                  <a:srgbClr val="FFC107"/>
                </a:solidFill>
                <a:latin typeface="Calibri"/>
              </a:rPr>
              <a:t>DEMO VERDICT: </a:t>
            </a:r>
            <a:r>
              <a:rPr sz="1200" dirty="0">
                <a:solidFill>
                  <a:srgbClr val="FFFFFF"/>
                </a:solidFill>
                <a:latin typeface="Calibri"/>
              </a:rPr>
              <a:t>The live demonstration proves that high-speed reactive discussions (&lt;50ms) and permanent blockchain non-repudiation can coexist in a production-ready, zero-error web application.</a:t>
            </a:r>
            <a:endParaRPr sz="1200" dirty="0">
              <a:solidFill>
                <a:srgbClr val="FFFFFF"/>
              </a:solidFill>
              <a:latin typeface="Calibri"/>
            </a:endParaRPr>
          </a:p>
        </p:txBody>
      </p:sp>
      <p:pic>
        <p:nvPicPr>
          <p:cNvPr id="19" name="Picture 18"/>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9832"/>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00336A"/>
                </a:solidFill>
                <a:latin typeface="Calibri"/>
              </a:rPr>
              <a:t>08</a:t>
            </a:r>
            <a:endParaRPr sz="2000" b="1">
              <a:solidFill>
                <a:srgbClr val="00336A"/>
              </a:solidFill>
              <a:latin typeface="Calibri"/>
            </a:endParaRPr>
          </a:p>
        </p:txBody>
      </p:sp>
      <p:sp>
        <p:nvSpPr>
          <p:cNvPr id="6" name="TextBox 5"/>
          <p:cNvSpPr txBox="1"/>
          <p:nvPr/>
        </p:nvSpPr>
        <p:spPr>
          <a:xfrm>
            <a:off x="1325880" y="109728"/>
            <a:ext cx="9601200" cy="584775"/>
          </a:xfrm>
          <a:prstGeom prst="rect">
            <a:avLst/>
          </a:prstGeom>
          <a:noFill/>
        </p:spPr>
        <p:txBody>
          <a:bodyPr wrap="square">
            <a:spAutoFit/>
          </a:bodyPr>
          <a:lstStyle/>
          <a:p>
            <a:r>
              <a:rPr sz="2000" b="1" dirty="0">
                <a:solidFill>
                  <a:srgbClr val="FFFFFF"/>
                </a:solidFill>
                <a:latin typeface="Calibri"/>
              </a:rPr>
              <a:t>Limitations, Future Work &amp; Conclusion</a:t>
            </a:r>
            <a:endParaRPr sz="2000" b="1" dirty="0">
              <a:solidFill>
                <a:srgbClr val="FFFFFF"/>
              </a:solidFill>
              <a:latin typeface="Calibri"/>
            </a:endParaRPr>
          </a:p>
          <a:p>
            <a:r>
              <a:rPr sz="1200" i="1" dirty="0">
                <a:solidFill>
                  <a:srgbClr val="BAE6FD"/>
                </a:solidFill>
                <a:latin typeface="Calibri"/>
              </a:rPr>
              <a:t>System Boundaries, Recommended Technical Roadmap, and Final Research Defense Conclusions</a:t>
            </a:r>
            <a:endParaRPr sz="1200" i="1" dirty="0">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56248"/>
            <a:ext cx="9601200" cy="274320"/>
          </a:xfrm>
          <a:prstGeom prst="rect">
            <a:avLst/>
          </a:prstGeom>
          <a:noFill/>
        </p:spPr>
        <p:txBody>
          <a:bodyPr wrap="none">
            <a:spAutoFit/>
          </a:bodyPr>
          <a:lstStyle/>
          <a:p>
            <a:r>
              <a:rPr sz="850">
                <a:solidFill>
                  <a:srgbClr val="475569"/>
                </a:solidFill>
                <a:latin typeface="Calibri"/>
              </a:rPr>
              <a:t>QCampus Connect | Verified Academic Q&amp;A Forum &amp; Secure Consultation Platform | Case Study: UENR</a:t>
            </a:r>
            <a:endParaRPr sz="850">
              <a:solidFill>
                <a:srgbClr val="475569"/>
              </a:solidFill>
              <a:latin typeface="Calibri"/>
            </a:endParaRPr>
          </a:p>
        </p:txBody>
      </p:sp>
      <p:sp>
        <p:nvSpPr>
          <p:cNvPr id="9" name="TextBox 8"/>
          <p:cNvSpPr txBox="1"/>
          <p:nvPr/>
        </p:nvSpPr>
        <p:spPr>
          <a:xfrm>
            <a:off x="10332720" y="6556248"/>
            <a:ext cx="1463040" cy="274320"/>
          </a:xfrm>
          <a:prstGeom prst="rect">
            <a:avLst/>
          </a:prstGeom>
          <a:noFill/>
        </p:spPr>
        <p:txBody>
          <a:bodyPr wrap="none">
            <a:spAutoFit/>
          </a:bodyPr>
          <a:lstStyle/>
          <a:p>
            <a:pPr algn="r"/>
            <a:r>
              <a:rPr sz="850" b="1">
                <a:solidFill>
                  <a:srgbClr val="00336A"/>
                </a:solidFill>
                <a:latin typeface="Calibri"/>
              </a:rPr>
              <a:t>Slide 08 / 08</a:t>
            </a:r>
            <a:endParaRPr sz="850" b="1">
              <a:solidFill>
                <a:srgbClr val="00336A"/>
              </a:solidFill>
              <a:latin typeface="Calibri"/>
            </a:endParaRPr>
          </a:p>
        </p:txBody>
      </p:sp>
      <p:sp>
        <p:nvSpPr>
          <p:cNvPr id="11" name="Rounded Rectangle 10"/>
          <p:cNvSpPr/>
          <p:nvPr/>
        </p:nvSpPr>
        <p:spPr>
          <a:xfrm>
            <a:off x="457200" y="1234440"/>
            <a:ext cx="3566160" cy="7315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1234440"/>
            <a:ext cx="3566160" cy="73152"/>
          </a:xfrm>
          <a:prstGeom prst="roundRect">
            <a:avLst/>
          </a:prstGeom>
          <a:solidFill>
            <a:srgbClr val="1E9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38160" y="1234440"/>
            <a:ext cx="3566160" cy="7315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7200" y="5806440"/>
            <a:ext cx="11247120" cy="59436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7200" y="5806440"/>
            <a:ext cx="91440" cy="59436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52159"/>
            <a:ext cx="10972800" cy="461665"/>
          </a:xfrm>
          <a:prstGeom prst="rect">
            <a:avLst/>
          </a:prstGeom>
          <a:noFill/>
        </p:spPr>
        <p:txBody>
          <a:bodyPr wrap="square">
            <a:spAutoFit/>
          </a:bodyPr>
          <a:lstStyle/>
          <a:p>
            <a:pPr algn="l"/>
            <a:r>
              <a:rPr sz="1200" b="1" dirty="0">
                <a:solidFill>
                  <a:srgbClr val="FFC107"/>
                </a:solidFill>
                <a:latin typeface="Calibri"/>
              </a:rPr>
              <a:t>FINAL TAKEAWAY: </a:t>
            </a:r>
            <a:r>
              <a:rPr sz="1200" dirty="0">
                <a:solidFill>
                  <a:srgbClr val="FFFFFF"/>
                </a:solidFill>
                <a:latin typeface="Calibri"/>
              </a:rPr>
              <a:t>"Fast like social chat. Structured like an academic forum. Trustworthy like a signed paper trail." | Supervisor: Dr. Peter </a:t>
            </a:r>
            <a:r>
              <a:rPr sz="1200" dirty="0" err="1">
                <a:solidFill>
                  <a:srgbClr val="FFFFFF"/>
                </a:solidFill>
                <a:latin typeface="Calibri"/>
              </a:rPr>
              <a:t>Nimbe</a:t>
            </a:r>
            <a:r>
              <a:rPr sz="1200" dirty="0">
                <a:solidFill>
                  <a:srgbClr val="FFFFFF"/>
                </a:solidFill>
                <a:latin typeface="Calibri"/>
              </a:rPr>
              <a:t> (PS001) | Dept. of Computer Science &amp; Informatics | UENR</a:t>
            </a:r>
            <a:endParaRPr sz="1200" dirty="0">
              <a:solidFill>
                <a:srgbClr val="FFFFFF"/>
              </a:solidFill>
              <a:latin typeface="Calibri"/>
            </a:endParaRPr>
          </a:p>
        </p:txBody>
      </p:sp>
      <p:pic>
        <p:nvPicPr>
          <p:cNvPr id="23" name="Picture 22"/>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
        <p:nvSpPr>
          <p:cNvPr id="24" name="Rounded Rectangle 15"/>
          <p:cNvSpPr/>
          <p:nvPr/>
        </p:nvSpPr>
        <p:spPr>
          <a:xfrm rot="16200000">
            <a:off x="2071211" y="-242414"/>
            <a:ext cx="2147490" cy="5558387"/>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vert="vert" rtlCol="0" anchor="t" anchorCtr="0"/>
          <a:lstStyle/>
          <a:p>
            <a:r>
              <a:rPr lang="en-US" b="1" dirty="0">
                <a:solidFill>
                  <a:schemeClr val="tx2"/>
                </a:solidFill>
              </a:rPr>
              <a:t>1. </a:t>
            </a:r>
            <a:r>
              <a:rPr lang="en-US" sz="1600" b="1" dirty="0">
                <a:solidFill>
                  <a:schemeClr val="tx2"/>
                </a:solidFill>
                <a:latin typeface="Arial" panose="02080604020202020204" pitchFamily="34" charset="0"/>
                <a:cs typeface="Arial" panose="02080604020202020204" pitchFamily="34" charset="0"/>
              </a:rPr>
              <a:t>PROGRAM-SPECIFIC Q&amp;A AND UPDATES</a:t>
            </a:r>
            <a:endParaRPr lang="en-US" b="1" dirty="0">
              <a:solidFill>
                <a:schemeClr val="tx2"/>
              </a:solidFill>
              <a:latin typeface="Arial" panose="02080604020202020204" pitchFamily="34" charset="0"/>
              <a:cs typeface="Arial" panose="02080604020202020204" pitchFamily="34" charset="0"/>
            </a:endParaRPr>
          </a:p>
          <a:p>
            <a:r>
              <a:rPr lang="en-US" dirty="0">
                <a:solidFill>
                  <a:schemeClr val="tx1"/>
                </a:solidFill>
              </a:rPr>
              <a:t>The platform will be narrowed from a broad departmental structure to program-specific communities, allowing students and lecturers within the same program to access relevant academic questions, discussions, news, and updates without unnecessary information from other programs.</a:t>
            </a:r>
            <a:endParaRPr lang="en-US" dirty="0">
              <a:solidFill>
                <a:schemeClr val="tx1"/>
              </a:solidFill>
            </a:endParaRPr>
          </a:p>
        </p:txBody>
      </p:sp>
      <p:sp>
        <p:nvSpPr>
          <p:cNvPr id="36" name="Rounded Rectangle 15"/>
          <p:cNvSpPr/>
          <p:nvPr/>
        </p:nvSpPr>
        <p:spPr>
          <a:xfrm rot="16200000">
            <a:off x="7831930" y="-260121"/>
            <a:ext cx="2147490" cy="5558387"/>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vert="vert" rtlCol="0" anchor="t" anchorCtr="0"/>
          <a:lstStyle/>
          <a:p>
            <a:r>
              <a:rPr lang="en-US" sz="1600" b="1" dirty="0">
                <a:solidFill>
                  <a:schemeClr val="tx2"/>
                </a:solidFill>
                <a:latin typeface="Arial" panose="02080604020202020204" pitchFamily="34" charset="0"/>
                <a:cs typeface="Arial" panose="02080604020202020204" pitchFamily="34" charset="0"/>
              </a:rPr>
              <a:t>2. COURSE-SPECIFIC CHATROOMS</a:t>
            </a:r>
            <a:endParaRPr lang="en-US" sz="1600" b="1" dirty="0">
              <a:solidFill>
                <a:schemeClr val="tx2"/>
              </a:solidFill>
              <a:latin typeface="Arial" panose="02080604020202020204" pitchFamily="34" charset="0"/>
              <a:cs typeface="Arial" panose="02080604020202020204" pitchFamily="34" charset="0"/>
            </a:endParaRPr>
          </a:p>
          <a:p>
            <a:r>
              <a:rPr lang="en-US" dirty="0">
                <a:solidFill>
                  <a:schemeClr val="tx1"/>
                </a:solidFill>
              </a:rPr>
              <a:t>Each course will have a dedicated chatroom where the lecturer and enrolled students can interact directly about course-related topics. This creates a focused space for asking questions, clarifying concepts, sharing resources, and discussing course activities.</a:t>
            </a:r>
            <a:endParaRPr lang="en-US" dirty="0">
              <a:solidFill>
                <a:schemeClr val="tx1"/>
              </a:solidFill>
            </a:endParaRPr>
          </a:p>
        </p:txBody>
      </p:sp>
      <p:sp>
        <p:nvSpPr>
          <p:cNvPr id="38" name="Rounded Rectangle 15"/>
          <p:cNvSpPr/>
          <p:nvPr/>
        </p:nvSpPr>
        <p:spPr>
          <a:xfrm rot="16200000">
            <a:off x="2096002" y="1930640"/>
            <a:ext cx="2147490" cy="5558387"/>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vert="vert" rtlCol="0" anchor="t" anchorCtr="0"/>
          <a:lstStyle/>
          <a:p>
            <a:r>
              <a:rPr lang="en-US" sz="1600" b="1" dirty="0">
                <a:solidFill>
                  <a:schemeClr val="tx2"/>
                </a:solidFill>
                <a:latin typeface="Arial" panose="02080604020202020204" pitchFamily="34" charset="0"/>
                <a:cs typeface="Arial" panose="02080604020202020204" pitchFamily="34" charset="0"/>
              </a:rPr>
              <a:t>3. AUTOMATIC IDENTITY VERIFICATION</a:t>
            </a:r>
            <a:endParaRPr lang="en-US" sz="1600" b="1" dirty="0">
              <a:solidFill>
                <a:schemeClr val="tx2"/>
              </a:solidFill>
              <a:latin typeface="Arial" panose="02080604020202020204" pitchFamily="34" charset="0"/>
              <a:cs typeface="Arial" panose="02080604020202020204" pitchFamily="34" charset="0"/>
            </a:endParaRPr>
          </a:p>
          <a:p>
            <a:r>
              <a:rPr lang="en-US" dirty="0">
                <a:solidFill>
                  <a:schemeClr val="tx1"/>
                </a:solidFill>
              </a:rPr>
              <a:t>An AI-assisted identity verification system will compare information provided on </a:t>
            </a:r>
            <a:r>
              <a:rPr lang="en-US" dirty="0" err="1">
                <a:solidFill>
                  <a:schemeClr val="tx1"/>
                </a:solidFill>
              </a:rPr>
              <a:t>QChatCampus</a:t>
            </a:r>
            <a:r>
              <a:rPr lang="en-US" dirty="0">
                <a:solidFill>
                  <a:schemeClr val="tx1"/>
                </a:solidFill>
              </a:rPr>
              <a:t> with authorized university records, such as student identity details, name, and department/program. The goal is to automatically verify users and complete the verification process within seven days or less.</a:t>
            </a:r>
            <a:endParaRPr lang="en-US" dirty="0">
              <a:solidFill>
                <a:schemeClr val="tx1"/>
              </a:solidFill>
            </a:endParaRPr>
          </a:p>
        </p:txBody>
      </p:sp>
      <p:sp>
        <p:nvSpPr>
          <p:cNvPr id="40" name="Rounded Rectangle 15"/>
          <p:cNvSpPr/>
          <p:nvPr/>
        </p:nvSpPr>
        <p:spPr>
          <a:xfrm rot="16200000">
            <a:off x="7869012" y="1905077"/>
            <a:ext cx="2147490" cy="5558387"/>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vert="vert" rtlCol="0" anchor="t" anchorCtr="0"/>
          <a:lstStyle/>
          <a:p>
            <a:r>
              <a:rPr lang="en-US" sz="1600" b="1" dirty="0">
                <a:solidFill>
                  <a:schemeClr val="tx2"/>
                </a:solidFill>
                <a:latin typeface="Arial" panose="02080604020202020204" pitchFamily="34" charset="0"/>
                <a:cs typeface="Arial" panose="02080604020202020204" pitchFamily="34" charset="0"/>
              </a:rPr>
              <a:t>4. DEPARTMENTAL NEWS &amp; NOTICE BOARD</a:t>
            </a:r>
            <a:endParaRPr lang="en-US" sz="1600" b="1" dirty="0">
              <a:solidFill>
                <a:schemeClr val="tx2"/>
              </a:solidFill>
              <a:latin typeface="Arial" panose="02080604020202020204" pitchFamily="34" charset="0"/>
              <a:cs typeface="Arial" panose="02080604020202020204" pitchFamily="34" charset="0"/>
            </a:endParaRPr>
          </a:p>
          <a:p>
            <a:r>
              <a:rPr lang="en-US" dirty="0">
                <a:solidFill>
                  <a:schemeClr val="tx1"/>
                </a:solidFill>
              </a:rPr>
              <a:t>A dedicated departmental news and notice section will allow lecturers to publish announcements, updates, images, and files. Students and lecturers within the department can search posts by title, hashtags, department, or recent updates, while also commenting and interacting with published notices.</a:t>
            </a:r>
            <a:endParaRPr lang="en-US" dirty="0">
              <a:solidFill>
                <a:schemeClr val="tx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14984"/>
            <a:ext cx="12191695" cy="36576"/>
          </a:xfrm>
          <a:prstGeom prst="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82880"/>
            <a:ext cx="822960" cy="685800"/>
          </a:xfrm>
          <a:prstGeom prst="roundRect">
            <a:avLst/>
          </a:prstGeom>
          <a:solidFill>
            <a:srgbClr val="00D4C8"/>
          </a:solid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2000" b="1">
                <a:solidFill>
                  <a:srgbClr val="00336A"/>
                </a:solidFill>
                <a:latin typeface="Calibri"/>
              </a:rPr>
              <a:t>08</a:t>
            </a:r>
            <a:endParaRPr sz="2000" b="1">
              <a:solidFill>
                <a:srgbClr val="00336A"/>
              </a:solidFill>
              <a:latin typeface="Calibri"/>
            </a:endParaRPr>
          </a:p>
        </p:txBody>
      </p:sp>
      <p:sp>
        <p:nvSpPr>
          <p:cNvPr id="6" name="TextBox 5"/>
          <p:cNvSpPr txBox="1"/>
          <p:nvPr/>
        </p:nvSpPr>
        <p:spPr>
          <a:xfrm>
            <a:off x="1325880" y="109728"/>
            <a:ext cx="9601200" cy="584775"/>
          </a:xfrm>
          <a:prstGeom prst="rect">
            <a:avLst/>
          </a:prstGeom>
          <a:noFill/>
        </p:spPr>
        <p:txBody>
          <a:bodyPr wrap="square">
            <a:spAutoFit/>
          </a:bodyPr>
          <a:lstStyle/>
          <a:p>
            <a:r>
              <a:rPr sz="2000" b="1" dirty="0">
                <a:solidFill>
                  <a:srgbClr val="FFFFFF"/>
                </a:solidFill>
                <a:latin typeface="Calibri"/>
              </a:rPr>
              <a:t>Limitations, Future Work &amp; Conclusion</a:t>
            </a:r>
            <a:endParaRPr sz="2000" b="1" dirty="0">
              <a:solidFill>
                <a:srgbClr val="FFFFFF"/>
              </a:solidFill>
              <a:latin typeface="Calibri"/>
            </a:endParaRPr>
          </a:p>
          <a:p>
            <a:r>
              <a:rPr sz="1200" i="1" dirty="0">
                <a:solidFill>
                  <a:srgbClr val="BAE6FD"/>
                </a:solidFill>
                <a:latin typeface="Calibri"/>
              </a:rPr>
              <a:t>System Boundaries, Recommended Technical Roadmap, and Final Research Defense Conclusions</a:t>
            </a:r>
            <a:endParaRPr sz="1200" i="1" dirty="0">
              <a:solidFill>
                <a:srgbClr val="BAE6FD"/>
              </a:solidFill>
              <a:latin typeface="Calibri"/>
            </a:endParaRPr>
          </a:p>
        </p:txBody>
      </p:sp>
      <p:sp>
        <p:nvSpPr>
          <p:cNvPr id="7" name="Rectangle 6"/>
          <p:cNvSpPr/>
          <p:nvPr/>
        </p:nvSpPr>
        <p:spPr>
          <a:xfrm>
            <a:off x="0" y="6537960"/>
            <a:ext cx="12191695" cy="32004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56248"/>
            <a:ext cx="9601200" cy="274320"/>
          </a:xfrm>
          <a:prstGeom prst="rect">
            <a:avLst/>
          </a:prstGeom>
          <a:noFill/>
        </p:spPr>
        <p:txBody>
          <a:bodyPr wrap="none">
            <a:spAutoFit/>
          </a:bodyPr>
          <a:lstStyle/>
          <a:p>
            <a:r>
              <a:rPr sz="850">
                <a:solidFill>
                  <a:srgbClr val="475569"/>
                </a:solidFill>
                <a:latin typeface="Calibri"/>
              </a:rPr>
              <a:t>QCampus Connect | Verified Academic Q&amp;A Forum &amp; Secure Consultation Platform | Case Study: UENR</a:t>
            </a:r>
            <a:endParaRPr sz="850">
              <a:solidFill>
                <a:srgbClr val="475569"/>
              </a:solidFill>
              <a:latin typeface="Calibri"/>
            </a:endParaRPr>
          </a:p>
        </p:txBody>
      </p:sp>
      <p:sp>
        <p:nvSpPr>
          <p:cNvPr id="9" name="TextBox 8"/>
          <p:cNvSpPr txBox="1"/>
          <p:nvPr/>
        </p:nvSpPr>
        <p:spPr>
          <a:xfrm>
            <a:off x="10332720" y="6556248"/>
            <a:ext cx="1463040" cy="274320"/>
          </a:xfrm>
          <a:prstGeom prst="rect">
            <a:avLst/>
          </a:prstGeom>
          <a:noFill/>
        </p:spPr>
        <p:txBody>
          <a:bodyPr wrap="none">
            <a:spAutoFit/>
          </a:bodyPr>
          <a:lstStyle/>
          <a:p>
            <a:pPr algn="r"/>
            <a:r>
              <a:rPr sz="850" b="1">
                <a:solidFill>
                  <a:srgbClr val="00336A"/>
                </a:solidFill>
                <a:latin typeface="Calibri"/>
              </a:rPr>
              <a:t>Slide 08 / 08</a:t>
            </a:r>
            <a:endParaRPr sz="850" b="1">
              <a:solidFill>
                <a:srgbClr val="00336A"/>
              </a:solidFill>
              <a:latin typeface="Calibri"/>
            </a:endParaRPr>
          </a:p>
        </p:txBody>
      </p:sp>
      <p:sp>
        <p:nvSpPr>
          <p:cNvPr id="10" name="Rounded Rectangle 9"/>
          <p:cNvSpPr/>
          <p:nvPr/>
        </p:nvSpPr>
        <p:spPr>
          <a:xfrm>
            <a:off x="457200" y="1234440"/>
            <a:ext cx="5163422" cy="44348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147870" y="1234440"/>
            <a:ext cx="3566160" cy="73152"/>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727" y="1159336"/>
            <a:ext cx="4930952" cy="4483279"/>
          </a:xfrm>
          <a:prstGeom prst="rect">
            <a:avLst/>
          </a:prstGeom>
          <a:noFill/>
        </p:spPr>
        <p:txBody>
          <a:bodyPr wrap="square">
            <a:spAutoFit/>
          </a:bodyPr>
          <a:lstStyle/>
          <a:p>
            <a:r>
              <a:rPr sz="3200" b="1" dirty="0">
                <a:solidFill>
                  <a:srgbClr val="00336A"/>
                </a:solidFill>
                <a:latin typeface="Calibri"/>
              </a:rPr>
              <a:t>⚠️ </a:t>
            </a:r>
            <a:r>
              <a:rPr sz="2000" b="1" dirty="0">
                <a:solidFill>
                  <a:srgbClr val="00336A"/>
                </a:solidFill>
                <a:latin typeface="Calibri"/>
              </a:rPr>
              <a:t>System Constraints</a:t>
            </a:r>
            <a:endParaRPr sz="2000" b="1" dirty="0">
              <a:solidFill>
                <a:srgbClr val="00336A"/>
              </a:solidFill>
              <a:latin typeface="Calibri"/>
            </a:endParaRPr>
          </a:p>
          <a:p>
            <a:r>
              <a:rPr sz="2000" b="1" dirty="0">
                <a:solidFill>
                  <a:srgbClr val="F59E0B"/>
                </a:solidFill>
                <a:latin typeface="Calibri"/>
              </a:rPr>
              <a:t>Current Boundaries</a:t>
            </a:r>
            <a:endParaRPr sz="2000" b="1" dirty="0">
              <a:solidFill>
                <a:srgbClr val="F59E0B"/>
              </a:solidFill>
              <a:latin typeface="Calibri"/>
            </a:endParaRPr>
          </a:p>
          <a:p>
            <a:pPr>
              <a:spcBef>
                <a:spcPts val="400"/>
              </a:spcBef>
            </a:pPr>
            <a:r>
              <a:rPr sz="2000" dirty="0">
                <a:solidFill>
                  <a:srgbClr val="1E293B"/>
                </a:solidFill>
                <a:latin typeface="Calibri"/>
              </a:rPr>
              <a:t>• Single-Node Blockchain: Besu runs in local container; requires multi-node consortium for distributed BFT.
• Browser Storage Limits: </a:t>
            </a:r>
            <a:r>
              <a:rPr sz="2000" dirty="0" err="1">
                <a:solidFill>
                  <a:srgbClr val="1E293B"/>
                </a:solidFill>
                <a:latin typeface="Calibri"/>
              </a:rPr>
              <a:t>IndexedDB</a:t>
            </a:r>
            <a:r>
              <a:rPr sz="2000" dirty="0">
                <a:solidFill>
                  <a:srgbClr val="1E293B"/>
                </a:solidFill>
                <a:latin typeface="Calibri"/>
              </a:rPr>
              <a:t> quotas (50-250MB) may bottleneck large ledger caches.
• Standalone Authentication: Independent user directory; lacks university SAML/SSO link.
• Web-Only Client: Desktop optimized; lacks native mobile application.</a:t>
            </a:r>
            <a:endParaRPr sz="2000" dirty="0">
              <a:solidFill>
                <a:srgbClr val="1E293B"/>
              </a:solidFill>
              <a:latin typeface="Calibri"/>
            </a:endParaRPr>
          </a:p>
        </p:txBody>
      </p:sp>
      <p:sp>
        <p:nvSpPr>
          <p:cNvPr id="16" name="Rounded Rectangle 15"/>
          <p:cNvSpPr/>
          <p:nvPr/>
        </p:nvSpPr>
        <p:spPr>
          <a:xfrm>
            <a:off x="5779207" y="1234440"/>
            <a:ext cx="5925114" cy="443484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58" y="1234440"/>
            <a:ext cx="3566160" cy="73152"/>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3194" y="1314984"/>
            <a:ext cx="5163422" cy="4175502"/>
          </a:xfrm>
          <a:prstGeom prst="rect">
            <a:avLst/>
          </a:prstGeom>
          <a:noFill/>
        </p:spPr>
        <p:txBody>
          <a:bodyPr wrap="square">
            <a:spAutoFit/>
          </a:bodyPr>
          <a:lstStyle/>
          <a:p>
            <a:r>
              <a:rPr sz="3200" b="1" dirty="0">
                <a:solidFill>
                  <a:srgbClr val="00336A"/>
                </a:solidFill>
                <a:latin typeface="Calibri"/>
              </a:rPr>
              <a:t>✅ </a:t>
            </a:r>
            <a:r>
              <a:rPr sz="2400" b="1" dirty="0">
                <a:solidFill>
                  <a:srgbClr val="00336A"/>
                </a:solidFill>
                <a:latin typeface="Calibri"/>
              </a:rPr>
              <a:t>Key Research Conclusions</a:t>
            </a:r>
            <a:endParaRPr sz="2400" b="1" dirty="0">
              <a:solidFill>
                <a:srgbClr val="00336A"/>
              </a:solidFill>
              <a:latin typeface="Calibri"/>
            </a:endParaRPr>
          </a:p>
          <a:p>
            <a:r>
              <a:rPr sz="2000" b="1" dirty="0">
                <a:solidFill>
                  <a:srgbClr val="10B981"/>
                </a:solidFill>
                <a:latin typeface="Calibri"/>
              </a:rPr>
              <a:t>Defense Summary</a:t>
            </a:r>
            <a:endParaRPr sz="2000" b="1" dirty="0">
              <a:solidFill>
                <a:srgbClr val="10B981"/>
              </a:solidFill>
              <a:latin typeface="Calibri"/>
            </a:endParaRPr>
          </a:p>
          <a:p>
            <a:pPr>
              <a:spcBef>
                <a:spcPts val="400"/>
              </a:spcBef>
            </a:pPr>
            <a:r>
              <a:rPr sz="2000" dirty="0">
                <a:solidFill>
                  <a:srgbClr val="1E293B"/>
                </a:solidFill>
                <a:latin typeface="Calibri"/>
              </a:rPr>
              <a:t>• Academic Commons Established: Centralized Q&amp;A forum eliminates office queues and private chat silos.
• Verified Scholarly Authority: Cryptographic badges eradicate fake announcements and rumors.
• Submission Disputes Solved: SHA-256 block timestamps replace easily falsified screenshots.
• Production-Ready Blueprint: 0-error build ready for departmental adoption.</a:t>
            </a:r>
            <a:endParaRPr sz="2000" dirty="0">
              <a:solidFill>
                <a:srgbClr val="1E293B"/>
              </a:solidFill>
              <a:latin typeface="Calibri"/>
            </a:endParaRPr>
          </a:p>
        </p:txBody>
      </p:sp>
      <p:sp>
        <p:nvSpPr>
          <p:cNvPr id="19" name="Rounded Rectangle 18"/>
          <p:cNvSpPr/>
          <p:nvPr/>
        </p:nvSpPr>
        <p:spPr>
          <a:xfrm>
            <a:off x="457200" y="5806440"/>
            <a:ext cx="11247120" cy="594360"/>
          </a:xfrm>
          <a:prstGeom prst="roundRect">
            <a:avLst/>
          </a:prstGeom>
          <a:solidFill>
            <a:srgbClr val="003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7200" y="5806440"/>
            <a:ext cx="91440" cy="594360"/>
          </a:xfrm>
          <a:prstGeom prst="roundRect">
            <a:avLst/>
          </a:prstGeom>
          <a:solidFill>
            <a:srgbClr val="FFC1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52159"/>
            <a:ext cx="10972800" cy="461665"/>
          </a:xfrm>
          <a:prstGeom prst="rect">
            <a:avLst/>
          </a:prstGeom>
          <a:noFill/>
        </p:spPr>
        <p:txBody>
          <a:bodyPr wrap="square">
            <a:spAutoFit/>
          </a:bodyPr>
          <a:lstStyle/>
          <a:p>
            <a:pPr algn="l"/>
            <a:r>
              <a:rPr sz="1200" b="1" dirty="0">
                <a:solidFill>
                  <a:srgbClr val="FFC107"/>
                </a:solidFill>
                <a:latin typeface="Calibri"/>
              </a:rPr>
              <a:t>FINAL TAKEAWAY: </a:t>
            </a:r>
            <a:r>
              <a:rPr sz="1200" dirty="0">
                <a:solidFill>
                  <a:srgbClr val="FFFFFF"/>
                </a:solidFill>
                <a:latin typeface="Calibri"/>
              </a:rPr>
              <a:t>"Fast like social chat. Structured like an academic forum. Trustworthy like a signed paper trail." | Supervisor: Dr. Peter </a:t>
            </a:r>
            <a:r>
              <a:rPr sz="1200" dirty="0" err="1">
                <a:solidFill>
                  <a:srgbClr val="FFFFFF"/>
                </a:solidFill>
                <a:latin typeface="Calibri"/>
              </a:rPr>
              <a:t>Nimbe</a:t>
            </a:r>
            <a:r>
              <a:rPr sz="1200" dirty="0">
                <a:solidFill>
                  <a:srgbClr val="FFFFFF"/>
                </a:solidFill>
                <a:latin typeface="Calibri"/>
              </a:rPr>
              <a:t> (PS001) | Dept. of Computer Science &amp; Informatics | UENR</a:t>
            </a:r>
            <a:endParaRPr sz="1200" dirty="0">
              <a:solidFill>
                <a:srgbClr val="FFFFFF"/>
              </a:solidFill>
              <a:latin typeface="Calibri"/>
            </a:endParaRPr>
          </a:p>
        </p:txBody>
      </p:sp>
      <p:pic>
        <p:nvPicPr>
          <p:cNvPr id="23" name="Picture 22"/>
          <p:cNvPicPr>
            <a:picLocks noChangeAspect="1"/>
          </p:cNvPicPr>
          <p:nvPr/>
        </p:nvPicPr>
        <p:blipFill>
          <a:blip r:embed="rId1"/>
          <a:stretch>
            <a:fillRect/>
          </a:stretch>
        </p:blipFill>
        <p:spPr>
          <a:xfrm>
            <a:off x="11289852" y="57845"/>
            <a:ext cx="860597" cy="860597"/>
          </a:xfrm>
          <a:prstGeom prst="rect">
            <a:avLst/>
          </a:prstGeom>
          <a:solidFill>
            <a:schemeClr val="bg1"/>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19433</Words>
  <Application>WPS Presentation</Application>
  <PresentationFormat>Widescreen</PresentationFormat>
  <Paragraphs>335</Paragraphs>
  <Slides>11</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11</vt:i4>
      </vt:variant>
    </vt:vector>
  </HeadingPairs>
  <TitlesOfParts>
    <vt:vector size="23" baseType="lpstr">
      <vt:lpstr>Arial</vt:lpstr>
      <vt:lpstr>SimSun</vt:lpstr>
      <vt:lpstr>Wingdings</vt:lpstr>
      <vt:lpstr>Arial</vt:lpstr>
      <vt:lpstr>Liberation Sans</vt:lpstr>
      <vt:lpstr>Calibri</vt:lpstr>
      <vt:lpstr>Noto Color Emoji</vt:lpstr>
      <vt:lpstr>Noto Emoji</vt:lpstr>
      <vt:lpstr>Droid Sans Fallback</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demore</cp:lastModifiedBy>
  <cp:revision>6</cp:revision>
  <cp:lastPrinted>2026-09-11T10:15:10Z</cp:lastPrinted>
  <dcterms:created xsi:type="dcterms:W3CDTF">2026-09-11T10:15:10Z</dcterms:created>
  <dcterms:modified xsi:type="dcterms:W3CDTF">2026-09-11T10:15:10Z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
  </property>
  <property fmtid="{D5CDD505-2E9C-101B-9397-08002B2CF9AE}" pid="3" name="KSOProductBuildVer">
    <vt:lpwstr>1033-11.1.0.11723</vt:lpwstr>
  </property>
</Properties>
</file>