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01"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389120" cy="685800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p>
        </p:txBody>
      </p:sp>
      <p:sp>
        <p:nvSpPr>
          <p:cNvPr id="3" name="Rectangle 2"/>
          <p:cNvSpPr/>
          <p:nvPr/>
        </p:nvSpPr>
        <p:spPr>
          <a:xfrm>
            <a:off x="4389120" y="0"/>
            <a:ext cx="73152" cy="685800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Rectangle 3"/>
          <p:cNvSpPr/>
          <p:nvPr/>
        </p:nvSpPr>
        <p:spPr>
          <a:xfrm>
            <a:off x="4462272" y="0"/>
            <a:ext cx="7729423" cy="6858000"/>
          </a:xfrm>
          <a:prstGeom prst="rect">
            <a:avLst/>
          </a:prstGeom>
          <a:solidFill>
            <a:srgbClr val="FA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320040" y="365760"/>
            <a:ext cx="3749039" cy="954107"/>
          </a:xfrm>
          <a:prstGeom prst="rect">
            <a:avLst/>
          </a:prstGeom>
          <a:noFill/>
        </p:spPr>
        <p:txBody>
          <a:bodyPr wrap="square">
            <a:spAutoFit/>
          </a:bodyPr>
          <a:lstStyle/>
          <a:p>
            <a:r>
              <a:rPr sz="1200" b="1">
                <a:solidFill>
                  <a:srgbClr val="FFC107"/>
                </a:solidFill>
                <a:latin typeface="Calibri"/>
              </a:rPr>
              <a:t>UNIVERSITY OF ENERGY AND NATURAL RESOURCES</a:t>
            </a:r>
          </a:p>
          <a:p>
            <a:r>
              <a:rPr sz="1600">
                <a:solidFill>
                  <a:srgbClr val="BAE6FD"/>
                </a:solidFill>
                <a:latin typeface="Calibri"/>
              </a:rPr>
              <a:t>Department of Computer Science &amp; Informatics</a:t>
            </a:r>
          </a:p>
          <a:p>
            <a:r>
              <a:rPr sz="1200" i="1">
                <a:solidFill>
                  <a:srgbClr val="FFFFFF"/>
                </a:solidFill>
                <a:latin typeface="Calibri"/>
              </a:rPr>
              <a:t>B.Sc. Computer Science Final Project</a:t>
            </a:r>
          </a:p>
        </p:txBody>
      </p:sp>
      <p:sp>
        <p:nvSpPr>
          <p:cNvPr id="6" name="Rectangle 5"/>
          <p:cNvSpPr/>
          <p:nvPr/>
        </p:nvSpPr>
        <p:spPr>
          <a:xfrm>
            <a:off x="320040" y="1463040"/>
            <a:ext cx="3749039" cy="18288"/>
          </a:xfrm>
          <a:prstGeom prst="rect">
            <a:avLst/>
          </a:prstGeom>
          <a:solidFill>
            <a:srgbClr val="3FB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320040" y="1600200"/>
            <a:ext cx="3749039" cy="3375283"/>
          </a:xfrm>
          <a:prstGeom prst="rect">
            <a:avLst/>
          </a:prstGeom>
          <a:noFill/>
        </p:spPr>
        <p:txBody>
          <a:bodyPr wrap="square">
            <a:spAutoFit/>
          </a:bodyPr>
          <a:lstStyle/>
          <a:p>
            <a:r>
              <a:rPr sz="1100" b="1" dirty="0">
                <a:solidFill>
                  <a:srgbClr val="FFC107"/>
                </a:solidFill>
                <a:latin typeface="Calibri"/>
              </a:rPr>
              <a:t>PROJECT PRESENTERS:</a:t>
            </a:r>
          </a:p>
          <a:p>
            <a:pPr>
              <a:spcBef>
                <a:spcPts val="800"/>
              </a:spcBef>
            </a:pPr>
            <a:r>
              <a:rPr b="1" dirty="0" err="1">
                <a:solidFill>
                  <a:srgbClr val="FFFFFF"/>
                </a:solidFill>
                <a:latin typeface="Calibri"/>
              </a:rPr>
              <a:t>Korang</a:t>
            </a:r>
            <a:r>
              <a:rPr b="1" dirty="0">
                <a:solidFill>
                  <a:srgbClr val="FFFFFF"/>
                </a:solidFill>
                <a:latin typeface="Calibri"/>
              </a:rPr>
              <a:t> Bright Agyei</a:t>
            </a:r>
          </a:p>
          <a:p>
            <a:r>
              <a:rPr sz="1200" dirty="0">
                <a:solidFill>
                  <a:srgbClr val="3FBEF1"/>
                </a:solidFill>
                <a:latin typeface="Calibri"/>
              </a:rPr>
              <a:t>Index No: UEB3501222</a:t>
            </a:r>
          </a:p>
          <a:p>
            <a:pPr>
              <a:spcBef>
                <a:spcPts val="800"/>
              </a:spcBef>
            </a:pPr>
            <a:r>
              <a:rPr b="1" dirty="0">
                <a:solidFill>
                  <a:srgbClr val="FFFFFF"/>
                </a:solidFill>
                <a:latin typeface="Calibri"/>
              </a:rPr>
              <a:t>Mohammed Idris Adam</a:t>
            </a:r>
          </a:p>
          <a:p>
            <a:r>
              <a:rPr sz="1200" dirty="0">
                <a:solidFill>
                  <a:srgbClr val="3FBEF1"/>
                </a:solidFill>
                <a:latin typeface="Calibri"/>
              </a:rPr>
              <a:t>Index No: UEB3501022</a:t>
            </a:r>
          </a:p>
          <a:p>
            <a:pPr>
              <a:spcBef>
                <a:spcPts val="800"/>
              </a:spcBef>
            </a:pPr>
            <a:r>
              <a:rPr b="1" dirty="0">
                <a:solidFill>
                  <a:srgbClr val="FFFFFF"/>
                </a:solidFill>
                <a:latin typeface="Calibri"/>
              </a:rPr>
              <a:t>Benaiah </a:t>
            </a:r>
            <a:r>
              <a:rPr b="1" dirty="0" err="1">
                <a:solidFill>
                  <a:srgbClr val="FFFFFF"/>
                </a:solidFill>
                <a:latin typeface="Calibri"/>
              </a:rPr>
              <a:t>Amarh</a:t>
            </a:r>
            <a:r>
              <a:rPr b="1" dirty="0">
                <a:solidFill>
                  <a:srgbClr val="FFFFFF"/>
                </a:solidFill>
                <a:latin typeface="Calibri"/>
              </a:rPr>
              <a:t> Anang</a:t>
            </a:r>
          </a:p>
          <a:p>
            <a:r>
              <a:rPr sz="1200" dirty="0">
                <a:solidFill>
                  <a:srgbClr val="3FBEF1"/>
                </a:solidFill>
                <a:latin typeface="Calibri"/>
              </a:rPr>
              <a:t>Index No: UEB3512522</a:t>
            </a:r>
          </a:p>
          <a:p>
            <a:pPr>
              <a:spcBef>
                <a:spcPts val="800"/>
              </a:spcBef>
            </a:pPr>
            <a:r>
              <a:rPr b="1" dirty="0">
                <a:solidFill>
                  <a:srgbClr val="FFFFFF"/>
                </a:solidFill>
                <a:latin typeface="Calibri"/>
              </a:rPr>
              <a:t>Osei Nana Kwaku</a:t>
            </a:r>
          </a:p>
          <a:p>
            <a:r>
              <a:rPr sz="1200" dirty="0">
                <a:solidFill>
                  <a:srgbClr val="3FBEF1"/>
                </a:solidFill>
                <a:latin typeface="Calibri"/>
              </a:rPr>
              <a:t>Index No: UEB3509022</a:t>
            </a:r>
          </a:p>
          <a:p>
            <a:pPr>
              <a:spcBef>
                <a:spcPts val="1600"/>
              </a:spcBef>
            </a:pPr>
            <a:r>
              <a:rPr sz="1100" b="1" dirty="0">
                <a:solidFill>
                  <a:srgbClr val="FFC107"/>
                </a:solidFill>
                <a:latin typeface="Calibri"/>
              </a:rPr>
              <a:t>SUPERVISOR:
</a:t>
            </a:r>
            <a:r>
              <a:rPr b="1" dirty="0">
                <a:solidFill>
                  <a:srgbClr val="FFFFFF"/>
                </a:solidFill>
                <a:latin typeface="Calibri"/>
              </a:rPr>
              <a:t>Dr. Peter </a:t>
            </a:r>
            <a:r>
              <a:rPr b="1" dirty="0" err="1">
                <a:solidFill>
                  <a:srgbClr val="FFFFFF"/>
                </a:solidFill>
                <a:latin typeface="Calibri"/>
              </a:rPr>
              <a:t>Nimbe</a:t>
            </a:r>
            <a:r>
              <a:rPr b="1" dirty="0">
                <a:solidFill>
                  <a:srgbClr val="FFFFFF"/>
                </a:solidFill>
                <a:latin typeface="Calibri"/>
              </a:rPr>
              <a:t> </a:t>
            </a:r>
          </a:p>
        </p:txBody>
      </p:sp>
      <p:sp>
        <p:nvSpPr>
          <p:cNvPr id="8" name="TextBox 7"/>
          <p:cNvSpPr txBox="1"/>
          <p:nvPr/>
        </p:nvSpPr>
        <p:spPr>
          <a:xfrm>
            <a:off x="4846320" y="731520"/>
            <a:ext cx="6858000" cy="2426305"/>
          </a:xfrm>
          <a:prstGeom prst="rect">
            <a:avLst/>
          </a:prstGeom>
          <a:noFill/>
        </p:spPr>
        <p:txBody>
          <a:bodyPr wrap="square">
            <a:spAutoFit/>
          </a:bodyPr>
          <a:lstStyle/>
          <a:p>
            <a:r>
              <a:rPr sz="1600" b="1" dirty="0">
                <a:solidFill>
                  <a:srgbClr val="1E90FF"/>
                </a:solidFill>
                <a:latin typeface="Calibri"/>
              </a:rPr>
              <a:t>ACADEMIC Q&amp;A &amp; SECURE CONSULTATION PLATFORM</a:t>
            </a:r>
          </a:p>
          <a:p>
            <a:pPr>
              <a:spcBef>
                <a:spcPts val="600"/>
              </a:spcBef>
            </a:pPr>
            <a:r>
              <a:rPr sz="4800" b="1" dirty="0" err="1">
                <a:solidFill>
                  <a:srgbClr val="00336A"/>
                </a:solidFill>
                <a:latin typeface="Calibri"/>
              </a:rPr>
              <a:t>QCampus</a:t>
            </a:r>
            <a:r>
              <a:rPr sz="4800" b="1" dirty="0">
                <a:solidFill>
                  <a:srgbClr val="00336A"/>
                </a:solidFill>
                <a:latin typeface="Calibri"/>
              </a:rPr>
              <a:t> Connect</a:t>
            </a:r>
          </a:p>
          <a:p>
            <a:pPr>
              <a:spcBef>
                <a:spcPts val="400"/>
              </a:spcBef>
            </a:pPr>
            <a:r>
              <a:rPr sz="2000" b="1" dirty="0">
                <a:solidFill>
                  <a:srgbClr val="1E293B"/>
                </a:solidFill>
                <a:latin typeface="Calibri"/>
              </a:rPr>
              <a:t>A Verified Academic Q&amp;A Forum &amp; Secure Consultation Platform for Higher Education</a:t>
            </a:r>
          </a:p>
          <a:p>
            <a:pPr>
              <a:spcBef>
                <a:spcPts val="400"/>
              </a:spcBef>
            </a:pPr>
            <a:r>
              <a:rPr i="1" dirty="0">
                <a:solidFill>
                  <a:srgbClr val="475569"/>
                </a:solidFill>
                <a:latin typeface="Calibri"/>
              </a:rPr>
              <a:t>Institutional Case Study &amp; Pilot Deployment: University of Energy and Natural Resources (UENR)</a:t>
            </a:r>
          </a:p>
        </p:txBody>
      </p:sp>
      <p:sp>
        <p:nvSpPr>
          <p:cNvPr id="9" name="Rounded Rectangle 8"/>
          <p:cNvSpPr/>
          <p:nvPr/>
        </p:nvSpPr>
        <p:spPr>
          <a:xfrm>
            <a:off x="4846320" y="3840480"/>
            <a:ext cx="329184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Rounded Rectangle 9"/>
          <p:cNvSpPr/>
          <p:nvPr/>
        </p:nvSpPr>
        <p:spPr>
          <a:xfrm>
            <a:off x="4846320" y="3840480"/>
            <a:ext cx="73152" cy="114300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4983480" y="3913632"/>
            <a:ext cx="3063240" cy="702756"/>
          </a:xfrm>
          <a:prstGeom prst="rect">
            <a:avLst/>
          </a:prstGeom>
          <a:noFill/>
        </p:spPr>
        <p:txBody>
          <a:bodyPr wrap="square">
            <a:spAutoFit/>
          </a:bodyPr>
          <a:lstStyle/>
          <a:p>
            <a:r>
              <a:rPr sz="1600" b="1" dirty="0">
                <a:solidFill>
                  <a:srgbClr val="00336A"/>
                </a:solidFill>
                <a:latin typeface="Calibri"/>
              </a:rPr>
              <a:t>🏛️ Verified Academic Forum</a:t>
            </a:r>
          </a:p>
          <a:p>
            <a:pPr>
              <a:spcBef>
                <a:spcPts val="200"/>
              </a:spcBef>
            </a:pPr>
            <a:r>
              <a:rPr sz="1100" dirty="0">
                <a:solidFill>
                  <a:srgbClr val="475569"/>
                </a:solidFill>
                <a:latin typeface="Calibri"/>
              </a:rPr>
              <a:t>Public departmental discussions &amp; faculty Q&amp;A exchange</a:t>
            </a:r>
          </a:p>
        </p:txBody>
      </p:sp>
      <p:sp>
        <p:nvSpPr>
          <p:cNvPr id="12" name="Rounded Rectangle 11"/>
          <p:cNvSpPr/>
          <p:nvPr/>
        </p:nvSpPr>
        <p:spPr>
          <a:xfrm>
            <a:off x="8321040" y="3840480"/>
            <a:ext cx="329184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Rounded Rectangle 12"/>
          <p:cNvSpPr/>
          <p:nvPr/>
        </p:nvSpPr>
        <p:spPr>
          <a:xfrm>
            <a:off x="8321040" y="3840480"/>
            <a:ext cx="73152" cy="1143000"/>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8458200" y="3913632"/>
            <a:ext cx="3063240" cy="702756"/>
          </a:xfrm>
          <a:prstGeom prst="rect">
            <a:avLst/>
          </a:prstGeom>
          <a:noFill/>
        </p:spPr>
        <p:txBody>
          <a:bodyPr wrap="square">
            <a:spAutoFit/>
          </a:bodyPr>
          <a:lstStyle/>
          <a:p>
            <a:r>
              <a:rPr sz="1600" b="1">
                <a:solidFill>
                  <a:srgbClr val="00336A"/>
                </a:solidFill>
                <a:latin typeface="Calibri"/>
              </a:rPr>
              <a:t>🛡️ Identity &amp; Field Badges</a:t>
            </a:r>
          </a:p>
          <a:p>
            <a:pPr>
              <a:spcBef>
                <a:spcPts val="200"/>
              </a:spcBef>
            </a:pPr>
            <a:r>
              <a:rPr sz="1100">
                <a:solidFill>
                  <a:srgbClr val="475569"/>
                </a:solidFill>
                <a:latin typeface="Calibri"/>
              </a:rPr>
              <a:t>Institutional credentials &amp; specialization authority (CS, Crypto)</a:t>
            </a:r>
          </a:p>
        </p:txBody>
      </p:sp>
      <p:sp>
        <p:nvSpPr>
          <p:cNvPr id="15" name="Rounded Rectangle 14"/>
          <p:cNvSpPr/>
          <p:nvPr/>
        </p:nvSpPr>
        <p:spPr>
          <a:xfrm>
            <a:off x="4846320" y="5120640"/>
            <a:ext cx="329184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Rounded Rectangle 15"/>
          <p:cNvSpPr/>
          <p:nvPr/>
        </p:nvSpPr>
        <p:spPr>
          <a:xfrm>
            <a:off x="4846320" y="5120640"/>
            <a:ext cx="73152" cy="11430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4983480" y="5193792"/>
            <a:ext cx="3063240" cy="702756"/>
          </a:xfrm>
          <a:prstGeom prst="rect">
            <a:avLst/>
          </a:prstGeom>
          <a:noFill/>
        </p:spPr>
        <p:txBody>
          <a:bodyPr wrap="square">
            <a:spAutoFit/>
          </a:bodyPr>
          <a:lstStyle/>
          <a:p>
            <a:r>
              <a:rPr sz="1600" b="1">
                <a:solidFill>
                  <a:srgbClr val="00336A"/>
                </a:solidFill>
                <a:latin typeface="Calibri"/>
              </a:rPr>
              <a:t>💬 Encrypted Consultation</a:t>
            </a:r>
          </a:p>
          <a:p>
            <a:pPr>
              <a:spcBef>
                <a:spcPts val="200"/>
              </a:spcBef>
            </a:pPr>
            <a:r>
              <a:rPr sz="1100">
                <a:solidFill>
                  <a:srgbClr val="475569"/>
                </a:solidFill>
                <a:latin typeface="Calibri"/>
              </a:rPr>
              <a:t>Private 1-on-1 follow-up messaging (RSA-2048 + AES-256)</a:t>
            </a:r>
          </a:p>
        </p:txBody>
      </p:sp>
      <p:sp>
        <p:nvSpPr>
          <p:cNvPr id="18" name="Rounded Rectangle 17"/>
          <p:cNvSpPr/>
          <p:nvPr/>
        </p:nvSpPr>
        <p:spPr>
          <a:xfrm>
            <a:off x="8321040" y="5120640"/>
            <a:ext cx="329184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Rounded Rectangle 18"/>
          <p:cNvSpPr/>
          <p:nvPr/>
        </p:nvSpPr>
        <p:spPr>
          <a:xfrm>
            <a:off x="8321040" y="5120640"/>
            <a:ext cx="73152" cy="11430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8458200" y="5193792"/>
            <a:ext cx="3063240" cy="702756"/>
          </a:xfrm>
          <a:prstGeom prst="rect">
            <a:avLst/>
          </a:prstGeom>
          <a:noFill/>
        </p:spPr>
        <p:txBody>
          <a:bodyPr wrap="square">
            <a:spAutoFit/>
          </a:bodyPr>
          <a:lstStyle/>
          <a:p>
            <a:r>
              <a:rPr sz="1600" b="1">
                <a:solidFill>
                  <a:srgbClr val="00336A"/>
                </a:solidFill>
                <a:latin typeface="Calibri"/>
              </a:rPr>
              <a:t>⛓️ Immutable Blockchain Proof</a:t>
            </a:r>
          </a:p>
          <a:p>
            <a:pPr>
              <a:spcBef>
                <a:spcPts val="200"/>
              </a:spcBef>
            </a:pPr>
            <a:r>
              <a:rPr sz="1100">
                <a:solidFill>
                  <a:srgbClr val="475569"/>
                </a:solidFill>
                <a:latin typeface="Calibri"/>
              </a:rPr>
              <a:t>Zero-gas Hyperledger Besu audit trail for non-repudiation</a:t>
            </a:r>
          </a:p>
        </p:txBody>
      </p:sp>
      <p:sp>
        <p:nvSpPr>
          <p:cNvPr id="21" name="TextBox 20"/>
          <p:cNvSpPr txBox="1"/>
          <p:nvPr/>
        </p:nvSpPr>
        <p:spPr>
          <a:xfrm>
            <a:off x="4846320" y="6217920"/>
            <a:ext cx="4929555" cy="276999"/>
          </a:xfrm>
          <a:prstGeom prst="rect">
            <a:avLst/>
          </a:prstGeom>
          <a:noFill/>
        </p:spPr>
        <p:txBody>
          <a:bodyPr wrap="none">
            <a:spAutoFit/>
          </a:bodyPr>
          <a:lstStyle/>
          <a:p>
            <a:r>
              <a:rPr sz="1200" b="1">
                <a:solidFill>
                  <a:srgbClr val="475569"/>
                </a:solidFill>
                <a:latin typeface="Calibri"/>
              </a:rPr>
              <a:t>September 2026 | Department of Computer Science &amp; Informatics | UENR</a:t>
            </a:r>
          </a:p>
        </p:txBody>
      </p:sp>
      <p:pic>
        <p:nvPicPr>
          <p:cNvPr id="23" name="Picture 22">
            <a:extLst>
              <a:ext uri="{FF2B5EF4-FFF2-40B4-BE49-F238E27FC236}">
                <a16:creationId xmlns:a16="http://schemas.microsoft.com/office/drawing/2014/main" id="{372ABCE2-2AFD-382A-670C-BF8D08B4BF07}"/>
              </a:ext>
            </a:extLst>
          </p:cNvPr>
          <p:cNvPicPr>
            <a:picLocks noChangeAspect="1"/>
          </p:cNvPicPr>
          <p:nvPr/>
        </p:nvPicPr>
        <p:blipFill>
          <a:blip r:embed="rId2"/>
          <a:stretch>
            <a:fillRect/>
          </a:stretch>
        </p:blipFill>
        <p:spPr>
          <a:xfrm>
            <a:off x="7355387" y="-40762"/>
            <a:ext cx="860597" cy="860597"/>
          </a:xfrm>
          <a:prstGeom prst="rect">
            <a:avLst/>
          </a:prstGeom>
        </p:spPr>
      </p:pic>
      <p:pic>
        <p:nvPicPr>
          <p:cNvPr id="25" name="Picture 24">
            <a:extLst>
              <a:ext uri="{FF2B5EF4-FFF2-40B4-BE49-F238E27FC236}">
                <a16:creationId xmlns:a16="http://schemas.microsoft.com/office/drawing/2014/main" id="{83C2D359-C0CC-7655-5947-23E2949BB276}"/>
              </a:ext>
            </a:extLst>
          </p:cNvPr>
          <p:cNvPicPr>
            <a:picLocks noChangeAspect="1"/>
          </p:cNvPicPr>
          <p:nvPr/>
        </p:nvPicPr>
        <p:blipFill>
          <a:blip r:embed="rId3"/>
          <a:stretch>
            <a:fillRect/>
          </a:stretch>
        </p:blipFill>
        <p:spPr>
          <a:xfrm>
            <a:off x="8046720" y="0"/>
            <a:ext cx="902492" cy="819836"/>
          </a:xfrm>
          <a:prstGeom prst="rect">
            <a:avLst/>
          </a:prstGeom>
        </p:spPr>
      </p:pic>
      <p:sp>
        <p:nvSpPr>
          <p:cNvPr id="29" name="TextBox 28">
            <a:extLst>
              <a:ext uri="{FF2B5EF4-FFF2-40B4-BE49-F238E27FC236}">
                <a16:creationId xmlns:a16="http://schemas.microsoft.com/office/drawing/2014/main" id="{B5893605-57AC-DE0A-EABA-70CCE011C671}"/>
              </a:ext>
            </a:extLst>
          </p:cNvPr>
          <p:cNvSpPr txBox="1"/>
          <p:nvPr/>
        </p:nvSpPr>
        <p:spPr>
          <a:xfrm>
            <a:off x="320040" y="5896873"/>
            <a:ext cx="3063240" cy="733534"/>
          </a:xfrm>
          <a:prstGeom prst="rect">
            <a:avLst/>
          </a:prstGeom>
          <a:noFill/>
        </p:spPr>
        <p:txBody>
          <a:bodyPr wrap="square">
            <a:spAutoFit/>
          </a:bodyPr>
          <a:lstStyle/>
          <a:p>
            <a:pPr>
              <a:spcBef>
                <a:spcPts val="200"/>
              </a:spcBef>
            </a:pPr>
            <a:r>
              <a:rPr lang="en-US" sz="2000" b="1" dirty="0">
                <a:solidFill>
                  <a:schemeClr val="bg1"/>
                </a:solidFill>
                <a:latin typeface="Calibri"/>
              </a:rPr>
              <a:t>COMP 450</a:t>
            </a:r>
            <a:endParaRPr lang="en-US" sz="2000" b="1" dirty="0">
              <a:solidFill>
                <a:schemeClr val="bg1"/>
              </a:solidFill>
            </a:endParaRPr>
          </a:p>
          <a:p>
            <a:pPr>
              <a:spcBef>
                <a:spcPts val="200"/>
              </a:spcBef>
            </a:pPr>
            <a:r>
              <a:rPr lang="en-US" sz="2000" dirty="0">
                <a:solidFill>
                  <a:schemeClr val="bg1"/>
                </a:solidFill>
                <a:latin typeface="Calibri"/>
              </a:rPr>
              <a:t>FINAL RESEARCH PROJECT</a:t>
            </a:r>
            <a:endParaRPr sz="2000" dirty="0">
              <a:solidFill>
                <a:schemeClr val="bg1"/>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3600" b="1">
                <a:solidFill>
                  <a:srgbClr val="00336A"/>
                </a:solidFill>
                <a:latin typeface="Calibri"/>
              </a:rPr>
              <a:t>TOC</a:t>
            </a:r>
          </a:p>
        </p:txBody>
      </p:sp>
      <p:sp>
        <p:nvSpPr>
          <p:cNvPr id="6" name="TextBox 5"/>
          <p:cNvSpPr txBox="1"/>
          <p:nvPr/>
        </p:nvSpPr>
        <p:spPr>
          <a:xfrm>
            <a:off x="1325880" y="109728"/>
            <a:ext cx="9601200" cy="923330"/>
          </a:xfrm>
          <a:prstGeom prst="rect">
            <a:avLst/>
          </a:prstGeom>
          <a:noFill/>
        </p:spPr>
        <p:txBody>
          <a:bodyPr wrap="square">
            <a:spAutoFit/>
          </a:bodyPr>
          <a:lstStyle/>
          <a:p>
            <a:r>
              <a:rPr sz="3600" b="1">
                <a:solidFill>
                  <a:srgbClr val="FFFFFF"/>
                </a:solidFill>
                <a:latin typeface="Calibri"/>
              </a:rPr>
              <a:t>Table of Contents</a:t>
            </a:r>
          </a:p>
          <a:p>
            <a:r>
              <a:rPr i="1">
                <a:solidFill>
                  <a:srgbClr val="BAE6FD"/>
                </a:solidFill>
                <a:latin typeface="Calibri"/>
              </a:rPr>
              <a:t>Executive Overview of Presentation Structure (8 Core Topics)</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 name="TextBox 7"/>
          <p:cNvSpPr txBox="1"/>
          <p:nvPr/>
        </p:nvSpPr>
        <p:spPr>
          <a:xfrm>
            <a:off x="365760" y="6556248"/>
            <a:ext cx="6102953" cy="261610"/>
          </a:xfrm>
          <a:prstGeom prst="rect">
            <a:avLst/>
          </a:prstGeom>
          <a:noFill/>
        </p:spPr>
        <p:txBody>
          <a:bodyPr wrap="none">
            <a:spAutoFit/>
          </a:bodyPr>
          <a:lstStyle/>
          <a:p>
            <a:r>
              <a:rPr sz="1100">
                <a:solidFill>
                  <a:srgbClr val="475569"/>
                </a:solidFill>
                <a:latin typeface="Calibri"/>
              </a:rPr>
              <a:t>QCampus Connect | Verified Academic Q&amp;A Forum &amp; Secure Consultation Platform | Case Study: UENR</a:t>
            </a:r>
          </a:p>
        </p:txBody>
      </p:sp>
      <p:sp>
        <p:nvSpPr>
          <p:cNvPr id="9" name="TextBox 8"/>
          <p:cNvSpPr txBox="1"/>
          <p:nvPr/>
        </p:nvSpPr>
        <p:spPr>
          <a:xfrm>
            <a:off x="10783945" y="6556248"/>
            <a:ext cx="1011815" cy="261610"/>
          </a:xfrm>
          <a:prstGeom prst="rect">
            <a:avLst/>
          </a:prstGeom>
          <a:noFill/>
        </p:spPr>
        <p:txBody>
          <a:bodyPr wrap="none">
            <a:spAutoFit/>
          </a:bodyPr>
          <a:lstStyle/>
          <a:p>
            <a:pPr algn="r"/>
            <a:r>
              <a:rPr sz="1100" b="1">
                <a:solidFill>
                  <a:srgbClr val="00336A"/>
                </a:solidFill>
                <a:latin typeface="Calibri"/>
              </a:rPr>
              <a:t>Slide TOC / 08</a:t>
            </a:r>
          </a:p>
        </p:txBody>
      </p:sp>
      <p:sp>
        <p:nvSpPr>
          <p:cNvPr id="10" name="Rounded Rectangle 9"/>
          <p:cNvSpPr/>
          <p:nvPr/>
        </p:nvSpPr>
        <p:spPr>
          <a:xfrm>
            <a:off x="548640" y="1325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 name="Rounded Rectangle 10"/>
          <p:cNvSpPr/>
          <p:nvPr/>
        </p:nvSpPr>
        <p:spPr>
          <a:xfrm>
            <a:off x="685800" y="1490472"/>
            <a:ext cx="68580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01</a:t>
            </a:r>
          </a:p>
        </p:txBody>
      </p:sp>
      <p:sp>
        <p:nvSpPr>
          <p:cNvPr id="12" name="TextBox 11"/>
          <p:cNvSpPr txBox="1"/>
          <p:nvPr/>
        </p:nvSpPr>
        <p:spPr>
          <a:xfrm>
            <a:off x="1508760" y="1417320"/>
            <a:ext cx="4297680" cy="733534"/>
          </a:xfrm>
          <a:prstGeom prst="rect">
            <a:avLst/>
          </a:prstGeom>
          <a:noFill/>
        </p:spPr>
        <p:txBody>
          <a:bodyPr wrap="square">
            <a:spAutoFit/>
          </a:bodyPr>
          <a:lstStyle/>
          <a:p>
            <a:r>
              <a:rPr sz="1600" b="1" dirty="0">
                <a:solidFill>
                  <a:srgbClr val="00336A"/>
                </a:solidFill>
                <a:latin typeface="Calibri"/>
              </a:rPr>
              <a:t>Background &amp; Academic Reality in Higher Ed</a:t>
            </a:r>
          </a:p>
          <a:p>
            <a:pPr>
              <a:spcBef>
                <a:spcPts val="200"/>
              </a:spcBef>
            </a:pPr>
            <a:r>
              <a:rPr sz="1200" dirty="0">
                <a:solidFill>
                  <a:srgbClr val="475569"/>
                </a:solidFill>
                <a:latin typeface="Calibri"/>
              </a:rPr>
              <a:t>The missing academic commons, campus bottlenecks &amp; informal channel failure</a:t>
            </a:r>
          </a:p>
        </p:txBody>
      </p:sp>
      <p:sp>
        <p:nvSpPr>
          <p:cNvPr id="13" name="Rounded Rectangle 12"/>
          <p:cNvSpPr/>
          <p:nvPr/>
        </p:nvSpPr>
        <p:spPr>
          <a:xfrm>
            <a:off x="548640" y="2468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Rounded Rectangle 13"/>
          <p:cNvSpPr/>
          <p:nvPr/>
        </p:nvSpPr>
        <p:spPr>
          <a:xfrm>
            <a:off x="685800" y="2633472"/>
            <a:ext cx="68580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02</a:t>
            </a:r>
          </a:p>
        </p:txBody>
      </p:sp>
      <p:sp>
        <p:nvSpPr>
          <p:cNvPr id="15" name="TextBox 14"/>
          <p:cNvSpPr txBox="1"/>
          <p:nvPr/>
        </p:nvSpPr>
        <p:spPr>
          <a:xfrm>
            <a:off x="1508760" y="2560320"/>
            <a:ext cx="4297680" cy="733534"/>
          </a:xfrm>
          <a:prstGeom prst="rect">
            <a:avLst/>
          </a:prstGeom>
          <a:noFill/>
        </p:spPr>
        <p:txBody>
          <a:bodyPr wrap="square">
            <a:spAutoFit/>
          </a:bodyPr>
          <a:lstStyle/>
          <a:p>
            <a:r>
              <a:rPr sz="1600" b="1" dirty="0">
                <a:solidFill>
                  <a:srgbClr val="00336A"/>
                </a:solidFill>
                <a:latin typeface="Calibri"/>
              </a:rPr>
              <a:t>Problem Statement &amp; Communication Gaps</a:t>
            </a:r>
          </a:p>
          <a:p>
            <a:pPr>
              <a:spcBef>
                <a:spcPts val="200"/>
              </a:spcBef>
            </a:pPr>
            <a:r>
              <a:rPr sz="1200" dirty="0">
                <a:solidFill>
                  <a:srgbClr val="475569"/>
                </a:solidFill>
                <a:latin typeface="Calibri"/>
              </a:rPr>
              <a:t>Academic isolation, unverified advice, redundant faculty workload &amp; mutable logs</a:t>
            </a:r>
          </a:p>
        </p:txBody>
      </p:sp>
      <p:sp>
        <p:nvSpPr>
          <p:cNvPr id="16" name="Rounded Rectangle 15"/>
          <p:cNvSpPr/>
          <p:nvPr/>
        </p:nvSpPr>
        <p:spPr>
          <a:xfrm>
            <a:off x="548640" y="3611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Rounded Rectangle 16"/>
          <p:cNvSpPr/>
          <p:nvPr/>
        </p:nvSpPr>
        <p:spPr>
          <a:xfrm>
            <a:off x="685800" y="3776472"/>
            <a:ext cx="68580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03</a:t>
            </a:r>
          </a:p>
        </p:txBody>
      </p:sp>
      <p:sp>
        <p:nvSpPr>
          <p:cNvPr id="18" name="TextBox 17"/>
          <p:cNvSpPr txBox="1"/>
          <p:nvPr/>
        </p:nvSpPr>
        <p:spPr>
          <a:xfrm>
            <a:off x="1508760" y="3703320"/>
            <a:ext cx="4297680" cy="733534"/>
          </a:xfrm>
          <a:prstGeom prst="rect">
            <a:avLst/>
          </a:prstGeom>
          <a:noFill/>
        </p:spPr>
        <p:txBody>
          <a:bodyPr wrap="square">
            <a:spAutoFit/>
          </a:bodyPr>
          <a:lstStyle/>
          <a:p>
            <a:r>
              <a:rPr sz="1600" b="1" dirty="0">
                <a:solidFill>
                  <a:srgbClr val="00336A"/>
                </a:solidFill>
                <a:latin typeface="Calibri"/>
              </a:rPr>
              <a:t>Aim &amp; Specific Research Objectives</a:t>
            </a:r>
          </a:p>
          <a:p>
            <a:pPr>
              <a:spcBef>
                <a:spcPts val="200"/>
              </a:spcBef>
            </a:pPr>
            <a:r>
              <a:rPr sz="1200" dirty="0">
                <a:solidFill>
                  <a:srgbClr val="475569"/>
                </a:solidFill>
                <a:latin typeface="Calibri"/>
              </a:rPr>
              <a:t>Institutional Q&amp;A forum, authority badging, encrypted DMs &amp; Besu audit trail</a:t>
            </a:r>
          </a:p>
        </p:txBody>
      </p:sp>
      <p:sp>
        <p:nvSpPr>
          <p:cNvPr id="19" name="Rounded Rectangle 18"/>
          <p:cNvSpPr/>
          <p:nvPr/>
        </p:nvSpPr>
        <p:spPr>
          <a:xfrm>
            <a:off x="548640" y="4754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0" name="Rounded Rectangle 19"/>
          <p:cNvSpPr/>
          <p:nvPr/>
        </p:nvSpPr>
        <p:spPr>
          <a:xfrm>
            <a:off x="685800" y="4919472"/>
            <a:ext cx="68580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04</a:t>
            </a:r>
          </a:p>
        </p:txBody>
      </p:sp>
      <p:sp>
        <p:nvSpPr>
          <p:cNvPr id="21" name="TextBox 20"/>
          <p:cNvSpPr txBox="1"/>
          <p:nvPr/>
        </p:nvSpPr>
        <p:spPr>
          <a:xfrm>
            <a:off x="1508760" y="4846320"/>
            <a:ext cx="4297680" cy="733534"/>
          </a:xfrm>
          <a:prstGeom prst="rect">
            <a:avLst/>
          </a:prstGeom>
          <a:noFill/>
        </p:spPr>
        <p:txBody>
          <a:bodyPr wrap="square">
            <a:spAutoFit/>
          </a:bodyPr>
          <a:lstStyle/>
          <a:p>
            <a:r>
              <a:rPr sz="1600" b="1" dirty="0">
                <a:solidFill>
                  <a:srgbClr val="00336A"/>
                </a:solidFill>
                <a:latin typeface="Calibri"/>
              </a:rPr>
              <a:t>Related Work &amp; Platform Comparison</a:t>
            </a:r>
          </a:p>
          <a:p>
            <a:pPr>
              <a:spcBef>
                <a:spcPts val="200"/>
              </a:spcBef>
            </a:pPr>
            <a:r>
              <a:rPr sz="1200" dirty="0">
                <a:solidFill>
                  <a:srgbClr val="475569"/>
                </a:solidFill>
                <a:latin typeface="Calibri"/>
              </a:rPr>
              <a:t>Comparative analysis: Reddit, WhatsApp, Moodle, Slack vs </a:t>
            </a:r>
            <a:r>
              <a:rPr sz="1200" dirty="0" err="1">
                <a:solidFill>
                  <a:srgbClr val="475569"/>
                </a:solidFill>
                <a:latin typeface="Calibri"/>
              </a:rPr>
              <a:t>QCampus</a:t>
            </a:r>
            <a:r>
              <a:rPr sz="1200" dirty="0">
                <a:solidFill>
                  <a:srgbClr val="475569"/>
                </a:solidFill>
                <a:latin typeface="Calibri"/>
              </a:rPr>
              <a:t> Connect</a:t>
            </a:r>
          </a:p>
        </p:txBody>
      </p:sp>
      <p:sp>
        <p:nvSpPr>
          <p:cNvPr id="22" name="Rounded Rectangle 21"/>
          <p:cNvSpPr/>
          <p:nvPr/>
        </p:nvSpPr>
        <p:spPr>
          <a:xfrm>
            <a:off x="6217920" y="1325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Rounded Rectangle 22"/>
          <p:cNvSpPr/>
          <p:nvPr/>
        </p:nvSpPr>
        <p:spPr>
          <a:xfrm>
            <a:off x="6355080" y="1490472"/>
            <a:ext cx="685800" cy="6858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05</a:t>
            </a:r>
          </a:p>
        </p:txBody>
      </p:sp>
      <p:sp>
        <p:nvSpPr>
          <p:cNvPr id="24" name="TextBox 23"/>
          <p:cNvSpPr txBox="1"/>
          <p:nvPr/>
        </p:nvSpPr>
        <p:spPr>
          <a:xfrm>
            <a:off x="7178040" y="1417320"/>
            <a:ext cx="4297680" cy="733534"/>
          </a:xfrm>
          <a:prstGeom prst="rect">
            <a:avLst/>
          </a:prstGeom>
          <a:noFill/>
        </p:spPr>
        <p:txBody>
          <a:bodyPr wrap="square">
            <a:spAutoFit/>
          </a:bodyPr>
          <a:lstStyle/>
          <a:p>
            <a:r>
              <a:rPr sz="1600" b="1" dirty="0">
                <a:solidFill>
                  <a:srgbClr val="00336A"/>
                </a:solidFill>
                <a:latin typeface="Calibri"/>
              </a:rPr>
              <a:t>Methodology &amp; System Architecture</a:t>
            </a:r>
          </a:p>
          <a:p>
            <a:pPr>
              <a:spcBef>
                <a:spcPts val="200"/>
              </a:spcBef>
            </a:pPr>
            <a:r>
              <a:rPr sz="1200" dirty="0">
                <a:solidFill>
                  <a:srgbClr val="475569"/>
                </a:solidFill>
                <a:latin typeface="Calibri"/>
              </a:rPr>
              <a:t>3-tier hybrid enterprise stack: React 19 SPA, Convex real-time &amp; Hyperledger Besu</a:t>
            </a:r>
          </a:p>
        </p:txBody>
      </p:sp>
      <p:sp>
        <p:nvSpPr>
          <p:cNvPr id="25" name="Rounded Rectangle 24"/>
          <p:cNvSpPr/>
          <p:nvPr/>
        </p:nvSpPr>
        <p:spPr>
          <a:xfrm>
            <a:off x="6217920" y="2468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Rounded Rectangle 25"/>
          <p:cNvSpPr/>
          <p:nvPr/>
        </p:nvSpPr>
        <p:spPr>
          <a:xfrm>
            <a:off x="6355080" y="2633472"/>
            <a:ext cx="685800" cy="6858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06</a:t>
            </a:r>
          </a:p>
        </p:txBody>
      </p:sp>
      <p:sp>
        <p:nvSpPr>
          <p:cNvPr id="27" name="TextBox 26"/>
          <p:cNvSpPr txBox="1"/>
          <p:nvPr/>
        </p:nvSpPr>
        <p:spPr>
          <a:xfrm>
            <a:off x="7178040" y="2560320"/>
            <a:ext cx="4297680" cy="733534"/>
          </a:xfrm>
          <a:prstGeom prst="rect">
            <a:avLst/>
          </a:prstGeom>
          <a:noFill/>
        </p:spPr>
        <p:txBody>
          <a:bodyPr wrap="square">
            <a:spAutoFit/>
          </a:bodyPr>
          <a:lstStyle/>
          <a:p>
            <a:r>
              <a:rPr sz="1600" b="1" dirty="0">
                <a:solidFill>
                  <a:srgbClr val="00336A"/>
                </a:solidFill>
                <a:latin typeface="Calibri"/>
              </a:rPr>
              <a:t>Academic Q&amp;A &amp; Identity Audit Workflow</a:t>
            </a:r>
          </a:p>
          <a:p>
            <a:pPr>
              <a:spcBef>
                <a:spcPts val="200"/>
              </a:spcBef>
            </a:pPr>
            <a:r>
              <a:rPr sz="1200" dirty="0">
                <a:solidFill>
                  <a:srgbClr val="475569"/>
                </a:solidFill>
                <a:latin typeface="Calibri"/>
              </a:rPr>
              <a:t>6-step end-to-end verification lifecycle: classification, badging, DM &amp; ledger audit</a:t>
            </a:r>
          </a:p>
        </p:txBody>
      </p:sp>
      <p:sp>
        <p:nvSpPr>
          <p:cNvPr id="28" name="Rounded Rectangle 27"/>
          <p:cNvSpPr/>
          <p:nvPr/>
        </p:nvSpPr>
        <p:spPr>
          <a:xfrm>
            <a:off x="6217920" y="3611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Rounded Rectangle 28"/>
          <p:cNvSpPr/>
          <p:nvPr/>
        </p:nvSpPr>
        <p:spPr>
          <a:xfrm>
            <a:off x="6355080" y="3776472"/>
            <a:ext cx="685800" cy="6858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07</a:t>
            </a:r>
          </a:p>
        </p:txBody>
      </p:sp>
      <p:sp>
        <p:nvSpPr>
          <p:cNvPr id="30" name="TextBox 29"/>
          <p:cNvSpPr txBox="1"/>
          <p:nvPr/>
        </p:nvSpPr>
        <p:spPr>
          <a:xfrm>
            <a:off x="7178040" y="3703320"/>
            <a:ext cx="4297680" cy="733534"/>
          </a:xfrm>
          <a:prstGeom prst="rect">
            <a:avLst/>
          </a:prstGeom>
          <a:noFill/>
        </p:spPr>
        <p:txBody>
          <a:bodyPr wrap="square">
            <a:spAutoFit/>
          </a:bodyPr>
          <a:lstStyle/>
          <a:p>
            <a:r>
              <a:rPr sz="1600" b="1" dirty="0">
                <a:solidFill>
                  <a:srgbClr val="00336A"/>
                </a:solidFill>
                <a:latin typeface="Calibri"/>
              </a:rPr>
              <a:t>Empirical Results &amp; Live System Demo</a:t>
            </a:r>
          </a:p>
          <a:p>
            <a:pPr>
              <a:spcBef>
                <a:spcPts val="200"/>
              </a:spcBef>
            </a:pPr>
            <a:r>
              <a:rPr sz="1200" dirty="0">
                <a:solidFill>
                  <a:srgbClr val="475569"/>
                </a:solidFill>
                <a:latin typeface="Calibri"/>
              </a:rPr>
              <a:t>100% PASS verification suite, sub-50ms latency &amp; panel-ready live feature demo</a:t>
            </a:r>
          </a:p>
        </p:txBody>
      </p:sp>
      <p:sp>
        <p:nvSpPr>
          <p:cNvPr id="31" name="Rounded Rectangle 30"/>
          <p:cNvSpPr/>
          <p:nvPr/>
        </p:nvSpPr>
        <p:spPr>
          <a:xfrm>
            <a:off x="6217920" y="4754880"/>
            <a:ext cx="5394960" cy="102412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2" name="Rounded Rectangle 31"/>
          <p:cNvSpPr/>
          <p:nvPr/>
        </p:nvSpPr>
        <p:spPr>
          <a:xfrm>
            <a:off x="6355080" y="4919472"/>
            <a:ext cx="685800" cy="6858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00336A"/>
                </a:solidFill>
                <a:latin typeface="Calibri"/>
              </a:rPr>
              <a:t>08</a:t>
            </a:r>
          </a:p>
        </p:txBody>
      </p:sp>
      <p:sp>
        <p:nvSpPr>
          <p:cNvPr id="33" name="TextBox 32"/>
          <p:cNvSpPr txBox="1"/>
          <p:nvPr/>
        </p:nvSpPr>
        <p:spPr>
          <a:xfrm>
            <a:off x="7178040" y="4846320"/>
            <a:ext cx="4297680" cy="733534"/>
          </a:xfrm>
          <a:prstGeom prst="rect">
            <a:avLst/>
          </a:prstGeom>
          <a:noFill/>
        </p:spPr>
        <p:txBody>
          <a:bodyPr wrap="square">
            <a:spAutoFit/>
          </a:bodyPr>
          <a:lstStyle/>
          <a:p>
            <a:r>
              <a:rPr sz="1600" b="1" dirty="0">
                <a:solidFill>
                  <a:srgbClr val="00336A"/>
                </a:solidFill>
                <a:latin typeface="Calibri"/>
              </a:rPr>
              <a:t>Limitations, Future Work &amp; Conclusion</a:t>
            </a:r>
          </a:p>
          <a:p>
            <a:pPr>
              <a:spcBef>
                <a:spcPts val="200"/>
              </a:spcBef>
            </a:pPr>
            <a:r>
              <a:rPr sz="1200" dirty="0">
                <a:solidFill>
                  <a:srgbClr val="475569"/>
                </a:solidFill>
                <a:latin typeface="Calibri"/>
              </a:rPr>
              <a:t>System boundaries, multi-node consortium roadmap &amp; final project conclusions</a:t>
            </a:r>
          </a:p>
        </p:txBody>
      </p:sp>
      <p:sp>
        <p:nvSpPr>
          <p:cNvPr id="34" name="Rounded Rectangle 33"/>
          <p:cNvSpPr/>
          <p:nvPr/>
        </p:nvSpPr>
        <p:spPr>
          <a:xfrm>
            <a:off x="548640" y="5870448"/>
            <a:ext cx="11064240" cy="530352"/>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Rounded Rectangle 34"/>
          <p:cNvSpPr/>
          <p:nvPr/>
        </p:nvSpPr>
        <p:spPr>
          <a:xfrm>
            <a:off x="548640" y="5922645"/>
            <a:ext cx="91440" cy="4114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6" name="TextBox 35"/>
          <p:cNvSpPr txBox="1"/>
          <p:nvPr/>
        </p:nvSpPr>
        <p:spPr>
          <a:xfrm>
            <a:off x="731520" y="5844540"/>
            <a:ext cx="10789919" cy="646331"/>
          </a:xfrm>
          <a:prstGeom prst="rect">
            <a:avLst/>
          </a:prstGeom>
          <a:noFill/>
        </p:spPr>
        <p:txBody>
          <a:bodyPr wrap="square">
            <a:spAutoFit/>
          </a:bodyPr>
          <a:lstStyle/>
          <a:p>
            <a:pPr algn="l"/>
            <a:r>
              <a:rPr sz="1750" b="1" dirty="0">
                <a:solidFill>
                  <a:srgbClr val="FFC107"/>
                </a:solidFill>
                <a:latin typeface="Calibri"/>
              </a:rPr>
              <a:t>PRESENTATION SCOPE: </a:t>
            </a:r>
            <a:r>
              <a:rPr sz="1750" dirty="0">
                <a:solidFill>
                  <a:srgbClr val="FFFFFF"/>
                </a:solidFill>
                <a:latin typeface="Calibri"/>
              </a:rPr>
              <a:t>Structured 10-slide defense aligned with the Department of Computer Science &amp; Informatics guidelines.</a:t>
            </a:r>
          </a:p>
        </p:txBody>
      </p:sp>
      <p:pic>
        <p:nvPicPr>
          <p:cNvPr id="40" name="Picture 39">
            <a:extLst>
              <a:ext uri="{FF2B5EF4-FFF2-40B4-BE49-F238E27FC236}">
                <a16:creationId xmlns:a16="http://schemas.microsoft.com/office/drawing/2014/main" id="{CE983A81-EE18-71BD-3A7C-7FD414581DCC}"/>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400" b="1">
                <a:solidFill>
                  <a:srgbClr val="00336A"/>
                </a:solidFill>
                <a:latin typeface="Calibri"/>
              </a:rPr>
              <a:t>01</a:t>
            </a:r>
          </a:p>
        </p:txBody>
      </p:sp>
      <p:sp>
        <p:nvSpPr>
          <p:cNvPr id="6" name="TextBox 5"/>
          <p:cNvSpPr txBox="1"/>
          <p:nvPr/>
        </p:nvSpPr>
        <p:spPr>
          <a:xfrm>
            <a:off x="1325880" y="109728"/>
            <a:ext cx="9601200" cy="646331"/>
          </a:xfrm>
          <a:prstGeom prst="rect">
            <a:avLst/>
          </a:prstGeom>
          <a:noFill/>
        </p:spPr>
        <p:txBody>
          <a:bodyPr wrap="square">
            <a:spAutoFit/>
          </a:bodyPr>
          <a:lstStyle/>
          <a:p>
            <a:r>
              <a:rPr sz="2400" b="1">
                <a:solidFill>
                  <a:srgbClr val="FFFFFF"/>
                </a:solidFill>
                <a:latin typeface="Calibri"/>
              </a:rPr>
              <a:t>Background &amp; Academic Reality in Higher Education</a:t>
            </a:r>
          </a:p>
          <a:p>
            <a:r>
              <a:rPr sz="1200" i="1">
                <a:solidFill>
                  <a:srgbClr val="BAE6FD"/>
                </a:solidFill>
                <a:latin typeface="Calibri"/>
              </a:rPr>
              <a:t>The Missing Academic Commons in Universities &amp; The Failure of Informal Channels (Case Study: UENR)</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365760" y="6556248"/>
            <a:ext cx="5030544" cy="230832"/>
          </a:xfrm>
          <a:prstGeom prst="rect">
            <a:avLst/>
          </a:prstGeom>
          <a:noFill/>
        </p:spPr>
        <p:txBody>
          <a:bodyPr wrap="none">
            <a:spAutoFit/>
          </a:bodyPr>
          <a:lstStyle/>
          <a:p>
            <a:r>
              <a:rPr sz="900">
                <a:solidFill>
                  <a:srgbClr val="475569"/>
                </a:solidFill>
                <a:latin typeface="Calibri"/>
              </a:rPr>
              <a:t>QCampus Connect | Verified Academic Q&amp;A Forum &amp; Secure Consultation Platform | Case Study: UENR</a:t>
            </a:r>
          </a:p>
        </p:txBody>
      </p:sp>
      <p:sp>
        <p:nvSpPr>
          <p:cNvPr id="9" name="TextBox 8"/>
          <p:cNvSpPr txBox="1"/>
          <p:nvPr/>
        </p:nvSpPr>
        <p:spPr>
          <a:xfrm>
            <a:off x="11021189" y="6556248"/>
            <a:ext cx="774571" cy="230832"/>
          </a:xfrm>
          <a:prstGeom prst="rect">
            <a:avLst/>
          </a:prstGeom>
          <a:noFill/>
        </p:spPr>
        <p:txBody>
          <a:bodyPr wrap="none">
            <a:spAutoFit/>
          </a:bodyPr>
          <a:lstStyle/>
          <a:p>
            <a:pPr algn="r"/>
            <a:r>
              <a:rPr sz="900" b="1">
                <a:solidFill>
                  <a:srgbClr val="00336A"/>
                </a:solidFill>
                <a:latin typeface="Calibri"/>
              </a:rPr>
              <a:t>Slide 01 / 08</a:t>
            </a:r>
          </a:p>
        </p:txBody>
      </p:sp>
      <p:sp>
        <p:nvSpPr>
          <p:cNvPr id="10" name="Rounded Rectangle 9"/>
          <p:cNvSpPr/>
          <p:nvPr/>
        </p:nvSpPr>
        <p:spPr>
          <a:xfrm>
            <a:off x="457200" y="1234440"/>
            <a:ext cx="5669280" cy="2240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594360" y="1298448"/>
            <a:ext cx="5394960" cy="2246769"/>
          </a:xfrm>
          <a:prstGeom prst="rect">
            <a:avLst/>
          </a:prstGeom>
          <a:noFill/>
        </p:spPr>
        <p:txBody>
          <a:bodyPr wrap="square">
            <a:spAutoFit/>
          </a:bodyPr>
          <a:lstStyle/>
          <a:p>
            <a:r>
              <a:rPr sz="1600" b="1" dirty="0">
                <a:solidFill>
                  <a:srgbClr val="00336A"/>
                </a:solidFill>
                <a:latin typeface="Calibri"/>
              </a:rPr>
              <a:t>🏛️ The Missing Academic Commons in Higher Education</a:t>
            </a:r>
          </a:p>
          <a:p>
            <a:pPr>
              <a:spcBef>
                <a:spcPts val="400"/>
              </a:spcBef>
            </a:pPr>
            <a:r>
              <a:rPr sz="1400" b="1" dirty="0">
                <a:solidFill>
                  <a:srgbClr val="1E293B"/>
                </a:solidFill>
                <a:latin typeface="Calibri"/>
              </a:rPr>
              <a:t>• Static Portals vs. Interactive Commons: </a:t>
            </a:r>
            <a:r>
              <a:rPr sz="1200" dirty="0">
                <a:solidFill>
                  <a:srgbClr val="475569"/>
                </a:solidFill>
                <a:latin typeface="Calibri"/>
              </a:rPr>
              <a:t>Universities invest in grade portals and static LMS (lecture notes), but lack an open, interactive academic commons for student-faculty scholarly discussions.</a:t>
            </a:r>
          </a:p>
          <a:p>
            <a:pPr>
              <a:spcBef>
                <a:spcPts val="400"/>
              </a:spcBef>
            </a:pPr>
            <a:r>
              <a:rPr sz="1400" b="1" dirty="0">
                <a:solidFill>
                  <a:srgbClr val="1E293B"/>
                </a:solidFill>
                <a:latin typeface="Calibri"/>
              </a:rPr>
              <a:t>• Observed Reality at UENR: </a:t>
            </a:r>
            <a:r>
              <a:rPr sz="1200" dirty="0">
                <a:solidFill>
                  <a:srgbClr val="475569"/>
                </a:solidFill>
                <a:latin typeface="Calibri"/>
              </a:rPr>
              <a:t>To clarify coursework or project problems, students must physically hunt lecturers across campus buildings, queue outside offices, or make unscheduled phone calls.</a:t>
            </a:r>
          </a:p>
          <a:p>
            <a:pPr>
              <a:spcBef>
                <a:spcPts val="400"/>
              </a:spcBef>
            </a:pPr>
            <a:r>
              <a:rPr sz="1400" b="1" dirty="0">
                <a:solidFill>
                  <a:srgbClr val="1E293B"/>
                </a:solidFill>
                <a:latin typeface="Calibri"/>
              </a:rPr>
              <a:t>• Knowledge Fragmentation: </a:t>
            </a:r>
            <a:r>
              <a:rPr sz="1200" dirty="0">
                <a:solidFill>
                  <a:srgbClr val="475569"/>
                </a:solidFill>
                <a:latin typeface="Calibri"/>
              </a:rPr>
              <a:t>When a lecturer clarifies a concept to one student in private, that academic insight is lost to the remaining 100+ students in the cohort</a:t>
            </a:r>
            <a:r>
              <a:rPr sz="1050" dirty="0">
                <a:solidFill>
                  <a:srgbClr val="475569"/>
                </a:solidFill>
                <a:latin typeface="Calibri"/>
              </a:rPr>
              <a:t>.</a:t>
            </a:r>
          </a:p>
        </p:txBody>
      </p:sp>
      <p:sp>
        <p:nvSpPr>
          <p:cNvPr id="12" name="Rounded Rectangle 11"/>
          <p:cNvSpPr/>
          <p:nvPr/>
        </p:nvSpPr>
        <p:spPr>
          <a:xfrm>
            <a:off x="457200" y="3566160"/>
            <a:ext cx="56692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594360" y="3630168"/>
            <a:ext cx="5394960" cy="2246769"/>
          </a:xfrm>
          <a:prstGeom prst="rect">
            <a:avLst/>
          </a:prstGeom>
          <a:noFill/>
        </p:spPr>
        <p:txBody>
          <a:bodyPr wrap="square">
            <a:spAutoFit/>
          </a:bodyPr>
          <a:lstStyle/>
          <a:p>
            <a:r>
              <a:rPr sz="1600" b="1" dirty="0">
                <a:solidFill>
                  <a:srgbClr val="B91C1C"/>
                </a:solidFill>
                <a:latin typeface="Calibri"/>
              </a:rPr>
              <a:t>⚠️ Why Informal Channels (WhatsApp / Telegram) Fail</a:t>
            </a:r>
          </a:p>
          <a:p>
            <a:pPr>
              <a:spcBef>
                <a:spcPts val="400"/>
              </a:spcBef>
            </a:pPr>
            <a:r>
              <a:rPr sz="1400" b="1" dirty="0">
                <a:solidFill>
                  <a:srgbClr val="1E293B"/>
                </a:solidFill>
                <a:latin typeface="Calibri"/>
              </a:rPr>
              <a:t>• Cluttered &amp; Ephemeral Streams: </a:t>
            </a:r>
            <a:r>
              <a:rPr sz="1200" dirty="0">
                <a:solidFill>
                  <a:srgbClr val="475569"/>
                </a:solidFill>
                <a:latin typeface="Calibri"/>
              </a:rPr>
              <a:t>Informal groups mix casual banter, memes, and administrative noise; serious academic inquiries and technical findings are quickly buried.</a:t>
            </a:r>
          </a:p>
          <a:p>
            <a:pPr>
              <a:spcBef>
                <a:spcPts val="400"/>
              </a:spcBef>
            </a:pPr>
            <a:r>
              <a:rPr sz="1400" b="1" dirty="0">
                <a:solidFill>
                  <a:srgbClr val="1E293B"/>
                </a:solidFill>
                <a:latin typeface="Calibri"/>
              </a:rPr>
              <a:t>• Redundant Faculty Burden: </a:t>
            </a:r>
            <a:r>
              <a:rPr sz="1200" dirty="0">
                <a:solidFill>
                  <a:srgbClr val="475569"/>
                </a:solidFill>
                <a:latin typeface="Calibri"/>
              </a:rPr>
              <a:t>Lecturers repeatedly answer the exact same questions for different students in private DMs with no searchable institutional knowledge archive.</a:t>
            </a:r>
          </a:p>
          <a:p>
            <a:pPr>
              <a:spcBef>
                <a:spcPts val="400"/>
              </a:spcBef>
            </a:pPr>
            <a:r>
              <a:rPr sz="1400" b="1" dirty="0">
                <a:solidFill>
                  <a:srgbClr val="1E293B"/>
                </a:solidFill>
                <a:latin typeface="Calibri"/>
              </a:rPr>
              <a:t>• </a:t>
            </a:r>
            <a:r>
              <a:rPr sz="1400" b="1" dirty="0" err="1">
                <a:solidFill>
                  <a:srgbClr val="1E293B"/>
                </a:solidFill>
                <a:latin typeface="Calibri"/>
              </a:rPr>
              <a:t>QCampus</a:t>
            </a:r>
            <a:r>
              <a:rPr sz="1400" b="1" dirty="0">
                <a:solidFill>
                  <a:srgbClr val="1E293B"/>
                </a:solidFill>
                <a:latin typeface="Calibri"/>
              </a:rPr>
              <a:t> Connect Solution: </a:t>
            </a:r>
            <a:r>
              <a:rPr sz="1200" dirty="0">
                <a:solidFill>
                  <a:srgbClr val="475569"/>
                </a:solidFill>
                <a:latin typeface="Calibri"/>
              </a:rPr>
              <a:t>A centralized university Q&amp;A forum where discussions are public, searchable, and verified, with 1-on-1 messaging reserved only as a follow-up consultation tool.</a:t>
            </a:r>
          </a:p>
        </p:txBody>
      </p:sp>
      <p:sp>
        <p:nvSpPr>
          <p:cNvPr id="14" name="Rounded Rectangle 13"/>
          <p:cNvSpPr/>
          <p:nvPr/>
        </p:nvSpPr>
        <p:spPr>
          <a:xfrm>
            <a:off x="6309360" y="1234440"/>
            <a:ext cx="5394960" cy="4617720"/>
          </a:xfrm>
          <a:prstGeom prst="roundRect">
            <a:avLst/>
          </a:prstGeom>
          <a:solidFill>
            <a:srgbClr val="EEF4FA"/>
          </a:solidFill>
          <a:ln w="19050">
            <a:solidFill>
              <a:srgbClr val="1E90FF"/>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ounded Rectangle 14"/>
          <p:cNvSpPr/>
          <p:nvPr/>
        </p:nvSpPr>
        <p:spPr>
          <a:xfrm>
            <a:off x="6492240" y="1371600"/>
            <a:ext cx="5029200" cy="41148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latin typeface="Calibri"/>
              </a:rPr>
              <a:t>📸  WORKFLOW COMPARISON &amp; PROBLEM SCENARIO</a:t>
            </a:r>
          </a:p>
        </p:txBody>
      </p:sp>
      <p:sp>
        <p:nvSpPr>
          <p:cNvPr id="16" name="TextBox 15"/>
          <p:cNvSpPr txBox="1"/>
          <p:nvPr/>
        </p:nvSpPr>
        <p:spPr>
          <a:xfrm>
            <a:off x="6537960" y="1828800"/>
            <a:ext cx="4937760" cy="3211135"/>
          </a:xfrm>
          <a:prstGeom prst="rect">
            <a:avLst/>
          </a:prstGeom>
          <a:noFill/>
        </p:spPr>
        <p:txBody>
          <a:bodyPr wrap="square">
            <a:spAutoFit/>
          </a:bodyPr>
          <a:lstStyle/>
          <a:p>
            <a:pPr algn="ctr"/>
            <a:r>
              <a:rPr sz="1600" b="1" i="1" dirty="0">
                <a:solidFill>
                  <a:srgbClr val="00509E"/>
                </a:solidFill>
                <a:latin typeface="Calibri"/>
              </a:rPr>
              <a:t>Traditional Campus Wandering vs. </a:t>
            </a:r>
            <a:r>
              <a:rPr sz="1600" b="1" i="1" dirty="0" err="1">
                <a:solidFill>
                  <a:srgbClr val="00509E"/>
                </a:solidFill>
                <a:latin typeface="Calibri"/>
              </a:rPr>
              <a:t>QCampus</a:t>
            </a:r>
            <a:r>
              <a:rPr sz="1600" b="1" i="1" dirty="0">
                <a:solidFill>
                  <a:srgbClr val="00509E"/>
                </a:solidFill>
                <a:latin typeface="Calibri"/>
              </a:rPr>
              <a:t> Connect Digital Commons</a:t>
            </a:r>
          </a:p>
          <a:p>
            <a:pPr>
              <a:spcBef>
                <a:spcPts val="400"/>
              </a:spcBef>
            </a:pPr>
            <a:r>
              <a:rPr sz="1400" dirty="0">
                <a:solidFill>
                  <a:srgbClr val="1E293B"/>
                </a:solidFill>
                <a:latin typeface="Calibri"/>
              </a:rPr>
              <a:t>• Left Side: Traditional Breakdown (Office queues, unscheduled phone calls, WhatsApp noise, duplicate DMs).</a:t>
            </a:r>
          </a:p>
          <a:p>
            <a:pPr>
              <a:spcBef>
                <a:spcPts val="400"/>
              </a:spcBef>
            </a:pPr>
            <a:r>
              <a:rPr sz="1400" dirty="0">
                <a:solidFill>
                  <a:srgbClr val="1E293B"/>
                </a:solidFill>
                <a:latin typeface="Calibri"/>
              </a:rPr>
              <a:t>• Right Side: </a:t>
            </a:r>
            <a:r>
              <a:rPr sz="1400" dirty="0" err="1">
                <a:solidFill>
                  <a:srgbClr val="1E293B"/>
                </a:solidFill>
                <a:latin typeface="Calibri"/>
              </a:rPr>
              <a:t>QCampus</a:t>
            </a:r>
            <a:r>
              <a:rPr sz="1400" dirty="0">
                <a:solidFill>
                  <a:srgbClr val="1E293B"/>
                </a:solidFill>
                <a:latin typeface="Calibri"/>
              </a:rPr>
              <a:t> Connect Model (Public Forum Question -&gt; Verified Faculty Answer -&gt; Searchable Knowledge -&gt; Optional 1-on-1 Consultation).</a:t>
            </a:r>
          </a:p>
          <a:p>
            <a:pPr>
              <a:spcBef>
                <a:spcPts val="400"/>
              </a:spcBef>
            </a:pPr>
            <a:r>
              <a:rPr sz="1400" dirty="0">
                <a:solidFill>
                  <a:srgbClr val="1E293B"/>
                </a:solidFill>
                <a:latin typeface="Calibri"/>
              </a:rPr>
              <a:t>• Demonstrates how public Q&amp;A solves the 1-to-many knowledge distribution barrier.</a:t>
            </a:r>
          </a:p>
          <a:p>
            <a:pPr>
              <a:spcBef>
                <a:spcPts val="400"/>
              </a:spcBef>
            </a:pPr>
            <a:r>
              <a:rPr sz="1400" dirty="0">
                <a:solidFill>
                  <a:srgbClr val="1E293B"/>
                </a:solidFill>
                <a:latin typeface="Calibri"/>
              </a:rPr>
              <a:t>• Shows the seamless transition to client-encrypted direct messaging for deep private consultations.</a:t>
            </a:r>
          </a:p>
          <a:p>
            <a:pPr>
              <a:spcBef>
                <a:spcPts val="400"/>
              </a:spcBef>
            </a:pPr>
            <a:r>
              <a:rPr sz="1400" dirty="0">
                <a:solidFill>
                  <a:srgbClr val="1E293B"/>
                </a:solidFill>
                <a:latin typeface="Calibri"/>
              </a:rPr>
              <a:t>• Eliminates late-night WhatsApp submission disputes with cryptographic timestamp proof.</a:t>
            </a:r>
          </a:p>
        </p:txBody>
      </p:sp>
      <p:sp>
        <p:nvSpPr>
          <p:cNvPr id="17" name="Rounded Rectangle 16"/>
          <p:cNvSpPr/>
          <p:nvPr/>
        </p:nvSpPr>
        <p:spPr>
          <a:xfrm>
            <a:off x="457200" y="5989320"/>
            <a:ext cx="11247120" cy="41148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Rounded Rectangle 17"/>
          <p:cNvSpPr/>
          <p:nvPr/>
        </p:nvSpPr>
        <p:spPr>
          <a:xfrm>
            <a:off x="457200" y="5989320"/>
            <a:ext cx="91440" cy="4114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640080" y="6035040"/>
            <a:ext cx="10972800" cy="276999"/>
          </a:xfrm>
          <a:prstGeom prst="rect">
            <a:avLst/>
          </a:prstGeom>
          <a:noFill/>
        </p:spPr>
        <p:txBody>
          <a:bodyPr wrap="square">
            <a:spAutoFit/>
          </a:bodyPr>
          <a:lstStyle/>
          <a:p>
            <a:pPr algn="l"/>
            <a:r>
              <a:rPr sz="1200" b="1">
                <a:solidFill>
                  <a:srgbClr val="FFC107"/>
                </a:solidFill>
                <a:latin typeface="Calibri"/>
              </a:rPr>
              <a:t>CORE PARADIGM: </a:t>
            </a:r>
            <a:r>
              <a:rPr sz="1200">
                <a:solidFill>
                  <a:srgbClr val="FFFFFF"/>
                </a:solidFill>
                <a:latin typeface="Calibri"/>
              </a:rPr>
              <a:t>Academic discussions must be open, centralized, and persistent so one lecturer explanation benefits the entire student cohort.</a:t>
            </a:r>
          </a:p>
        </p:txBody>
      </p:sp>
      <p:pic>
        <p:nvPicPr>
          <p:cNvPr id="21" name="Picture 20">
            <a:extLst>
              <a:ext uri="{FF2B5EF4-FFF2-40B4-BE49-F238E27FC236}">
                <a16:creationId xmlns:a16="http://schemas.microsoft.com/office/drawing/2014/main" id="{30EC0D5D-503F-F0F1-09AE-9A847E05C6D3}"/>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02</a:t>
            </a:r>
          </a:p>
        </p:txBody>
      </p:sp>
      <p:sp>
        <p:nvSpPr>
          <p:cNvPr id="6" name="TextBox 5"/>
          <p:cNvSpPr txBox="1"/>
          <p:nvPr/>
        </p:nvSpPr>
        <p:spPr>
          <a:xfrm>
            <a:off x="1325880" y="109728"/>
            <a:ext cx="9601200" cy="584775"/>
          </a:xfrm>
          <a:prstGeom prst="rect">
            <a:avLst/>
          </a:prstGeom>
          <a:noFill/>
        </p:spPr>
        <p:txBody>
          <a:bodyPr wrap="square">
            <a:spAutoFit/>
          </a:bodyPr>
          <a:lstStyle/>
          <a:p>
            <a:r>
              <a:rPr sz="2000" b="1" dirty="0">
                <a:solidFill>
                  <a:srgbClr val="FFFFFF"/>
                </a:solidFill>
                <a:latin typeface="Calibri"/>
              </a:rPr>
              <a:t>Problem Statement: Higher Education Communication Gap</a:t>
            </a:r>
          </a:p>
          <a:p>
            <a:r>
              <a:rPr sz="1200" i="1" dirty="0">
                <a:solidFill>
                  <a:srgbClr val="BAE6FD"/>
                </a:solidFill>
                <a:latin typeface="Calibri"/>
              </a:rPr>
              <a:t>Four Critical Institutional Bottlenecks in Campus Communication &amp; Student-Faculty Collaboration</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02 / 08</a:t>
            </a:r>
          </a:p>
        </p:txBody>
      </p:sp>
      <p:sp>
        <p:nvSpPr>
          <p:cNvPr id="10" name="Rounded Rectangle 9"/>
          <p:cNvSpPr/>
          <p:nvPr/>
        </p:nvSpPr>
        <p:spPr>
          <a:xfrm>
            <a:off x="457200" y="1234440"/>
            <a:ext cx="553212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234440"/>
            <a:ext cx="5532120" cy="73152"/>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344168"/>
            <a:ext cx="5257800" cy="1715854"/>
          </a:xfrm>
          <a:prstGeom prst="rect">
            <a:avLst/>
          </a:prstGeom>
          <a:noFill/>
        </p:spPr>
        <p:txBody>
          <a:bodyPr wrap="square">
            <a:spAutoFit/>
          </a:bodyPr>
          <a:lstStyle/>
          <a:p>
            <a:r>
              <a:rPr sz="1400" b="1" dirty="0">
                <a:solidFill>
                  <a:srgbClr val="EF4444"/>
                </a:solidFill>
                <a:latin typeface="Calibri"/>
              </a:rPr>
              <a:t>Problem 1: Academic Isolation &amp; Inaccessibility</a:t>
            </a:r>
          </a:p>
          <a:p>
            <a:r>
              <a:rPr sz="1200" b="1" dirty="0">
                <a:solidFill>
                  <a:srgbClr val="1E293B"/>
                </a:solidFill>
                <a:latin typeface="Calibri"/>
              </a:rPr>
              <a:t>Office Queue Bottlenecks &amp; Physical Barriers</a:t>
            </a:r>
          </a:p>
          <a:p>
            <a:pPr>
              <a:spcBef>
                <a:spcPts val="300"/>
              </a:spcBef>
            </a:pPr>
            <a:r>
              <a:rPr sz="1200" dirty="0">
                <a:solidFill>
                  <a:srgbClr val="475569"/>
                </a:solidFill>
                <a:latin typeface="Calibri"/>
              </a:rPr>
              <a:t>• Students must physically pursue lecturers across campus buildings or wait in long queues outside offices.
• Off-campus, commuting, distance, or introverted students receive zero guidance outside limited physical office hours.
• Critical academic clarification is unavailable during revision and project deadlines.</a:t>
            </a:r>
          </a:p>
        </p:txBody>
      </p:sp>
      <p:sp>
        <p:nvSpPr>
          <p:cNvPr id="13" name="Rounded Rectangle 12"/>
          <p:cNvSpPr/>
          <p:nvPr/>
        </p:nvSpPr>
        <p:spPr>
          <a:xfrm>
            <a:off x="6172200" y="1234440"/>
            <a:ext cx="553212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72200" y="1234440"/>
            <a:ext cx="553212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344168"/>
            <a:ext cx="5257800" cy="1531188"/>
          </a:xfrm>
          <a:prstGeom prst="rect">
            <a:avLst/>
          </a:prstGeom>
          <a:noFill/>
        </p:spPr>
        <p:txBody>
          <a:bodyPr wrap="square">
            <a:spAutoFit/>
          </a:bodyPr>
          <a:lstStyle/>
          <a:p>
            <a:r>
              <a:rPr sz="1400" b="1" dirty="0">
                <a:solidFill>
                  <a:srgbClr val="F59E0B"/>
                </a:solidFill>
                <a:latin typeface="Calibri"/>
              </a:rPr>
              <a:t>Problem 2: Unqualified Advice as Expert Authority</a:t>
            </a:r>
          </a:p>
          <a:p>
            <a:r>
              <a:rPr sz="1200" b="1" dirty="0">
                <a:solidFill>
                  <a:srgbClr val="1E293B"/>
                </a:solidFill>
                <a:latin typeface="Calibri"/>
              </a:rPr>
              <a:t>Social Media Hearsay &amp; Rumor Propagation</a:t>
            </a:r>
          </a:p>
          <a:p>
            <a:pPr>
              <a:spcBef>
                <a:spcPts val="300"/>
              </a:spcBef>
            </a:pPr>
            <a:r>
              <a:rPr sz="1200" dirty="0">
                <a:solidFill>
                  <a:srgbClr val="475569"/>
                </a:solidFill>
                <a:latin typeface="Calibri"/>
              </a:rPr>
              <a:t>• In informal forums or WhatsApp groups, student upvotes and popularity outrank verified faculty expertise.
• Unverified rumors regarding exam dates, grading criteria, and coursework solutions circulate unchecked.
• No institutional badges exist to distinguish real professors from casual students.</a:t>
            </a:r>
          </a:p>
        </p:txBody>
      </p:sp>
      <p:sp>
        <p:nvSpPr>
          <p:cNvPr id="16" name="Rounded Rectangle 15"/>
          <p:cNvSpPr/>
          <p:nvPr/>
        </p:nvSpPr>
        <p:spPr>
          <a:xfrm>
            <a:off x="457200" y="3520440"/>
            <a:ext cx="553212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7200" y="3520440"/>
            <a:ext cx="5532120" cy="73152"/>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630168"/>
            <a:ext cx="5257800" cy="1531188"/>
          </a:xfrm>
          <a:prstGeom prst="rect">
            <a:avLst/>
          </a:prstGeom>
          <a:noFill/>
        </p:spPr>
        <p:txBody>
          <a:bodyPr wrap="square">
            <a:spAutoFit/>
          </a:bodyPr>
          <a:lstStyle/>
          <a:p>
            <a:r>
              <a:rPr sz="1400" b="1" dirty="0">
                <a:solidFill>
                  <a:srgbClr val="3B82F6"/>
                </a:solidFill>
                <a:latin typeface="Calibri"/>
              </a:rPr>
              <a:t>Problem 3: Redundant Repetition &amp; Faculty Burden</a:t>
            </a:r>
          </a:p>
          <a:p>
            <a:r>
              <a:rPr sz="1200" b="1" dirty="0">
                <a:solidFill>
                  <a:srgbClr val="1E293B"/>
                </a:solidFill>
                <a:latin typeface="Calibri"/>
              </a:rPr>
              <a:t>Knowledge Trapped in 1-on-1 Silos</a:t>
            </a:r>
          </a:p>
          <a:p>
            <a:pPr>
              <a:spcBef>
                <a:spcPts val="300"/>
              </a:spcBef>
            </a:pPr>
            <a:r>
              <a:rPr sz="1200" dirty="0">
                <a:solidFill>
                  <a:srgbClr val="475569"/>
                </a:solidFill>
                <a:latin typeface="Calibri"/>
              </a:rPr>
              <a:t>• Lecturers spend dozens of hours answering identical conceptual questions repeatedly across separate private chats.
• Explanations given in 1-on-1 DMs are lost to the rest of the 100+ cohort.
• No searchable, persistent university knowledge repository exists to archive solved problems.</a:t>
            </a:r>
          </a:p>
        </p:txBody>
      </p:sp>
      <p:sp>
        <p:nvSpPr>
          <p:cNvPr id="19" name="Rounded Rectangle 18"/>
          <p:cNvSpPr/>
          <p:nvPr/>
        </p:nvSpPr>
        <p:spPr>
          <a:xfrm>
            <a:off x="6172200" y="3520440"/>
            <a:ext cx="553212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72200" y="3520440"/>
            <a:ext cx="5532120" cy="7315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3630168"/>
            <a:ext cx="5257800" cy="1531188"/>
          </a:xfrm>
          <a:prstGeom prst="rect">
            <a:avLst/>
          </a:prstGeom>
          <a:noFill/>
        </p:spPr>
        <p:txBody>
          <a:bodyPr wrap="square">
            <a:spAutoFit/>
          </a:bodyPr>
          <a:lstStyle/>
          <a:p>
            <a:r>
              <a:rPr sz="1400" b="1" dirty="0">
                <a:solidFill>
                  <a:srgbClr val="8B5CF6"/>
                </a:solidFill>
                <a:latin typeface="Calibri"/>
              </a:rPr>
              <a:t>Problem 4: Ephemeral Records &amp; Evidence Tampering</a:t>
            </a:r>
          </a:p>
          <a:p>
            <a:r>
              <a:rPr sz="1200" b="1" dirty="0">
                <a:solidFill>
                  <a:srgbClr val="1E293B"/>
                </a:solidFill>
                <a:latin typeface="Calibri"/>
              </a:rPr>
              <a:t>Lack of Cryptographic Non-Repudiation</a:t>
            </a:r>
          </a:p>
          <a:p>
            <a:pPr>
              <a:spcBef>
                <a:spcPts val="300"/>
              </a:spcBef>
            </a:pPr>
            <a:r>
              <a:rPr sz="1200" dirty="0">
                <a:solidFill>
                  <a:srgbClr val="475569"/>
                </a:solidFill>
                <a:latin typeface="Calibri"/>
              </a:rPr>
              <a:t>• Social chat platforms allow 'Delete for Everyone', destroying evidence of critical interactions and assignment agreements.
• Database logs in standard LMS portals are mutable and vulnerable to timestamp falsification disputes.
• No independent, cryptographic audit trail exists to resolve submission disputes.</a:t>
            </a:r>
          </a:p>
        </p:txBody>
      </p:sp>
      <p:sp>
        <p:nvSpPr>
          <p:cNvPr id="22" name="Rounded Rectangle 21"/>
          <p:cNvSpPr/>
          <p:nvPr/>
        </p:nvSpPr>
        <p:spPr>
          <a:xfrm>
            <a:off x="457200" y="5897880"/>
            <a:ext cx="11247120" cy="50292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57200" y="5897880"/>
            <a:ext cx="91440" cy="50292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943600"/>
            <a:ext cx="10972800" cy="411480"/>
          </a:xfrm>
          <a:prstGeom prst="rect">
            <a:avLst/>
          </a:prstGeom>
          <a:noFill/>
        </p:spPr>
        <p:txBody>
          <a:bodyPr wrap="square">
            <a:spAutoFit/>
          </a:bodyPr>
          <a:lstStyle/>
          <a:p>
            <a:pPr algn="l"/>
            <a:r>
              <a:rPr sz="1100" b="1">
                <a:solidFill>
                  <a:srgbClr val="FFC107"/>
                </a:solidFill>
                <a:latin typeface="Calibri"/>
              </a:rPr>
              <a:t>CORE RESEARCH QUESTION: </a:t>
            </a:r>
            <a:r>
              <a:rPr sz="1100">
                <a:solidFill>
                  <a:srgbClr val="FFFFFF"/>
                </a:solidFill>
                <a:latin typeface="Calibri"/>
              </a:rPr>
              <a:t>"How can higher education institutions provide a structured, real-time academic discussion platform that eliminates physical accessibility barriers, verifies faculty authority, and preserves institutional knowledge? (Case Study: UENR)"</a:t>
            </a:r>
          </a:p>
        </p:txBody>
      </p:sp>
      <p:pic>
        <p:nvPicPr>
          <p:cNvPr id="26" name="Picture 25">
            <a:extLst>
              <a:ext uri="{FF2B5EF4-FFF2-40B4-BE49-F238E27FC236}">
                <a16:creationId xmlns:a16="http://schemas.microsoft.com/office/drawing/2014/main" id="{5095F1D0-93D6-BC15-AA35-F0B65181FDDE}"/>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03</a:t>
            </a:r>
          </a:p>
        </p:txBody>
      </p:sp>
      <p:sp>
        <p:nvSpPr>
          <p:cNvPr id="6" name="TextBox 5"/>
          <p:cNvSpPr txBox="1"/>
          <p:nvPr/>
        </p:nvSpPr>
        <p:spPr>
          <a:xfrm>
            <a:off x="1325880" y="109728"/>
            <a:ext cx="9601200" cy="822960"/>
          </a:xfrm>
          <a:prstGeom prst="rect">
            <a:avLst/>
          </a:prstGeom>
          <a:noFill/>
        </p:spPr>
        <p:txBody>
          <a:bodyPr wrap="square">
            <a:spAutoFit/>
          </a:bodyPr>
          <a:lstStyle/>
          <a:p>
            <a:r>
              <a:rPr sz="2000" b="1">
                <a:solidFill>
                  <a:srgbClr val="FFFFFF"/>
                </a:solidFill>
                <a:latin typeface="Calibri"/>
              </a:rPr>
              <a:t>Aim &amp; Specific Objectives (Case Study: UENR)</a:t>
            </a:r>
          </a:p>
          <a:p>
            <a:r>
              <a:rPr sz="1100" i="1">
                <a:solidFill>
                  <a:srgbClr val="BAE6FD"/>
                </a:solidFill>
                <a:latin typeface="Calibri"/>
              </a:rPr>
              <a:t>Research Scope, Mission Statement, and Five Primary Technical Deliverables</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03 / 08</a:t>
            </a:r>
          </a:p>
        </p:txBody>
      </p:sp>
      <p:sp>
        <p:nvSpPr>
          <p:cNvPr id="10" name="Rounded Rectangle 9"/>
          <p:cNvSpPr/>
          <p:nvPr/>
        </p:nvSpPr>
        <p:spPr>
          <a:xfrm>
            <a:off x="457200" y="1234440"/>
            <a:ext cx="1124712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234440"/>
            <a:ext cx="91440" cy="105156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280160"/>
            <a:ext cx="10881360" cy="702756"/>
          </a:xfrm>
          <a:prstGeom prst="rect">
            <a:avLst/>
          </a:prstGeom>
          <a:noFill/>
        </p:spPr>
        <p:txBody>
          <a:bodyPr wrap="square">
            <a:spAutoFit/>
          </a:bodyPr>
          <a:lstStyle/>
          <a:p>
            <a:r>
              <a:rPr sz="1150" b="1" dirty="0">
                <a:solidFill>
                  <a:srgbClr val="00336A"/>
                </a:solidFill>
                <a:latin typeface="Calibri"/>
              </a:rPr>
              <a:t>🎯 </a:t>
            </a:r>
            <a:r>
              <a:rPr sz="1400" b="1" dirty="0">
                <a:solidFill>
                  <a:srgbClr val="00336A"/>
                </a:solidFill>
                <a:latin typeface="Calibri"/>
              </a:rPr>
              <a:t>MAIN RESEARCH AIM</a:t>
            </a:r>
          </a:p>
          <a:p>
            <a:pPr>
              <a:spcBef>
                <a:spcPts val="200"/>
              </a:spcBef>
            </a:pPr>
            <a:r>
              <a:rPr sz="1200" dirty="0">
                <a:solidFill>
                  <a:srgbClr val="1E293B"/>
                </a:solidFill>
                <a:latin typeface="Calibri"/>
              </a:rPr>
              <a:t>To design, implement, and benchmark </a:t>
            </a:r>
            <a:r>
              <a:rPr sz="1200" dirty="0" err="1">
                <a:solidFill>
                  <a:srgbClr val="1E293B"/>
                </a:solidFill>
                <a:latin typeface="Calibri"/>
              </a:rPr>
              <a:t>QCampus</a:t>
            </a:r>
            <a:r>
              <a:rPr sz="1200" dirty="0">
                <a:solidFill>
                  <a:srgbClr val="1E293B"/>
                </a:solidFill>
                <a:latin typeface="Calibri"/>
              </a:rPr>
              <a:t> Connect (</a:t>
            </a:r>
            <a:r>
              <a:rPr sz="1200" dirty="0" err="1">
                <a:solidFill>
                  <a:srgbClr val="1E293B"/>
                </a:solidFill>
                <a:latin typeface="Calibri"/>
              </a:rPr>
              <a:t>QChat</a:t>
            </a:r>
            <a:r>
              <a:rPr sz="1200" dirty="0">
                <a:solidFill>
                  <a:srgbClr val="1E293B"/>
                </a:solidFill>
                <a:latin typeface="Calibri"/>
              </a:rPr>
              <a:t>) — a verified academic Q&amp;A and knowledge-sharing platform for higher education institutions (with UENR as the pilot case study) where students ask questions publicly, verified faculty provide authoritative guidance, and interactions carry cryptographic trust.</a:t>
            </a:r>
          </a:p>
        </p:txBody>
      </p:sp>
      <p:sp>
        <p:nvSpPr>
          <p:cNvPr id="13" name="Rounded Rectangle 12"/>
          <p:cNvSpPr/>
          <p:nvPr/>
        </p:nvSpPr>
        <p:spPr>
          <a:xfrm>
            <a:off x="457200" y="2423160"/>
            <a:ext cx="2139696"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2423160"/>
            <a:ext cx="2139696" cy="41148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PRIMARY WORKSPACE</a:t>
            </a:r>
          </a:p>
        </p:txBody>
      </p:sp>
      <p:sp>
        <p:nvSpPr>
          <p:cNvPr id="15" name="TextBox 14"/>
          <p:cNvSpPr txBox="1"/>
          <p:nvPr/>
        </p:nvSpPr>
        <p:spPr>
          <a:xfrm>
            <a:off x="548640" y="2880360"/>
            <a:ext cx="1956815" cy="2482731"/>
          </a:xfrm>
          <a:prstGeom prst="rect">
            <a:avLst/>
          </a:prstGeom>
          <a:noFill/>
        </p:spPr>
        <p:txBody>
          <a:bodyPr wrap="square">
            <a:spAutoFit/>
          </a:bodyPr>
          <a:lstStyle/>
          <a:p>
            <a:r>
              <a:rPr sz="1100" b="1" dirty="0">
                <a:solidFill>
                  <a:srgbClr val="00336A"/>
                </a:solidFill>
                <a:latin typeface="Calibri"/>
              </a:rPr>
              <a:t>Obj 1: Real-Time Academic Q&amp;A</a:t>
            </a:r>
          </a:p>
          <a:p>
            <a:pPr>
              <a:spcBef>
                <a:spcPts val="400"/>
              </a:spcBef>
            </a:pPr>
            <a:r>
              <a:rPr sz="1300" dirty="0">
                <a:solidFill>
                  <a:srgbClr val="475569"/>
                </a:solidFill>
                <a:latin typeface="Calibri"/>
              </a:rPr>
              <a:t>Build a structured discussion forum categorized by Department (e.g., Computer Science) and Subject topics (e.g., Cryptography, OS, AI) with sub-50ms reactive WebSocket synchronization.</a:t>
            </a:r>
          </a:p>
        </p:txBody>
      </p:sp>
      <p:sp>
        <p:nvSpPr>
          <p:cNvPr id="16" name="Rounded Rectangle 15"/>
          <p:cNvSpPr/>
          <p:nvPr/>
        </p:nvSpPr>
        <p:spPr>
          <a:xfrm>
            <a:off x="2734056" y="2423160"/>
            <a:ext cx="2139696"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34056" y="2423160"/>
            <a:ext cx="2139696" cy="411480"/>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dirty="0">
                <a:solidFill>
                  <a:srgbClr val="FFFFFF"/>
                </a:solidFill>
                <a:latin typeface="Calibri"/>
              </a:rPr>
              <a:t>IDENTITY </a:t>
            </a:r>
            <a:r>
              <a:rPr sz="1200" b="1" dirty="0">
                <a:solidFill>
                  <a:srgbClr val="FFFFFF"/>
                </a:solidFill>
                <a:latin typeface="Calibri"/>
              </a:rPr>
              <a:t>VERIFICATION</a:t>
            </a:r>
            <a:endParaRPr sz="1050" b="1" dirty="0">
              <a:solidFill>
                <a:srgbClr val="FFFFFF"/>
              </a:solidFill>
              <a:latin typeface="Calibri"/>
            </a:endParaRPr>
          </a:p>
        </p:txBody>
      </p:sp>
      <p:sp>
        <p:nvSpPr>
          <p:cNvPr id="18" name="TextBox 17"/>
          <p:cNvSpPr txBox="1"/>
          <p:nvPr/>
        </p:nvSpPr>
        <p:spPr>
          <a:xfrm>
            <a:off x="2825496" y="2880360"/>
            <a:ext cx="1956815" cy="2282676"/>
          </a:xfrm>
          <a:prstGeom prst="rect">
            <a:avLst/>
          </a:prstGeom>
          <a:noFill/>
        </p:spPr>
        <p:txBody>
          <a:bodyPr wrap="square">
            <a:spAutoFit/>
          </a:bodyPr>
          <a:lstStyle/>
          <a:p>
            <a:r>
              <a:rPr sz="1100" b="1" dirty="0">
                <a:solidFill>
                  <a:srgbClr val="00336A"/>
                </a:solidFill>
                <a:latin typeface="Calibri"/>
              </a:rPr>
              <a:t>Obj 2: Authority &amp; Field Badges</a:t>
            </a:r>
          </a:p>
          <a:p>
            <a:pPr>
              <a:spcBef>
                <a:spcPts val="400"/>
              </a:spcBef>
            </a:pPr>
            <a:r>
              <a:rPr sz="1300" dirty="0">
                <a:solidFill>
                  <a:srgbClr val="475569"/>
                </a:solidFill>
                <a:latin typeface="Calibri"/>
              </a:rPr>
              <a:t>Cryptographically bind real institutional credentials (Student Index / Staff ID) and display verified departmental badges (CS) and specialization labels (Cryptography) on every faculty response.</a:t>
            </a:r>
          </a:p>
        </p:txBody>
      </p:sp>
      <p:sp>
        <p:nvSpPr>
          <p:cNvPr id="19" name="Rounded Rectangle 18"/>
          <p:cNvSpPr/>
          <p:nvPr/>
        </p:nvSpPr>
        <p:spPr>
          <a:xfrm>
            <a:off x="5010912" y="2423160"/>
            <a:ext cx="2139696"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10912" y="2423160"/>
            <a:ext cx="2139696"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SECURE SUB-FEATURE</a:t>
            </a:r>
          </a:p>
        </p:txBody>
      </p:sp>
      <p:sp>
        <p:nvSpPr>
          <p:cNvPr id="21" name="TextBox 20"/>
          <p:cNvSpPr txBox="1"/>
          <p:nvPr/>
        </p:nvSpPr>
        <p:spPr>
          <a:xfrm>
            <a:off x="5102351" y="2880360"/>
            <a:ext cx="1956815" cy="2113399"/>
          </a:xfrm>
          <a:prstGeom prst="rect">
            <a:avLst/>
          </a:prstGeom>
          <a:noFill/>
        </p:spPr>
        <p:txBody>
          <a:bodyPr wrap="square">
            <a:spAutoFit/>
          </a:bodyPr>
          <a:lstStyle/>
          <a:p>
            <a:r>
              <a:rPr sz="1100" b="1" dirty="0">
                <a:solidFill>
                  <a:srgbClr val="00336A"/>
                </a:solidFill>
                <a:latin typeface="Calibri"/>
              </a:rPr>
              <a:t>Obj 3: 1-on-1 Encrypted DMs</a:t>
            </a:r>
          </a:p>
          <a:p>
            <a:pPr>
              <a:spcBef>
                <a:spcPts val="400"/>
              </a:spcBef>
            </a:pPr>
            <a:r>
              <a:rPr sz="1300" dirty="0">
                <a:solidFill>
                  <a:srgbClr val="475569"/>
                </a:solidFill>
                <a:latin typeface="Calibri"/>
              </a:rPr>
              <a:t>Enable private student-faculty consultation initiated directly from Q&amp;A threads using client-side RSA-OAEP 2048 &amp; AES-GCM 256 encryption, paired with an educational BB84 QKD simulator.</a:t>
            </a:r>
          </a:p>
        </p:txBody>
      </p:sp>
      <p:sp>
        <p:nvSpPr>
          <p:cNvPr id="22" name="Rounded Rectangle 21"/>
          <p:cNvSpPr/>
          <p:nvPr/>
        </p:nvSpPr>
        <p:spPr>
          <a:xfrm>
            <a:off x="7287767" y="2423160"/>
            <a:ext cx="2139696"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287767" y="2423160"/>
            <a:ext cx="2139696" cy="4114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IMMUTABLE TRUST</a:t>
            </a:r>
          </a:p>
        </p:txBody>
      </p:sp>
      <p:sp>
        <p:nvSpPr>
          <p:cNvPr id="24" name="TextBox 23"/>
          <p:cNvSpPr txBox="1"/>
          <p:nvPr/>
        </p:nvSpPr>
        <p:spPr>
          <a:xfrm>
            <a:off x="7379207" y="2880360"/>
            <a:ext cx="1956815" cy="2313454"/>
          </a:xfrm>
          <a:prstGeom prst="rect">
            <a:avLst/>
          </a:prstGeom>
          <a:noFill/>
        </p:spPr>
        <p:txBody>
          <a:bodyPr wrap="square">
            <a:spAutoFit/>
          </a:bodyPr>
          <a:lstStyle/>
          <a:p>
            <a:r>
              <a:rPr sz="1100" b="1" dirty="0">
                <a:solidFill>
                  <a:srgbClr val="00336A"/>
                </a:solidFill>
                <a:latin typeface="Calibri"/>
              </a:rPr>
              <a:t>Obj 4: Blockchain Audit Trail</a:t>
            </a:r>
          </a:p>
          <a:p>
            <a:pPr>
              <a:spcBef>
                <a:spcPts val="400"/>
              </a:spcBef>
            </a:pPr>
            <a:r>
              <a:rPr sz="1300" dirty="0">
                <a:solidFill>
                  <a:srgbClr val="475569"/>
                </a:solidFill>
                <a:latin typeface="Calibri"/>
              </a:rPr>
              <a:t>Anchor SHA-256 digests of answers and submissions to a permissioned Hyperledger Besu blockchain (QBFT, zero-gas smart contracts) for permanent non-repudiation and dispute resolution.</a:t>
            </a:r>
          </a:p>
        </p:txBody>
      </p:sp>
      <p:sp>
        <p:nvSpPr>
          <p:cNvPr id="25" name="Rounded Rectangle 24"/>
          <p:cNvSpPr/>
          <p:nvPr/>
        </p:nvSpPr>
        <p:spPr>
          <a:xfrm>
            <a:off x="9564624" y="2423160"/>
            <a:ext cx="2139696" cy="3337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564624" y="2423160"/>
            <a:ext cx="2139696" cy="4114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INSTITUTIONAL CONTROL</a:t>
            </a:r>
          </a:p>
        </p:txBody>
      </p:sp>
      <p:sp>
        <p:nvSpPr>
          <p:cNvPr id="27" name="TextBox 26"/>
          <p:cNvSpPr txBox="1"/>
          <p:nvPr/>
        </p:nvSpPr>
        <p:spPr>
          <a:xfrm>
            <a:off x="9656063" y="2880360"/>
            <a:ext cx="1956815" cy="2082621"/>
          </a:xfrm>
          <a:prstGeom prst="rect">
            <a:avLst/>
          </a:prstGeom>
          <a:noFill/>
        </p:spPr>
        <p:txBody>
          <a:bodyPr wrap="square">
            <a:spAutoFit/>
          </a:bodyPr>
          <a:lstStyle/>
          <a:p>
            <a:r>
              <a:rPr sz="1100" b="1" dirty="0">
                <a:solidFill>
                  <a:srgbClr val="00336A"/>
                </a:solidFill>
                <a:latin typeface="Calibri"/>
              </a:rPr>
              <a:t>Obj 5: Admin &amp; Governance Desk</a:t>
            </a:r>
          </a:p>
          <a:p>
            <a:pPr>
              <a:spcBef>
                <a:spcPts val="400"/>
              </a:spcBef>
            </a:pPr>
            <a:r>
              <a:rPr sz="1300" dirty="0">
                <a:solidFill>
                  <a:srgbClr val="475569"/>
                </a:solidFill>
                <a:latin typeface="Calibri"/>
              </a:rPr>
              <a:t>Provide administrative tooling for departmental routing, lecturer credential approval, and cryptographic dispute audit verification via real student index/staff queries.</a:t>
            </a:r>
          </a:p>
        </p:txBody>
      </p:sp>
      <p:sp>
        <p:nvSpPr>
          <p:cNvPr id="28" name="Rounded Rectangle 27"/>
          <p:cNvSpPr/>
          <p:nvPr/>
        </p:nvSpPr>
        <p:spPr>
          <a:xfrm>
            <a:off x="457200" y="5897880"/>
            <a:ext cx="11247120" cy="50292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57200" y="5897880"/>
            <a:ext cx="91440" cy="50292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943600"/>
            <a:ext cx="10972800" cy="338554"/>
          </a:xfrm>
          <a:prstGeom prst="rect">
            <a:avLst/>
          </a:prstGeom>
          <a:noFill/>
        </p:spPr>
        <p:txBody>
          <a:bodyPr wrap="square">
            <a:spAutoFit/>
          </a:bodyPr>
          <a:lstStyle/>
          <a:p>
            <a:pPr algn="l"/>
            <a:r>
              <a:rPr sz="1100" b="1" dirty="0">
                <a:solidFill>
                  <a:srgbClr val="FFC107"/>
                </a:solidFill>
                <a:latin typeface="Calibri"/>
              </a:rPr>
              <a:t>CENTRAL ARCHITECTURAL PRINCIPLE: </a:t>
            </a:r>
            <a:r>
              <a:rPr sz="1100" dirty="0">
                <a:solidFill>
                  <a:srgbClr val="FFFFFF"/>
                </a:solidFill>
                <a:latin typeface="Calibri"/>
              </a:rPr>
              <a:t>"Q&amp;A is the </a:t>
            </a:r>
            <a:r>
              <a:rPr sz="1600" dirty="0">
                <a:solidFill>
                  <a:srgbClr val="FFFFFF"/>
                </a:solidFill>
                <a:latin typeface="Calibri"/>
              </a:rPr>
              <a:t>primary</a:t>
            </a:r>
            <a:r>
              <a:rPr sz="1100" dirty="0">
                <a:solidFill>
                  <a:srgbClr val="FFFFFF"/>
                </a:solidFill>
                <a:latin typeface="Calibri"/>
              </a:rPr>
              <a:t> campus workspace. Direct messaging is a follow-up tool. Blockchain provides the proof."</a:t>
            </a:r>
          </a:p>
        </p:txBody>
      </p:sp>
      <p:pic>
        <p:nvPicPr>
          <p:cNvPr id="32" name="Picture 31">
            <a:extLst>
              <a:ext uri="{FF2B5EF4-FFF2-40B4-BE49-F238E27FC236}">
                <a16:creationId xmlns:a16="http://schemas.microsoft.com/office/drawing/2014/main" id="{C780D345-0DC2-74B9-21BA-264531B5D2D9}"/>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04</a:t>
            </a:r>
          </a:p>
        </p:txBody>
      </p:sp>
      <p:sp>
        <p:nvSpPr>
          <p:cNvPr id="6" name="TextBox 5"/>
          <p:cNvSpPr txBox="1"/>
          <p:nvPr/>
        </p:nvSpPr>
        <p:spPr>
          <a:xfrm>
            <a:off x="1325880" y="109728"/>
            <a:ext cx="9601200" cy="822960"/>
          </a:xfrm>
          <a:prstGeom prst="rect">
            <a:avLst/>
          </a:prstGeom>
          <a:noFill/>
        </p:spPr>
        <p:txBody>
          <a:bodyPr wrap="square">
            <a:spAutoFit/>
          </a:bodyPr>
          <a:lstStyle/>
          <a:p>
            <a:r>
              <a:rPr sz="2000" b="1">
                <a:solidFill>
                  <a:srgbClr val="FFFFFF"/>
                </a:solidFill>
                <a:latin typeface="Calibri"/>
              </a:rPr>
              <a:t>Related Work &amp; Platform Comparison</a:t>
            </a:r>
          </a:p>
          <a:p>
            <a:r>
              <a:rPr sz="1100" i="1">
                <a:solidFill>
                  <a:srgbClr val="BAE6FD"/>
                </a:solidFill>
                <a:latin typeface="Calibri"/>
              </a:rPr>
              <a:t>Comparative Analysis of Existing Higher Education Communication Channels vs. QCampus Connect</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04 / 08</a:t>
            </a:r>
          </a:p>
        </p:txBody>
      </p:sp>
      <p:sp>
        <p:nvSpPr>
          <p:cNvPr id="10" name="Rounded Rectangle 9"/>
          <p:cNvSpPr/>
          <p:nvPr/>
        </p:nvSpPr>
        <p:spPr>
          <a:xfrm>
            <a:off x="457200" y="1234440"/>
            <a:ext cx="5532120" cy="2103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234440"/>
            <a:ext cx="55321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325880"/>
            <a:ext cx="5257800" cy="1615827"/>
          </a:xfrm>
          <a:prstGeom prst="rect">
            <a:avLst/>
          </a:prstGeom>
          <a:noFill/>
        </p:spPr>
        <p:txBody>
          <a:bodyPr wrap="square">
            <a:spAutoFit/>
          </a:bodyPr>
          <a:lstStyle/>
          <a:p>
            <a:r>
              <a:rPr sz="2400" b="1" dirty="0">
                <a:solidFill>
                  <a:srgbClr val="00336A"/>
                </a:solidFill>
                <a:latin typeface="Calibri"/>
              </a:rPr>
              <a:t>WhatsApp / Telegram</a:t>
            </a:r>
            <a:r>
              <a:rPr sz="1400" i="1" dirty="0">
                <a:solidFill>
                  <a:srgbClr val="475569"/>
                </a:solidFill>
                <a:latin typeface="Calibri"/>
              </a:rPr>
              <a:t>  (Consumer Instant Messaging)</a:t>
            </a:r>
          </a:p>
          <a:p>
            <a:pPr>
              <a:spcBef>
                <a:spcPts val="300"/>
              </a:spcBef>
            </a:pPr>
            <a:r>
              <a:rPr sz="1400" dirty="0">
                <a:solidFill>
                  <a:srgbClr val="1E293B"/>
                </a:solidFill>
                <a:latin typeface="Calibri"/>
              </a:rPr>
              <a:t>• Strengths: Sub-second message delivery; transit encryption (Signal Protocol); ubiquitous adoption.
• Critical Academic Gaps: Unstructured, noisy chat streams; messages easily deleted ('Delete for Everyone'); zero institutional role verification; completely untrusted for formal academic audit.</a:t>
            </a:r>
          </a:p>
        </p:txBody>
      </p:sp>
      <p:sp>
        <p:nvSpPr>
          <p:cNvPr id="13" name="Rounded Rectangle 12"/>
          <p:cNvSpPr/>
          <p:nvPr/>
        </p:nvSpPr>
        <p:spPr>
          <a:xfrm>
            <a:off x="6172200" y="1234440"/>
            <a:ext cx="5532120" cy="2103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72200" y="1234440"/>
            <a:ext cx="5532120" cy="54864"/>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325880"/>
            <a:ext cx="5257800" cy="1400383"/>
          </a:xfrm>
          <a:prstGeom prst="rect">
            <a:avLst/>
          </a:prstGeom>
          <a:noFill/>
        </p:spPr>
        <p:txBody>
          <a:bodyPr wrap="square">
            <a:spAutoFit/>
          </a:bodyPr>
          <a:lstStyle/>
          <a:p>
            <a:r>
              <a:rPr sz="2400" b="1" dirty="0">
                <a:solidFill>
                  <a:srgbClr val="00336A"/>
                </a:solidFill>
                <a:latin typeface="Calibri"/>
              </a:rPr>
              <a:t>Reddit / Stack Overflow</a:t>
            </a:r>
            <a:r>
              <a:rPr sz="1400" i="1" dirty="0">
                <a:solidFill>
                  <a:srgbClr val="475569"/>
                </a:solidFill>
                <a:latin typeface="Calibri"/>
              </a:rPr>
              <a:t>  (Public Discussion Forums)</a:t>
            </a:r>
          </a:p>
          <a:p>
            <a:pPr>
              <a:spcBef>
                <a:spcPts val="300"/>
              </a:spcBef>
            </a:pPr>
            <a:r>
              <a:rPr sz="1400" dirty="0">
                <a:solidFill>
                  <a:srgbClr val="1E293B"/>
                </a:solidFill>
                <a:latin typeface="Calibri"/>
              </a:rPr>
              <a:t>• Strengths: Structured Q&amp;A threading; community voting; topic tags.
• Critical Academic Gaps: Completely detached from university curricula; pseudonymous accounts; upvote karma rewards popularity over academic expertise; posts can be silently edited with no proof.</a:t>
            </a:r>
          </a:p>
        </p:txBody>
      </p:sp>
      <p:sp>
        <p:nvSpPr>
          <p:cNvPr id="16" name="Rounded Rectangle 15"/>
          <p:cNvSpPr/>
          <p:nvPr/>
        </p:nvSpPr>
        <p:spPr>
          <a:xfrm>
            <a:off x="457200" y="3474720"/>
            <a:ext cx="5532120" cy="2103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7200" y="3474720"/>
            <a:ext cx="5532120" cy="54864"/>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566160"/>
            <a:ext cx="5257800" cy="1831271"/>
          </a:xfrm>
          <a:prstGeom prst="rect">
            <a:avLst/>
          </a:prstGeom>
          <a:noFill/>
        </p:spPr>
        <p:txBody>
          <a:bodyPr wrap="square">
            <a:spAutoFit/>
          </a:bodyPr>
          <a:lstStyle/>
          <a:p>
            <a:r>
              <a:rPr sz="2400" b="1" dirty="0">
                <a:solidFill>
                  <a:srgbClr val="00336A"/>
                </a:solidFill>
                <a:latin typeface="Calibri"/>
              </a:rPr>
              <a:t>Canvas / Moodle LMS</a:t>
            </a:r>
            <a:r>
              <a:rPr sz="1400" i="1" dirty="0">
                <a:solidFill>
                  <a:srgbClr val="475569"/>
                </a:solidFill>
                <a:latin typeface="Calibri"/>
              </a:rPr>
              <a:t>  (Coursework Management (VLE))</a:t>
            </a:r>
          </a:p>
          <a:p>
            <a:pPr>
              <a:spcBef>
                <a:spcPts val="300"/>
              </a:spcBef>
            </a:pPr>
            <a:r>
              <a:rPr sz="1400" dirty="0">
                <a:solidFill>
                  <a:srgbClr val="1E293B"/>
                </a:solidFill>
                <a:latin typeface="Calibri"/>
              </a:rPr>
              <a:t>• Strengths: Assignment submission modules; gradebook tracking; course file hosting.
• Critical Academic Gaps: Static file repositories; lacks real-time interactive peer-faculty discussions; relies on mutable SQL database logs without cryptographic non-repudiation.</a:t>
            </a:r>
          </a:p>
        </p:txBody>
      </p:sp>
      <p:sp>
        <p:nvSpPr>
          <p:cNvPr id="19" name="Rounded Rectangle 18"/>
          <p:cNvSpPr/>
          <p:nvPr/>
        </p:nvSpPr>
        <p:spPr>
          <a:xfrm>
            <a:off x="6172200" y="3474720"/>
            <a:ext cx="5532120" cy="2103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72200" y="3474720"/>
            <a:ext cx="5532120" cy="54864"/>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3566160"/>
            <a:ext cx="5257800" cy="1831271"/>
          </a:xfrm>
          <a:prstGeom prst="rect">
            <a:avLst/>
          </a:prstGeom>
          <a:noFill/>
        </p:spPr>
        <p:txBody>
          <a:bodyPr wrap="square">
            <a:spAutoFit/>
          </a:bodyPr>
          <a:lstStyle/>
          <a:p>
            <a:r>
              <a:rPr sz="2400" b="1" dirty="0">
                <a:solidFill>
                  <a:srgbClr val="00336A"/>
                </a:solidFill>
                <a:latin typeface="Calibri"/>
              </a:rPr>
              <a:t>Slack / Microsoft Teams</a:t>
            </a:r>
            <a:r>
              <a:rPr sz="1400" i="1" dirty="0">
                <a:solidFill>
                  <a:srgbClr val="475569"/>
                </a:solidFill>
                <a:latin typeface="Calibri"/>
              </a:rPr>
              <a:t>  (Enterprise Team Collaboration)</a:t>
            </a:r>
          </a:p>
          <a:p>
            <a:pPr>
              <a:spcBef>
                <a:spcPts val="300"/>
              </a:spcBef>
            </a:pPr>
            <a:r>
              <a:rPr sz="1400" dirty="0">
                <a:solidFill>
                  <a:srgbClr val="1E293B"/>
                </a:solidFill>
                <a:latin typeface="Calibri"/>
              </a:rPr>
              <a:t>• Strengths: Organized departmental channels; file sharing; role-based access control.
• Critical Academic Gaps: Expensive licensing; centralized server custody (admins can purge or edit records); no independent client-side encryption or blockchain proof.</a:t>
            </a:r>
          </a:p>
        </p:txBody>
      </p:sp>
      <p:sp>
        <p:nvSpPr>
          <p:cNvPr id="22" name="Rounded Rectangle 21"/>
          <p:cNvSpPr/>
          <p:nvPr/>
        </p:nvSpPr>
        <p:spPr>
          <a:xfrm>
            <a:off x="457200" y="5806440"/>
            <a:ext cx="11247120" cy="59436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57200" y="5806440"/>
            <a:ext cx="9144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852159"/>
            <a:ext cx="10972800" cy="492443"/>
          </a:xfrm>
          <a:prstGeom prst="rect">
            <a:avLst/>
          </a:prstGeom>
          <a:noFill/>
        </p:spPr>
        <p:txBody>
          <a:bodyPr wrap="square">
            <a:spAutoFit/>
          </a:bodyPr>
          <a:lstStyle/>
          <a:p>
            <a:pPr algn="l"/>
            <a:r>
              <a:rPr sz="1300" b="1" dirty="0">
                <a:solidFill>
                  <a:srgbClr val="FFC107"/>
                </a:solidFill>
                <a:latin typeface="Calibri"/>
              </a:rPr>
              <a:t>RESEARCH SYNTHESIS: </a:t>
            </a:r>
            <a:r>
              <a:rPr sz="1300" dirty="0" err="1">
                <a:solidFill>
                  <a:srgbClr val="FFFFFF"/>
                </a:solidFill>
                <a:latin typeface="Calibri"/>
              </a:rPr>
              <a:t>QCampus</a:t>
            </a:r>
            <a:r>
              <a:rPr sz="1300" dirty="0">
                <a:solidFill>
                  <a:srgbClr val="FFFFFF"/>
                </a:solidFill>
                <a:latin typeface="Calibri"/>
              </a:rPr>
              <a:t> Connect uniquely unifies: (1) Sub-50ms reactive WebSocket discussion (Convex), (2) Institutional identity &amp; specialization badges, (3) Client-encrypted 1-on-1 consultation (RSA/AES), and (4) Zero-gas immutable blockchain provenance (Hyperledger Besu).</a:t>
            </a:r>
          </a:p>
        </p:txBody>
      </p:sp>
      <p:pic>
        <p:nvPicPr>
          <p:cNvPr id="26" name="Picture 25">
            <a:extLst>
              <a:ext uri="{FF2B5EF4-FFF2-40B4-BE49-F238E27FC236}">
                <a16:creationId xmlns:a16="http://schemas.microsoft.com/office/drawing/2014/main" id="{10DF7C6D-EEF9-AF4D-DB43-E7F77288D6D7}"/>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05</a:t>
            </a:r>
          </a:p>
        </p:txBody>
      </p:sp>
      <p:sp>
        <p:nvSpPr>
          <p:cNvPr id="6" name="TextBox 5"/>
          <p:cNvSpPr txBox="1"/>
          <p:nvPr/>
        </p:nvSpPr>
        <p:spPr>
          <a:xfrm>
            <a:off x="1325880" y="109728"/>
            <a:ext cx="9601200" cy="822960"/>
          </a:xfrm>
          <a:prstGeom prst="rect">
            <a:avLst/>
          </a:prstGeom>
          <a:noFill/>
        </p:spPr>
        <p:txBody>
          <a:bodyPr wrap="square">
            <a:spAutoFit/>
          </a:bodyPr>
          <a:lstStyle/>
          <a:p>
            <a:r>
              <a:rPr sz="2000" b="1">
                <a:solidFill>
                  <a:srgbClr val="FFFFFF"/>
                </a:solidFill>
                <a:latin typeface="Calibri"/>
              </a:rPr>
              <a:t>Methodology &amp; System Architecture</a:t>
            </a:r>
          </a:p>
          <a:p>
            <a:r>
              <a:rPr sz="1100" i="1">
                <a:solidFill>
                  <a:srgbClr val="BAE6FD"/>
                </a:solidFill>
                <a:latin typeface="Calibri"/>
              </a:rPr>
              <a:t>Three-Tier Enterprise Architecture: Client-Side WebCrypto, Real-Time Serverless &amp; Blockchain Layer</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05 / 08</a:t>
            </a:r>
          </a:p>
        </p:txBody>
      </p:sp>
      <p:sp>
        <p:nvSpPr>
          <p:cNvPr id="10" name="Rounded Rectangle 9"/>
          <p:cNvSpPr/>
          <p:nvPr/>
        </p:nvSpPr>
        <p:spPr>
          <a:xfrm>
            <a:off x="457200" y="1234440"/>
            <a:ext cx="566928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234440"/>
            <a:ext cx="73152" cy="141732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307592"/>
            <a:ext cx="5440680" cy="1261884"/>
          </a:xfrm>
          <a:prstGeom prst="rect">
            <a:avLst/>
          </a:prstGeom>
          <a:noFill/>
        </p:spPr>
        <p:txBody>
          <a:bodyPr wrap="square">
            <a:spAutoFit/>
          </a:bodyPr>
          <a:lstStyle/>
          <a:p>
            <a:r>
              <a:rPr sz="1100" b="1" dirty="0">
                <a:solidFill>
                  <a:srgbClr val="00336A"/>
                </a:solidFill>
                <a:latin typeface="Calibri"/>
              </a:rPr>
              <a:t>1. PRESENTATION LAYER (Browser — React 19 SPA)</a:t>
            </a:r>
          </a:p>
          <a:p>
            <a:pPr>
              <a:spcBef>
                <a:spcPts val="200"/>
              </a:spcBef>
            </a:pPr>
            <a:r>
              <a:rPr sz="1200" dirty="0">
                <a:solidFill>
                  <a:srgbClr val="1E293B"/>
                </a:solidFill>
                <a:latin typeface="Calibri"/>
              </a:rPr>
              <a:t>Tech Stack: React 19 + TypeScript + Vite + Tailwind CSS + Web Crypto API
• Core Modules: Verified Q&amp;A Forum (Primary), Direct Messages (Sub-feature), Admin Audit Desk, BB84 Simulator.
• Security: RSA-OAEP 2048 keypairs &amp; AES-GCM 256 generated locally in browser; private keys stored securely in </a:t>
            </a:r>
            <a:r>
              <a:rPr sz="1200" dirty="0" err="1">
                <a:solidFill>
                  <a:srgbClr val="1E293B"/>
                </a:solidFill>
                <a:latin typeface="Calibri"/>
              </a:rPr>
              <a:t>IndexedDB</a:t>
            </a:r>
            <a:r>
              <a:rPr sz="1200" dirty="0">
                <a:solidFill>
                  <a:srgbClr val="1E293B"/>
                </a:solidFill>
                <a:latin typeface="Calibri"/>
              </a:rPr>
              <a:t>.</a:t>
            </a:r>
          </a:p>
        </p:txBody>
      </p:sp>
      <p:sp>
        <p:nvSpPr>
          <p:cNvPr id="13" name="Rounded Rectangle 12"/>
          <p:cNvSpPr/>
          <p:nvPr/>
        </p:nvSpPr>
        <p:spPr>
          <a:xfrm>
            <a:off x="457200" y="2743200"/>
            <a:ext cx="566928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2743200"/>
            <a:ext cx="73152" cy="1417320"/>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816352"/>
            <a:ext cx="5440680" cy="1287532"/>
          </a:xfrm>
          <a:prstGeom prst="rect">
            <a:avLst/>
          </a:prstGeom>
          <a:noFill/>
        </p:spPr>
        <p:txBody>
          <a:bodyPr wrap="square">
            <a:spAutoFit/>
          </a:bodyPr>
          <a:lstStyle/>
          <a:p>
            <a:r>
              <a:rPr sz="1100" b="1" dirty="0">
                <a:solidFill>
                  <a:srgbClr val="1E90FF"/>
                </a:solidFill>
                <a:latin typeface="Calibri"/>
              </a:rPr>
              <a:t>2. APPLICATION LAYER (Convex Serverless Platform)</a:t>
            </a:r>
          </a:p>
          <a:p>
            <a:pPr>
              <a:spcBef>
                <a:spcPts val="200"/>
              </a:spcBef>
            </a:pPr>
            <a:r>
              <a:rPr sz="1200" dirty="0">
                <a:solidFill>
                  <a:srgbClr val="1E293B"/>
                </a:solidFill>
                <a:latin typeface="Calibri"/>
              </a:rPr>
              <a:t>Tech Stack: Convex Serverless Cloud &amp; WebSocket Engine (~50ms Reactive Sync)
• Document Store: users, departments, questions, answers, </a:t>
            </a:r>
            <a:r>
              <a:rPr sz="1200" dirty="0" err="1">
                <a:solidFill>
                  <a:srgbClr val="1E293B"/>
                </a:solidFill>
                <a:latin typeface="Calibri"/>
              </a:rPr>
              <a:t>chatRooms</a:t>
            </a:r>
            <a:r>
              <a:rPr sz="1200" dirty="0">
                <a:solidFill>
                  <a:srgbClr val="1E293B"/>
                </a:solidFill>
                <a:latin typeface="Calibri"/>
              </a:rPr>
              <a:t>, </a:t>
            </a:r>
            <a:r>
              <a:rPr sz="1200" dirty="0" err="1">
                <a:solidFill>
                  <a:srgbClr val="1E293B"/>
                </a:solidFill>
                <a:latin typeface="Calibri"/>
              </a:rPr>
              <a:t>encryptedFiles</a:t>
            </a:r>
            <a:r>
              <a:rPr sz="1200" dirty="0">
                <a:solidFill>
                  <a:srgbClr val="1E293B"/>
                </a:solidFill>
                <a:latin typeface="Calibri"/>
              </a:rPr>
              <a:t>.
• Functions: </a:t>
            </a:r>
            <a:r>
              <a:rPr sz="1200" dirty="0" err="1">
                <a:solidFill>
                  <a:srgbClr val="1E293B"/>
                </a:solidFill>
                <a:latin typeface="Calibri"/>
              </a:rPr>
              <a:t>getQuestions</a:t>
            </a:r>
            <a:r>
              <a:rPr sz="1200" dirty="0">
                <a:solidFill>
                  <a:srgbClr val="1E293B"/>
                </a:solidFill>
                <a:latin typeface="Calibri"/>
              </a:rPr>
              <a:t>, </a:t>
            </a:r>
            <a:r>
              <a:rPr sz="1200" dirty="0" err="1">
                <a:solidFill>
                  <a:srgbClr val="1E293B"/>
                </a:solidFill>
                <a:latin typeface="Calibri"/>
              </a:rPr>
              <a:t>askQuestion</a:t>
            </a:r>
            <a:r>
              <a:rPr sz="1200" dirty="0">
                <a:solidFill>
                  <a:srgbClr val="1E293B"/>
                </a:solidFill>
                <a:latin typeface="Calibri"/>
              </a:rPr>
              <a:t>, </a:t>
            </a:r>
            <a:r>
              <a:rPr sz="1200" dirty="0" err="1">
                <a:solidFill>
                  <a:srgbClr val="1E293B"/>
                </a:solidFill>
                <a:latin typeface="Calibri"/>
              </a:rPr>
              <a:t>addAnswer</a:t>
            </a:r>
            <a:r>
              <a:rPr sz="1200" dirty="0">
                <a:solidFill>
                  <a:srgbClr val="1E293B"/>
                </a:solidFill>
                <a:latin typeface="Calibri"/>
              </a:rPr>
              <a:t>, </a:t>
            </a:r>
            <a:r>
              <a:rPr sz="1200" dirty="0" err="1">
                <a:solidFill>
                  <a:srgbClr val="1E293B"/>
                </a:solidFill>
                <a:latin typeface="Calibri"/>
              </a:rPr>
              <a:t>getOrCreateRoom</a:t>
            </a:r>
            <a:r>
              <a:rPr sz="1200" dirty="0">
                <a:solidFill>
                  <a:srgbClr val="1E293B"/>
                </a:solidFill>
                <a:latin typeface="Calibri"/>
              </a:rPr>
              <a:t>, </a:t>
            </a:r>
            <a:r>
              <a:rPr sz="1200" dirty="0" err="1">
                <a:solidFill>
                  <a:srgbClr val="1E293B"/>
                </a:solidFill>
                <a:latin typeface="Calibri"/>
              </a:rPr>
              <a:t>verifyUser</a:t>
            </a:r>
            <a:r>
              <a:rPr sz="1200" dirty="0">
                <a:solidFill>
                  <a:srgbClr val="1E293B"/>
                </a:solidFill>
                <a:latin typeface="Calibri"/>
              </a:rPr>
              <a:t>.
• Unread count tracking and live UI state synchronization</a:t>
            </a:r>
            <a:r>
              <a:rPr sz="1050" dirty="0">
                <a:solidFill>
                  <a:srgbClr val="1E293B"/>
                </a:solidFill>
                <a:latin typeface="Calibri"/>
              </a:rPr>
              <a:t>.</a:t>
            </a:r>
          </a:p>
        </p:txBody>
      </p:sp>
      <p:sp>
        <p:nvSpPr>
          <p:cNvPr id="16" name="Rounded Rectangle 15"/>
          <p:cNvSpPr/>
          <p:nvPr/>
        </p:nvSpPr>
        <p:spPr>
          <a:xfrm>
            <a:off x="457200" y="4251960"/>
            <a:ext cx="566928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7200" y="4251960"/>
            <a:ext cx="73152" cy="1417320"/>
          </a:xfrm>
          <a:prstGeom prst="round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296537"/>
            <a:ext cx="5440680" cy="1461939"/>
          </a:xfrm>
          <a:prstGeom prst="rect">
            <a:avLst/>
          </a:prstGeom>
          <a:noFill/>
        </p:spPr>
        <p:txBody>
          <a:bodyPr wrap="square">
            <a:spAutoFit/>
          </a:bodyPr>
          <a:lstStyle/>
          <a:p>
            <a:r>
              <a:rPr sz="1100" b="1" dirty="0">
                <a:solidFill>
                  <a:srgbClr val="00509E"/>
                </a:solidFill>
                <a:latin typeface="Calibri"/>
              </a:rPr>
              <a:t>3. VERIFICATION LAYER (Hyperledger Besu + Solidity)</a:t>
            </a:r>
          </a:p>
          <a:p>
            <a:pPr>
              <a:spcBef>
                <a:spcPts val="200"/>
              </a:spcBef>
            </a:pPr>
            <a:r>
              <a:rPr sz="1200" dirty="0">
                <a:solidFill>
                  <a:srgbClr val="1E293B"/>
                </a:solidFill>
                <a:latin typeface="Calibri"/>
              </a:rPr>
              <a:t>Tech Stack: Hyperledger Besu Private Ethereum Network (QBFT Consensus, </a:t>
            </a:r>
            <a:r>
              <a:rPr sz="1200" dirty="0" err="1">
                <a:solidFill>
                  <a:srgbClr val="1E293B"/>
                </a:solidFill>
                <a:latin typeface="Calibri"/>
              </a:rPr>
              <a:t>ChainId</a:t>
            </a:r>
            <a:r>
              <a:rPr sz="1200" dirty="0">
                <a:solidFill>
                  <a:srgbClr val="1E293B"/>
                </a:solidFill>
                <a:latin typeface="Calibri"/>
              </a:rPr>
              <a:t> 1337, Zero Gas)
• Smart Contract: </a:t>
            </a:r>
            <a:r>
              <a:rPr sz="1200" dirty="0" err="1">
                <a:solidFill>
                  <a:srgbClr val="1E293B"/>
                </a:solidFill>
                <a:latin typeface="Calibri"/>
              </a:rPr>
              <a:t>MessageVerifier.sol</a:t>
            </a:r>
            <a:r>
              <a:rPr sz="1200" dirty="0">
                <a:solidFill>
                  <a:srgbClr val="1E293B"/>
                </a:solidFill>
                <a:latin typeface="Calibri"/>
              </a:rPr>
              <a:t> (</a:t>
            </a:r>
            <a:r>
              <a:rPr sz="1200" dirty="0" err="1">
                <a:solidFill>
                  <a:srgbClr val="1E293B"/>
                </a:solidFill>
                <a:latin typeface="Calibri"/>
              </a:rPr>
              <a:t>recordHash</a:t>
            </a:r>
            <a:r>
              <a:rPr sz="1200" dirty="0">
                <a:solidFill>
                  <a:srgbClr val="1E293B"/>
                </a:solidFill>
                <a:latin typeface="Calibri"/>
              </a:rPr>
              <a:t>, </a:t>
            </a:r>
            <a:r>
              <a:rPr sz="1200" dirty="0" err="1">
                <a:solidFill>
                  <a:srgbClr val="1E293B"/>
                </a:solidFill>
                <a:latin typeface="Calibri"/>
              </a:rPr>
              <a:t>verifyUserWithIndex</a:t>
            </a:r>
            <a:r>
              <a:rPr sz="1200" dirty="0">
                <a:solidFill>
                  <a:srgbClr val="1E293B"/>
                </a:solidFill>
                <a:latin typeface="Calibri"/>
              </a:rPr>
              <a:t>, </a:t>
            </a:r>
            <a:r>
              <a:rPr sz="1200" dirty="0" err="1">
                <a:solidFill>
                  <a:srgbClr val="1E293B"/>
                </a:solidFill>
                <a:latin typeface="Calibri"/>
              </a:rPr>
              <a:t>verifyUserWithStaffId</a:t>
            </a:r>
            <a:r>
              <a:rPr sz="1200" dirty="0">
                <a:solidFill>
                  <a:srgbClr val="1E293B"/>
                </a:solidFill>
                <a:latin typeface="Calibri"/>
              </a:rPr>
              <a:t>).
• Audit Trail: Asynchronous SHA-256 digest anchoring (~0.3-0.5s block write) for non-repudiation.</a:t>
            </a:r>
          </a:p>
        </p:txBody>
      </p:sp>
      <p:sp>
        <p:nvSpPr>
          <p:cNvPr id="19" name="Rounded Rectangle 18"/>
          <p:cNvSpPr/>
          <p:nvPr/>
        </p:nvSpPr>
        <p:spPr>
          <a:xfrm>
            <a:off x="6309360" y="1234440"/>
            <a:ext cx="5394960" cy="4434840"/>
          </a:xfrm>
          <a:prstGeom prst="roundRect">
            <a:avLst/>
          </a:prstGeom>
          <a:solidFill>
            <a:srgbClr val="EEF4FA"/>
          </a:solidFill>
          <a:ln w="19050">
            <a:solidFill>
              <a:srgbClr val="1E90FF"/>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92240" y="1371600"/>
            <a:ext cx="5029200" cy="41148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  THREE-TIER SYSTEM ARCHITECTURE &amp; CRYPTO FLOW</a:t>
            </a:r>
          </a:p>
        </p:txBody>
      </p:sp>
      <p:sp>
        <p:nvSpPr>
          <p:cNvPr id="21" name="TextBox 20"/>
          <p:cNvSpPr txBox="1"/>
          <p:nvPr/>
        </p:nvSpPr>
        <p:spPr>
          <a:xfrm>
            <a:off x="6537960" y="1828800"/>
            <a:ext cx="4937760" cy="2995692"/>
          </a:xfrm>
          <a:prstGeom prst="rect">
            <a:avLst/>
          </a:prstGeom>
          <a:noFill/>
        </p:spPr>
        <p:txBody>
          <a:bodyPr wrap="square">
            <a:spAutoFit/>
          </a:bodyPr>
          <a:lstStyle/>
          <a:p>
            <a:pPr algn="ctr"/>
            <a:r>
              <a:rPr sz="1600" b="1" i="1" dirty="0">
                <a:solidFill>
                  <a:srgbClr val="00509E"/>
                </a:solidFill>
                <a:latin typeface="Calibri"/>
              </a:rPr>
              <a:t>End-to-End Reactive </a:t>
            </a:r>
            <a:r>
              <a:rPr sz="1600" b="1" i="1" dirty="0" err="1">
                <a:solidFill>
                  <a:srgbClr val="00509E"/>
                </a:solidFill>
                <a:latin typeface="Calibri"/>
              </a:rPr>
              <a:t>WebSockets</a:t>
            </a:r>
            <a:r>
              <a:rPr sz="1600" b="1" i="1" dirty="0">
                <a:solidFill>
                  <a:srgbClr val="00509E"/>
                </a:solidFill>
                <a:latin typeface="Calibri"/>
              </a:rPr>
              <a:t> &amp; Asynchronous Besu Blockchain Anchoring</a:t>
            </a:r>
          </a:p>
          <a:p>
            <a:pPr>
              <a:spcBef>
                <a:spcPts val="400"/>
              </a:spcBef>
            </a:pPr>
            <a:r>
              <a:rPr sz="1400" dirty="0">
                <a:solidFill>
                  <a:srgbClr val="1E293B"/>
                </a:solidFill>
                <a:latin typeface="Calibri"/>
              </a:rPr>
              <a:t>• User Browser: Web Crypto API generates RSA-2048 &amp; AES-256 keys locally. Private key saved to </a:t>
            </a:r>
            <a:r>
              <a:rPr sz="1400" dirty="0" err="1">
                <a:solidFill>
                  <a:srgbClr val="1E293B"/>
                </a:solidFill>
                <a:latin typeface="Calibri"/>
              </a:rPr>
              <a:t>IndexedDB</a:t>
            </a:r>
            <a:r>
              <a:rPr sz="1400" dirty="0">
                <a:solidFill>
                  <a:srgbClr val="1E293B"/>
                </a:solidFill>
                <a:latin typeface="Calibri"/>
              </a:rPr>
              <a:t>.</a:t>
            </a:r>
          </a:p>
          <a:p>
            <a:pPr>
              <a:spcBef>
                <a:spcPts val="400"/>
              </a:spcBef>
            </a:pPr>
            <a:r>
              <a:rPr sz="1400" dirty="0">
                <a:solidFill>
                  <a:srgbClr val="1E293B"/>
                </a:solidFill>
                <a:latin typeface="Calibri"/>
              </a:rPr>
              <a:t>• Convex Serverless: Real-time </a:t>
            </a:r>
            <a:r>
              <a:rPr sz="1400" dirty="0" err="1">
                <a:solidFill>
                  <a:srgbClr val="1E293B"/>
                </a:solidFill>
                <a:latin typeface="Calibri"/>
              </a:rPr>
              <a:t>WebSockets</a:t>
            </a:r>
            <a:r>
              <a:rPr sz="1400" dirty="0">
                <a:solidFill>
                  <a:srgbClr val="1E293B"/>
                </a:solidFill>
                <a:latin typeface="Calibri"/>
              </a:rPr>
              <a:t> sync questions and answers to all active clients in &lt;50ms.</a:t>
            </a:r>
          </a:p>
          <a:p>
            <a:pPr>
              <a:spcBef>
                <a:spcPts val="400"/>
              </a:spcBef>
            </a:pPr>
            <a:r>
              <a:rPr sz="1400" dirty="0">
                <a:solidFill>
                  <a:srgbClr val="1E293B"/>
                </a:solidFill>
                <a:latin typeface="Calibri"/>
              </a:rPr>
              <a:t>• Besu Blockchain: Asynchronous background worker commits SHA-256 hash digests to </a:t>
            </a:r>
            <a:r>
              <a:rPr sz="1400" dirty="0" err="1">
                <a:solidFill>
                  <a:srgbClr val="1E293B"/>
                </a:solidFill>
                <a:latin typeface="Calibri"/>
              </a:rPr>
              <a:t>MessageVerifier.sol</a:t>
            </a:r>
            <a:r>
              <a:rPr sz="1400" dirty="0">
                <a:solidFill>
                  <a:srgbClr val="1E293B"/>
                </a:solidFill>
                <a:latin typeface="Calibri"/>
              </a:rPr>
              <a:t>.</a:t>
            </a:r>
          </a:p>
          <a:p>
            <a:pPr>
              <a:spcBef>
                <a:spcPts val="400"/>
              </a:spcBef>
            </a:pPr>
            <a:r>
              <a:rPr sz="1400" dirty="0">
                <a:solidFill>
                  <a:srgbClr val="1E293B"/>
                </a:solidFill>
                <a:latin typeface="Calibri"/>
              </a:rPr>
              <a:t>• Admin Audit Desk: Independent verifier queries smart contract to prove authenticity without trusting server.</a:t>
            </a:r>
          </a:p>
          <a:p>
            <a:pPr>
              <a:spcBef>
                <a:spcPts val="400"/>
              </a:spcBef>
            </a:pPr>
            <a:r>
              <a:rPr sz="1400" dirty="0">
                <a:solidFill>
                  <a:srgbClr val="1E293B"/>
                </a:solidFill>
                <a:latin typeface="Calibri"/>
              </a:rPr>
              <a:t>• Zero Gas Fees: QBFT consensus on private Besu network eliminates all transaction costs for university.</a:t>
            </a:r>
          </a:p>
        </p:txBody>
      </p:sp>
      <p:sp>
        <p:nvSpPr>
          <p:cNvPr id="22" name="Rounded Rectangle 21"/>
          <p:cNvSpPr/>
          <p:nvPr/>
        </p:nvSpPr>
        <p:spPr>
          <a:xfrm>
            <a:off x="457200" y="5806440"/>
            <a:ext cx="11247120" cy="59436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57200" y="5806440"/>
            <a:ext cx="9144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852159"/>
            <a:ext cx="10972800" cy="461665"/>
          </a:xfrm>
          <a:prstGeom prst="rect">
            <a:avLst/>
          </a:prstGeom>
          <a:noFill/>
        </p:spPr>
        <p:txBody>
          <a:bodyPr wrap="square">
            <a:spAutoFit/>
          </a:bodyPr>
          <a:lstStyle/>
          <a:p>
            <a:pPr algn="l"/>
            <a:r>
              <a:rPr sz="1200" b="1" dirty="0">
                <a:solidFill>
                  <a:srgbClr val="FFC107"/>
                </a:solidFill>
                <a:latin typeface="Calibri"/>
              </a:rPr>
              <a:t>ARCHITECTURAL INSIGHT: </a:t>
            </a:r>
            <a:r>
              <a:rPr sz="1200" dirty="0">
                <a:solidFill>
                  <a:srgbClr val="FFFFFF"/>
                </a:solidFill>
                <a:latin typeface="Calibri"/>
              </a:rPr>
              <a:t>Users experience ~50ms instant messaging via Convex </a:t>
            </a:r>
            <a:r>
              <a:rPr sz="1200" dirty="0" err="1">
                <a:solidFill>
                  <a:srgbClr val="FFFFFF"/>
                </a:solidFill>
                <a:latin typeface="Calibri"/>
              </a:rPr>
              <a:t>WebSockets</a:t>
            </a:r>
            <a:r>
              <a:rPr sz="1200" dirty="0">
                <a:solidFill>
                  <a:srgbClr val="FFFFFF"/>
                </a:solidFill>
                <a:latin typeface="Calibri"/>
              </a:rPr>
              <a:t>, while blockchain audit logging occurs asynchronously in the background (~0.3-0.5s) without blocking the UI or charging gas fees.</a:t>
            </a:r>
          </a:p>
        </p:txBody>
      </p:sp>
      <p:pic>
        <p:nvPicPr>
          <p:cNvPr id="26" name="Picture 25">
            <a:extLst>
              <a:ext uri="{FF2B5EF4-FFF2-40B4-BE49-F238E27FC236}">
                <a16:creationId xmlns:a16="http://schemas.microsoft.com/office/drawing/2014/main" id="{CB1E3B97-5BA2-D0E8-9337-7AFAA7E820FA}"/>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06</a:t>
            </a:r>
          </a:p>
        </p:txBody>
      </p:sp>
      <p:sp>
        <p:nvSpPr>
          <p:cNvPr id="6" name="TextBox 5"/>
          <p:cNvSpPr txBox="1"/>
          <p:nvPr/>
        </p:nvSpPr>
        <p:spPr>
          <a:xfrm>
            <a:off x="1325880" y="109728"/>
            <a:ext cx="9601200" cy="822960"/>
          </a:xfrm>
          <a:prstGeom prst="rect">
            <a:avLst/>
          </a:prstGeom>
          <a:noFill/>
        </p:spPr>
        <p:txBody>
          <a:bodyPr wrap="square">
            <a:spAutoFit/>
          </a:bodyPr>
          <a:lstStyle/>
          <a:p>
            <a:r>
              <a:rPr sz="2000" b="1">
                <a:solidFill>
                  <a:srgbClr val="FFFFFF"/>
                </a:solidFill>
                <a:latin typeface="Calibri"/>
              </a:rPr>
              <a:t>Academic Q&amp;A &amp; Real-World Identity Workflow</a:t>
            </a:r>
          </a:p>
          <a:p>
            <a:r>
              <a:rPr sz="1100" i="1">
                <a:solidFill>
                  <a:srgbClr val="BAE6FD"/>
                </a:solidFill>
                <a:latin typeface="Calibri"/>
              </a:rPr>
              <a:t>End-to-End Six-Step Cryptographic Verification &amp; Consultation Lifecycle (From Forum Question to Audit Proof)</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06 / 08</a:t>
            </a:r>
          </a:p>
        </p:txBody>
      </p:sp>
      <p:sp>
        <p:nvSpPr>
          <p:cNvPr id="10" name="Rounded Rectangle 9"/>
          <p:cNvSpPr/>
          <p:nvPr/>
        </p:nvSpPr>
        <p:spPr>
          <a:xfrm>
            <a:off x="457200" y="1234440"/>
            <a:ext cx="56692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280160"/>
            <a:ext cx="5394960" cy="4154984"/>
          </a:xfrm>
          <a:prstGeom prst="rect">
            <a:avLst/>
          </a:prstGeom>
          <a:noFill/>
        </p:spPr>
        <p:txBody>
          <a:bodyPr wrap="square">
            <a:spAutoFit/>
          </a:bodyPr>
          <a:lstStyle/>
          <a:p>
            <a:r>
              <a:rPr sz="1200" b="1" dirty="0">
                <a:solidFill>
                  <a:srgbClr val="00336A"/>
                </a:solidFill>
                <a:latin typeface="Calibri"/>
              </a:rPr>
              <a:t>🔄 </a:t>
            </a:r>
            <a:r>
              <a:rPr sz="1600" b="1" dirty="0">
                <a:solidFill>
                  <a:srgbClr val="00336A"/>
                </a:solidFill>
                <a:latin typeface="Calibri"/>
              </a:rPr>
              <a:t>Six-Step End-to-End Verification Lifecycle</a:t>
            </a:r>
          </a:p>
          <a:p>
            <a:pPr>
              <a:spcBef>
                <a:spcPts val="400"/>
              </a:spcBef>
            </a:pPr>
            <a:r>
              <a:rPr sz="1400" b="1" dirty="0">
                <a:solidFill>
                  <a:srgbClr val="1E293B"/>
                </a:solidFill>
                <a:latin typeface="Calibri"/>
              </a:rPr>
              <a:t>• Step 1: Question Posting &amp; Department Classification: </a:t>
            </a:r>
            <a:r>
              <a:rPr sz="1200" dirty="0">
                <a:solidFill>
                  <a:srgbClr val="475569"/>
                </a:solidFill>
                <a:latin typeface="Calibri"/>
              </a:rPr>
              <a:t>Student posts question categorized by Department (e.g. Computer Science) and Topic tag (e.g. Cryptography). Thread is indexed publicly for all peers to study.</a:t>
            </a:r>
          </a:p>
          <a:p>
            <a:pPr>
              <a:spcBef>
                <a:spcPts val="400"/>
              </a:spcBef>
            </a:pPr>
            <a:r>
              <a:rPr sz="1400" b="1" dirty="0">
                <a:solidFill>
                  <a:srgbClr val="1E293B"/>
                </a:solidFill>
                <a:latin typeface="Calibri"/>
              </a:rPr>
              <a:t>• Step 2: Faculty Answer &amp; Cryptographic Badge Binding: </a:t>
            </a:r>
            <a:r>
              <a:rPr sz="1200" dirty="0">
                <a:solidFill>
                  <a:srgbClr val="475569"/>
                </a:solidFill>
                <a:latin typeface="Calibri"/>
              </a:rPr>
              <a:t>Verified faculty member answers; system automatically validates credentials and renders badges: 🏛️ Computer Science &amp; 📚 Cryptography, proving expert authority.</a:t>
            </a:r>
          </a:p>
          <a:p>
            <a:pPr>
              <a:spcBef>
                <a:spcPts val="400"/>
              </a:spcBef>
            </a:pPr>
            <a:r>
              <a:rPr sz="1400" b="1" dirty="0">
                <a:solidFill>
                  <a:srgbClr val="1E293B"/>
                </a:solidFill>
                <a:latin typeface="Calibri"/>
              </a:rPr>
              <a:t>• Step 3: 1-on-1 Private Consultation Trigger: </a:t>
            </a:r>
            <a:r>
              <a:rPr sz="1200" dirty="0">
                <a:solidFill>
                  <a:srgbClr val="475569"/>
                </a:solidFill>
                <a:latin typeface="Calibri"/>
              </a:rPr>
              <a:t>If deeper private assistance is required, the student clicks '💬 Message' directly on the faculty's answer to launch an end-to-end encrypted direct chat session.</a:t>
            </a:r>
          </a:p>
          <a:p>
            <a:pPr>
              <a:spcBef>
                <a:spcPts val="400"/>
              </a:spcBef>
            </a:pPr>
            <a:r>
              <a:rPr sz="1400" b="1" dirty="0">
                <a:solidFill>
                  <a:srgbClr val="1E293B"/>
                </a:solidFill>
                <a:latin typeface="Calibri"/>
              </a:rPr>
              <a:t>• Step 4: Asynchronous Blockchain Hash Anchoring: </a:t>
            </a:r>
            <a:r>
              <a:rPr sz="1200" dirty="0">
                <a:solidFill>
                  <a:srgbClr val="475569"/>
                </a:solidFill>
                <a:latin typeface="Calibri"/>
              </a:rPr>
              <a:t>System computes SHA-256 digest of question, answer, or assignment submission and registers it on Hyperledger Besu (</a:t>
            </a:r>
            <a:r>
              <a:rPr sz="1200" dirty="0" err="1">
                <a:solidFill>
                  <a:srgbClr val="475569"/>
                </a:solidFill>
                <a:latin typeface="Calibri"/>
              </a:rPr>
              <a:t>MessageVerifier.sol</a:t>
            </a:r>
            <a:r>
              <a:rPr sz="1200" dirty="0">
                <a:solidFill>
                  <a:srgbClr val="475569"/>
                </a:solidFill>
                <a:latin typeface="Calibri"/>
              </a:rPr>
              <a:t>) with block timestamp.</a:t>
            </a:r>
          </a:p>
          <a:p>
            <a:pPr>
              <a:spcBef>
                <a:spcPts val="400"/>
              </a:spcBef>
            </a:pPr>
            <a:r>
              <a:rPr sz="1400" b="1" dirty="0">
                <a:solidFill>
                  <a:srgbClr val="1E293B"/>
                </a:solidFill>
                <a:latin typeface="Calibri"/>
              </a:rPr>
              <a:t>• Step 5: Admin Identifier Search (Audit Desk): </a:t>
            </a:r>
            <a:r>
              <a:rPr sz="1200" dirty="0">
                <a:solidFill>
                  <a:srgbClr val="475569"/>
                </a:solidFill>
                <a:latin typeface="Calibri"/>
              </a:rPr>
              <a:t>Admin or examiner searches student by real institutional credential (Index: UEB3509022 / Email: osei@uenr.edu.gh / Staff: PS001) in the Admin Audit Desk.</a:t>
            </a:r>
          </a:p>
          <a:p>
            <a:pPr>
              <a:spcBef>
                <a:spcPts val="400"/>
              </a:spcBef>
            </a:pPr>
            <a:r>
              <a:rPr sz="1400" b="1" dirty="0">
                <a:solidFill>
                  <a:srgbClr val="1E293B"/>
                </a:solidFill>
                <a:latin typeface="Calibri"/>
              </a:rPr>
              <a:t>• Step 6: Certified Verdict &amp; Non-Repudiation Report: </a:t>
            </a:r>
            <a:r>
              <a:rPr sz="1200" dirty="0">
                <a:solidFill>
                  <a:srgbClr val="475569"/>
                </a:solidFill>
                <a:latin typeface="Calibri"/>
              </a:rPr>
              <a:t>System compares live database digest against immutable Besu block timestamp, displaying instant verdict: '✅ Authentic Submission' with permanent </a:t>
            </a:r>
            <a:r>
              <a:rPr sz="1200" dirty="0" err="1">
                <a:solidFill>
                  <a:srgbClr val="475569"/>
                </a:solidFill>
                <a:latin typeface="Calibri"/>
              </a:rPr>
              <a:t>tx</a:t>
            </a:r>
            <a:r>
              <a:rPr sz="1200" dirty="0">
                <a:solidFill>
                  <a:srgbClr val="475569"/>
                </a:solidFill>
                <a:latin typeface="Calibri"/>
              </a:rPr>
              <a:t> hash.</a:t>
            </a:r>
          </a:p>
        </p:txBody>
      </p:sp>
      <p:sp>
        <p:nvSpPr>
          <p:cNvPr id="12" name="Rounded Rectangle 11"/>
          <p:cNvSpPr/>
          <p:nvPr/>
        </p:nvSpPr>
        <p:spPr>
          <a:xfrm>
            <a:off x="6309360" y="1234440"/>
            <a:ext cx="5394960" cy="4434840"/>
          </a:xfrm>
          <a:prstGeom prst="roundRect">
            <a:avLst/>
          </a:prstGeom>
          <a:solidFill>
            <a:srgbClr val="EEF4FA"/>
          </a:solidFill>
          <a:ln w="19050">
            <a:solidFill>
              <a:srgbClr val="1E90FF"/>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92240" y="1371600"/>
            <a:ext cx="5029200" cy="41148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  ADMIN AUDIT DESK &amp; VERIFICATION PROOF MODAL</a:t>
            </a:r>
          </a:p>
        </p:txBody>
      </p:sp>
      <p:sp>
        <p:nvSpPr>
          <p:cNvPr id="14" name="TextBox 13"/>
          <p:cNvSpPr txBox="1"/>
          <p:nvPr/>
        </p:nvSpPr>
        <p:spPr>
          <a:xfrm>
            <a:off x="6537960" y="1828800"/>
            <a:ext cx="4937760" cy="2995692"/>
          </a:xfrm>
          <a:prstGeom prst="rect">
            <a:avLst/>
          </a:prstGeom>
          <a:noFill/>
        </p:spPr>
        <p:txBody>
          <a:bodyPr wrap="square">
            <a:spAutoFit/>
          </a:bodyPr>
          <a:lstStyle/>
          <a:p>
            <a:pPr algn="ctr"/>
            <a:r>
              <a:rPr sz="1600" b="1" i="1" dirty="0">
                <a:solidFill>
                  <a:srgbClr val="00509E"/>
                </a:solidFill>
                <a:latin typeface="Calibri"/>
              </a:rPr>
              <a:t>Live Blockchain Timestamp Verification &amp; Tamper Detection Interface</a:t>
            </a:r>
          </a:p>
          <a:p>
            <a:pPr>
              <a:spcBef>
                <a:spcPts val="400"/>
              </a:spcBef>
            </a:pPr>
            <a:r>
              <a:rPr sz="1400" dirty="0">
                <a:solidFill>
                  <a:srgbClr val="1E293B"/>
                </a:solidFill>
                <a:latin typeface="Calibri"/>
              </a:rPr>
              <a:t>• Student Identifier Search: Query index number 'UEB3509022' or staff ID 'PS001'.</a:t>
            </a:r>
          </a:p>
          <a:p>
            <a:pPr>
              <a:spcBef>
                <a:spcPts val="400"/>
              </a:spcBef>
            </a:pPr>
            <a:r>
              <a:rPr sz="1400" dirty="0">
                <a:solidFill>
                  <a:srgbClr val="1E293B"/>
                </a:solidFill>
                <a:latin typeface="Calibri"/>
              </a:rPr>
              <a:t>• Submission &amp; Post Inspector: Shows submitted coursework, file attachments, and on-chain </a:t>
            </a:r>
            <a:r>
              <a:rPr sz="1400" dirty="0" err="1">
                <a:solidFill>
                  <a:srgbClr val="1E293B"/>
                </a:solidFill>
                <a:latin typeface="Calibri"/>
              </a:rPr>
              <a:t>tx</a:t>
            </a:r>
            <a:r>
              <a:rPr sz="1400" dirty="0">
                <a:solidFill>
                  <a:srgbClr val="1E293B"/>
                </a:solidFill>
                <a:latin typeface="Calibri"/>
              </a:rPr>
              <a:t> hashes.</a:t>
            </a:r>
          </a:p>
          <a:p>
            <a:pPr>
              <a:spcBef>
                <a:spcPts val="400"/>
              </a:spcBef>
            </a:pPr>
            <a:r>
              <a:rPr sz="1400" dirty="0">
                <a:solidFill>
                  <a:srgbClr val="1E293B"/>
                </a:solidFill>
                <a:latin typeface="Calibri"/>
              </a:rPr>
              <a:t>• Cryptographic Audit Trail Modal: Compares database record vs. immutable Besu block record.</a:t>
            </a:r>
          </a:p>
          <a:p>
            <a:pPr>
              <a:spcBef>
                <a:spcPts val="400"/>
              </a:spcBef>
            </a:pPr>
            <a:r>
              <a:rPr sz="1400" dirty="0">
                <a:solidFill>
                  <a:srgbClr val="1E293B"/>
                </a:solidFill>
                <a:latin typeface="Calibri"/>
              </a:rPr>
              <a:t>• Certified Verdict Banner: Displays '✅ Authentic Submission' confirmation.</a:t>
            </a:r>
          </a:p>
          <a:p>
            <a:pPr>
              <a:spcBef>
                <a:spcPts val="400"/>
              </a:spcBef>
            </a:pPr>
            <a:r>
              <a:rPr sz="1400" dirty="0">
                <a:solidFill>
                  <a:srgbClr val="1E293B"/>
                </a:solidFill>
                <a:latin typeface="Calibri"/>
              </a:rPr>
              <a:t>• Tamper Detection Guarantee: If database record is altered, SHA-256 hash mismatch alerts admin instantly.</a:t>
            </a:r>
          </a:p>
        </p:txBody>
      </p:sp>
      <p:sp>
        <p:nvSpPr>
          <p:cNvPr id="15" name="Rounded Rectangle 14"/>
          <p:cNvSpPr/>
          <p:nvPr/>
        </p:nvSpPr>
        <p:spPr>
          <a:xfrm>
            <a:off x="457200" y="5806440"/>
            <a:ext cx="11247120" cy="59436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57200" y="5806440"/>
            <a:ext cx="9144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852159"/>
            <a:ext cx="10972800" cy="461665"/>
          </a:xfrm>
          <a:prstGeom prst="rect">
            <a:avLst/>
          </a:prstGeom>
          <a:noFill/>
        </p:spPr>
        <p:txBody>
          <a:bodyPr wrap="square">
            <a:spAutoFit/>
          </a:bodyPr>
          <a:lstStyle/>
          <a:p>
            <a:pPr algn="l"/>
            <a:r>
              <a:rPr sz="1200" b="1" dirty="0">
                <a:solidFill>
                  <a:srgbClr val="FFC107"/>
                </a:solidFill>
                <a:latin typeface="Calibri"/>
              </a:rPr>
              <a:t>AUDIT GUARANTEE: </a:t>
            </a:r>
            <a:r>
              <a:rPr sz="1200" dirty="0">
                <a:solidFill>
                  <a:srgbClr val="FFFFFF"/>
                </a:solidFill>
                <a:latin typeface="Calibri"/>
              </a:rPr>
              <a:t>Even if a malicious actor alters a database submission timestamp or edits text directly in SQL, the SHA-256 block hash mismatch on Hyperledger Besu immediately exposes the tampering.</a:t>
            </a:r>
          </a:p>
        </p:txBody>
      </p:sp>
      <p:pic>
        <p:nvPicPr>
          <p:cNvPr id="19" name="Picture 18">
            <a:extLst>
              <a:ext uri="{FF2B5EF4-FFF2-40B4-BE49-F238E27FC236}">
                <a16:creationId xmlns:a16="http://schemas.microsoft.com/office/drawing/2014/main" id="{C0AD18B5-F76E-30AE-017A-E2E246BA8C2E}"/>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07</a:t>
            </a:r>
          </a:p>
        </p:txBody>
      </p:sp>
      <p:sp>
        <p:nvSpPr>
          <p:cNvPr id="6" name="TextBox 5"/>
          <p:cNvSpPr txBox="1"/>
          <p:nvPr/>
        </p:nvSpPr>
        <p:spPr>
          <a:xfrm>
            <a:off x="1325880" y="109728"/>
            <a:ext cx="9601200" cy="822960"/>
          </a:xfrm>
          <a:prstGeom prst="rect">
            <a:avLst/>
          </a:prstGeom>
          <a:noFill/>
        </p:spPr>
        <p:txBody>
          <a:bodyPr wrap="square">
            <a:spAutoFit/>
          </a:bodyPr>
          <a:lstStyle/>
          <a:p>
            <a:r>
              <a:rPr sz="2000" b="1">
                <a:solidFill>
                  <a:srgbClr val="FFFFFF"/>
                </a:solidFill>
                <a:latin typeface="Calibri"/>
              </a:rPr>
              <a:t>Empirical Results &amp; Live System Demo</a:t>
            </a:r>
          </a:p>
          <a:p>
            <a:r>
              <a:rPr sz="1100" i="1">
                <a:solidFill>
                  <a:srgbClr val="BAE6FD"/>
                </a:solidFill>
                <a:latin typeface="Calibri"/>
              </a:rPr>
              <a:t>Empirical Test Suite (100% PASS), System Latency Benchmarks, and Live Feature Demonstration</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07 / 08</a:t>
            </a:r>
          </a:p>
        </p:txBody>
      </p:sp>
      <p:sp>
        <p:nvSpPr>
          <p:cNvPr id="10" name="Rounded Rectangle 9"/>
          <p:cNvSpPr/>
          <p:nvPr/>
        </p:nvSpPr>
        <p:spPr>
          <a:xfrm>
            <a:off x="457200" y="1234440"/>
            <a:ext cx="56692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280160"/>
            <a:ext cx="5394960" cy="3962623"/>
          </a:xfrm>
          <a:prstGeom prst="rect">
            <a:avLst/>
          </a:prstGeom>
          <a:noFill/>
        </p:spPr>
        <p:txBody>
          <a:bodyPr wrap="square">
            <a:spAutoFit/>
          </a:bodyPr>
          <a:lstStyle/>
          <a:p>
            <a:r>
              <a:rPr sz="1400" b="1" dirty="0">
                <a:solidFill>
                  <a:srgbClr val="00336A"/>
                </a:solidFill>
                <a:latin typeface="Calibri"/>
              </a:rPr>
              <a:t>📊</a:t>
            </a:r>
            <a:r>
              <a:rPr sz="2400" b="1" dirty="0">
                <a:solidFill>
                  <a:srgbClr val="00336A"/>
                </a:solidFill>
                <a:latin typeface="Calibri"/>
              </a:rPr>
              <a:t> </a:t>
            </a:r>
            <a:r>
              <a:rPr sz="1600" b="1" dirty="0">
                <a:solidFill>
                  <a:srgbClr val="00336A"/>
                </a:solidFill>
                <a:latin typeface="Calibri"/>
              </a:rPr>
              <a:t>Empirical Verification Suite &amp; Benchmarks (100% PASS)</a:t>
            </a:r>
          </a:p>
          <a:p>
            <a:pPr>
              <a:spcBef>
                <a:spcPts val="300"/>
              </a:spcBef>
            </a:pPr>
            <a:r>
              <a:rPr sz="1600" b="1" dirty="0">
                <a:solidFill>
                  <a:srgbClr val="1E293B"/>
                </a:solidFill>
                <a:latin typeface="Calibri"/>
              </a:rPr>
              <a:t>• Production Build: </a:t>
            </a:r>
            <a:r>
              <a:rPr sz="1400" dirty="0">
                <a:solidFill>
                  <a:srgbClr val="475569"/>
                </a:solidFill>
                <a:latin typeface="Calibri"/>
              </a:rPr>
              <a:t>Vite compiled 244 modules with 0 TypeScript errors in 3.36s (</a:t>
            </a:r>
            <a:r>
              <a:rPr sz="1400" dirty="0" err="1">
                <a:solidFill>
                  <a:srgbClr val="475569"/>
                </a:solidFill>
                <a:latin typeface="Calibri"/>
              </a:rPr>
              <a:t>dist</a:t>
            </a:r>
            <a:r>
              <a:rPr sz="1400" dirty="0">
                <a:solidFill>
                  <a:srgbClr val="475569"/>
                </a:solidFill>
                <a:latin typeface="Calibri"/>
              </a:rPr>
              <a:t>: 780 kB </a:t>
            </a:r>
            <a:r>
              <a:rPr sz="1400" dirty="0" err="1">
                <a:solidFill>
                  <a:srgbClr val="475569"/>
                </a:solidFill>
                <a:latin typeface="Calibri"/>
              </a:rPr>
              <a:t>js</a:t>
            </a:r>
            <a:r>
              <a:rPr sz="1400" dirty="0">
                <a:solidFill>
                  <a:srgbClr val="475569"/>
                </a:solidFill>
                <a:latin typeface="Calibri"/>
              </a:rPr>
              <a:t>, 94 kB </a:t>
            </a:r>
            <a:r>
              <a:rPr sz="1400" dirty="0" err="1">
                <a:solidFill>
                  <a:srgbClr val="475569"/>
                </a:solidFill>
                <a:latin typeface="Calibri"/>
              </a:rPr>
              <a:t>css</a:t>
            </a:r>
            <a:r>
              <a:rPr sz="1400" dirty="0">
                <a:solidFill>
                  <a:srgbClr val="475569"/>
                </a:solidFill>
                <a:latin typeface="Calibri"/>
              </a:rPr>
              <a:t>).</a:t>
            </a:r>
          </a:p>
          <a:p>
            <a:pPr>
              <a:spcBef>
                <a:spcPts val="300"/>
              </a:spcBef>
            </a:pPr>
            <a:r>
              <a:rPr sz="1600" b="1" dirty="0">
                <a:solidFill>
                  <a:srgbClr val="1E293B"/>
                </a:solidFill>
                <a:latin typeface="Calibri"/>
              </a:rPr>
              <a:t>• RSA-OAEP 2048 Keygen: </a:t>
            </a:r>
            <a:r>
              <a:rPr sz="1400" dirty="0">
                <a:solidFill>
                  <a:srgbClr val="475569"/>
                </a:solidFill>
                <a:latin typeface="Calibri"/>
              </a:rPr>
              <a:t>Generated in ~140ms in browser; private key committed to </a:t>
            </a:r>
            <a:r>
              <a:rPr sz="1400" dirty="0" err="1">
                <a:solidFill>
                  <a:srgbClr val="475569"/>
                </a:solidFill>
                <a:latin typeface="Calibri"/>
              </a:rPr>
              <a:t>IndexedDB</a:t>
            </a:r>
            <a:r>
              <a:rPr sz="1400" dirty="0">
                <a:solidFill>
                  <a:srgbClr val="475569"/>
                </a:solidFill>
                <a:latin typeface="Calibri"/>
              </a:rPr>
              <a:t> (✅ PASS).</a:t>
            </a:r>
          </a:p>
          <a:p>
            <a:pPr>
              <a:spcBef>
                <a:spcPts val="300"/>
              </a:spcBef>
            </a:pPr>
            <a:r>
              <a:rPr sz="1600" b="1" dirty="0">
                <a:solidFill>
                  <a:srgbClr val="1E293B"/>
                </a:solidFill>
                <a:latin typeface="Calibri"/>
              </a:rPr>
              <a:t>• AES-GCM-256 Cipher: </a:t>
            </a:r>
            <a:r>
              <a:rPr sz="1400" dirty="0">
                <a:solidFill>
                  <a:srgbClr val="475569"/>
                </a:solidFill>
                <a:latin typeface="Calibri"/>
              </a:rPr>
              <a:t>Payload encryption executed in ~2ms; invalid decryption key throws error (✅ PASS).</a:t>
            </a:r>
          </a:p>
          <a:p>
            <a:pPr>
              <a:spcBef>
                <a:spcPts val="300"/>
              </a:spcBef>
            </a:pPr>
            <a:r>
              <a:rPr sz="1600" b="1" dirty="0">
                <a:solidFill>
                  <a:srgbClr val="1E293B"/>
                </a:solidFill>
                <a:latin typeface="Calibri"/>
              </a:rPr>
              <a:t>• BB84 QKD Simulator: </a:t>
            </a:r>
            <a:r>
              <a:rPr sz="1400" dirty="0">
                <a:solidFill>
                  <a:srgbClr val="475569"/>
                </a:solidFill>
                <a:latin typeface="Calibri"/>
              </a:rPr>
              <a:t>256-bit sifted key derived in ~12ms; aborts correctly if QBER &gt; 11% (✅ PASS).</a:t>
            </a:r>
          </a:p>
          <a:p>
            <a:pPr>
              <a:spcBef>
                <a:spcPts val="300"/>
              </a:spcBef>
            </a:pPr>
            <a:r>
              <a:rPr sz="1600" b="1" dirty="0">
                <a:solidFill>
                  <a:srgbClr val="1E293B"/>
                </a:solidFill>
                <a:latin typeface="Calibri"/>
              </a:rPr>
              <a:t>• Besu Smart Contract: </a:t>
            </a:r>
            <a:r>
              <a:rPr sz="1400" dirty="0" err="1">
                <a:solidFill>
                  <a:srgbClr val="475569"/>
                </a:solidFill>
                <a:latin typeface="Calibri"/>
              </a:rPr>
              <a:t>recordHash</a:t>
            </a:r>
            <a:r>
              <a:rPr sz="1400" dirty="0">
                <a:solidFill>
                  <a:srgbClr val="475569"/>
                </a:solidFill>
                <a:latin typeface="Calibri"/>
              </a:rPr>
              <a:t> logs SHA-256 digest; duplicate write reverts; role checks enforced (✅ PASS).</a:t>
            </a:r>
          </a:p>
          <a:p>
            <a:pPr>
              <a:spcBef>
                <a:spcPts val="300"/>
              </a:spcBef>
            </a:pPr>
            <a:r>
              <a:rPr sz="1600" b="1" dirty="0">
                <a:solidFill>
                  <a:srgbClr val="1E293B"/>
                </a:solidFill>
                <a:latin typeface="Calibri"/>
              </a:rPr>
              <a:t>• Convex Reactive Latency: </a:t>
            </a:r>
            <a:r>
              <a:rPr sz="1400" dirty="0">
                <a:solidFill>
                  <a:srgbClr val="475569"/>
                </a:solidFill>
                <a:latin typeface="Calibri"/>
              </a:rPr>
              <a:t>WebSocket real-time delivery averaged ~50ms (well under the 200ms target).</a:t>
            </a:r>
          </a:p>
          <a:p>
            <a:pPr>
              <a:spcBef>
                <a:spcPts val="300"/>
              </a:spcBef>
            </a:pPr>
            <a:r>
              <a:rPr sz="1600" b="1" dirty="0">
                <a:solidFill>
                  <a:srgbClr val="1E293B"/>
                </a:solidFill>
                <a:latin typeface="Calibri"/>
              </a:rPr>
              <a:t>• Besu Block Anchoring: </a:t>
            </a:r>
            <a:r>
              <a:rPr sz="1400" dirty="0">
                <a:solidFill>
                  <a:srgbClr val="475569"/>
                </a:solidFill>
                <a:latin typeface="Calibri"/>
              </a:rPr>
              <a:t>Asynchronous transaction confirmation in ~0.3–0.5s with zero gas fees.</a:t>
            </a:r>
          </a:p>
        </p:txBody>
      </p:sp>
      <p:sp>
        <p:nvSpPr>
          <p:cNvPr id="12" name="Rounded Rectangle 11"/>
          <p:cNvSpPr/>
          <p:nvPr/>
        </p:nvSpPr>
        <p:spPr>
          <a:xfrm>
            <a:off x="6309360" y="1234440"/>
            <a:ext cx="5394960" cy="4434840"/>
          </a:xfrm>
          <a:prstGeom prst="roundRect">
            <a:avLst/>
          </a:prstGeom>
          <a:solidFill>
            <a:srgbClr val="EEF4FA"/>
          </a:solidFill>
          <a:ln w="19050">
            <a:solidFill>
              <a:srgbClr val="1E90FF"/>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92240" y="1371600"/>
            <a:ext cx="5029200" cy="41148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Calibri"/>
              </a:rPr>
              <a:t>📸  LIVE SYSTEM INTERFACE: Q&amp;A FORUM &amp; DIRECT MESSAGING</a:t>
            </a:r>
          </a:p>
        </p:txBody>
      </p:sp>
      <p:sp>
        <p:nvSpPr>
          <p:cNvPr id="14" name="TextBox 13"/>
          <p:cNvSpPr txBox="1"/>
          <p:nvPr/>
        </p:nvSpPr>
        <p:spPr>
          <a:xfrm>
            <a:off x="6537960" y="1828800"/>
            <a:ext cx="4937760" cy="2995692"/>
          </a:xfrm>
          <a:prstGeom prst="rect">
            <a:avLst/>
          </a:prstGeom>
          <a:noFill/>
        </p:spPr>
        <p:txBody>
          <a:bodyPr wrap="square">
            <a:spAutoFit/>
          </a:bodyPr>
          <a:lstStyle/>
          <a:p>
            <a:pPr algn="ctr"/>
            <a:r>
              <a:rPr sz="1600" b="1" i="1" dirty="0">
                <a:solidFill>
                  <a:srgbClr val="00509E"/>
                </a:solidFill>
                <a:latin typeface="Calibri"/>
              </a:rPr>
              <a:t>Panel-Ready Demonstration: Verified Discussions &amp; Private Consultation Flow</a:t>
            </a:r>
          </a:p>
          <a:p>
            <a:pPr>
              <a:spcBef>
                <a:spcPts val="400"/>
              </a:spcBef>
            </a:pPr>
            <a:r>
              <a:rPr sz="1400" dirty="0">
                <a:solidFill>
                  <a:srgbClr val="1E293B"/>
                </a:solidFill>
                <a:latin typeface="Calibri"/>
              </a:rPr>
              <a:t>• Verified Q&amp;A Forum Feed: Questions tagged by Department ('Computer Science') and Topic ('Cryptography').</a:t>
            </a:r>
          </a:p>
          <a:p>
            <a:pPr>
              <a:spcBef>
                <a:spcPts val="400"/>
              </a:spcBef>
            </a:pPr>
            <a:r>
              <a:rPr sz="1400" dirty="0">
                <a:solidFill>
                  <a:srgbClr val="1E293B"/>
                </a:solidFill>
                <a:latin typeface="Calibri"/>
              </a:rPr>
              <a:t>• Lecturer Answer View: Verified identity badge (🏛️ CS, 📚 Cryptography) establishing expert authority.</a:t>
            </a:r>
          </a:p>
          <a:p>
            <a:pPr>
              <a:spcBef>
                <a:spcPts val="400"/>
              </a:spcBef>
            </a:pPr>
            <a:r>
              <a:rPr sz="1400" dirty="0">
                <a:solidFill>
                  <a:srgbClr val="1E293B"/>
                </a:solidFill>
                <a:latin typeface="Calibri"/>
              </a:rPr>
              <a:t>• Direct Consultation Launch: '💬 Message' button on lecturer's answer seamlessly opens encrypted DM.</a:t>
            </a:r>
          </a:p>
          <a:p>
            <a:pPr>
              <a:spcBef>
                <a:spcPts val="400"/>
              </a:spcBef>
            </a:pPr>
            <a:r>
              <a:rPr sz="1400" dirty="0">
                <a:solidFill>
                  <a:srgbClr val="1E293B"/>
                </a:solidFill>
                <a:latin typeface="Calibri"/>
              </a:rPr>
              <a:t>• BB84 Simulation Interface: Live visualization of quantum state transmission, sifting, and error rate check.</a:t>
            </a:r>
          </a:p>
          <a:p>
            <a:pPr>
              <a:spcBef>
                <a:spcPts val="400"/>
              </a:spcBef>
            </a:pPr>
            <a:r>
              <a:rPr sz="1400" dirty="0">
                <a:solidFill>
                  <a:srgbClr val="1E293B"/>
                </a:solidFill>
                <a:latin typeface="Calibri"/>
              </a:rPr>
              <a:t>• Verified Student Index: Osei Nana Kwaku (UEB3509022) submission generating live Besu blockchain receipt.</a:t>
            </a:r>
          </a:p>
        </p:txBody>
      </p:sp>
      <p:sp>
        <p:nvSpPr>
          <p:cNvPr id="15" name="Rounded Rectangle 14"/>
          <p:cNvSpPr/>
          <p:nvPr/>
        </p:nvSpPr>
        <p:spPr>
          <a:xfrm>
            <a:off x="457200" y="5806440"/>
            <a:ext cx="11247120" cy="59436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57200" y="5806440"/>
            <a:ext cx="9144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852159"/>
            <a:ext cx="10972800" cy="461665"/>
          </a:xfrm>
          <a:prstGeom prst="rect">
            <a:avLst/>
          </a:prstGeom>
          <a:noFill/>
        </p:spPr>
        <p:txBody>
          <a:bodyPr wrap="square">
            <a:spAutoFit/>
          </a:bodyPr>
          <a:lstStyle/>
          <a:p>
            <a:pPr algn="l"/>
            <a:r>
              <a:rPr sz="1200" b="1" dirty="0">
                <a:solidFill>
                  <a:srgbClr val="FFC107"/>
                </a:solidFill>
                <a:latin typeface="Calibri"/>
              </a:rPr>
              <a:t>DEMO VERDICT: </a:t>
            </a:r>
            <a:r>
              <a:rPr sz="1200" dirty="0">
                <a:solidFill>
                  <a:srgbClr val="FFFFFF"/>
                </a:solidFill>
                <a:latin typeface="Calibri"/>
              </a:rPr>
              <a:t>The live demonstration proves that high-speed reactive discussions (&lt;50ms) and permanent blockchain non-repudiation can coexist in a production-ready, zero-error web application.</a:t>
            </a:r>
          </a:p>
        </p:txBody>
      </p:sp>
      <p:pic>
        <p:nvPicPr>
          <p:cNvPr id="19" name="Picture 18">
            <a:extLst>
              <a:ext uri="{FF2B5EF4-FFF2-40B4-BE49-F238E27FC236}">
                <a16:creationId xmlns:a16="http://schemas.microsoft.com/office/drawing/2014/main" id="{8CD642D8-7AA4-8FB2-5547-8802E9D8CF4C}"/>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832"/>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08</a:t>
            </a:r>
          </a:p>
        </p:txBody>
      </p:sp>
      <p:sp>
        <p:nvSpPr>
          <p:cNvPr id="6" name="TextBox 5"/>
          <p:cNvSpPr txBox="1"/>
          <p:nvPr/>
        </p:nvSpPr>
        <p:spPr>
          <a:xfrm>
            <a:off x="1325880" y="109728"/>
            <a:ext cx="9601200" cy="584775"/>
          </a:xfrm>
          <a:prstGeom prst="rect">
            <a:avLst/>
          </a:prstGeom>
          <a:noFill/>
        </p:spPr>
        <p:txBody>
          <a:bodyPr wrap="square">
            <a:spAutoFit/>
          </a:bodyPr>
          <a:lstStyle/>
          <a:p>
            <a:r>
              <a:rPr sz="2000" b="1" dirty="0">
                <a:solidFill>
                  <a:srgbClr val="FFFFFF"/>
                </a:solidFill>
                <a:latin typeface="Calibri"/>
              </a:rPr>
              <a:t>Limitations, Future Work &amp; Conclusion</a:t>
            </a:r>
          </a:p>
          <a:p>
            <a:r>
              <a:rPr sz="1200" i="1" dirty="0">
                <a:solidFill>
                  <a:srgbClr val="BAE6FD"/>
                </a:solidFill>
                <a:latin typeface="Calibri"/>
              </a:rPr>
              <a:t>System Boundaries, Recommended Technical Roadmap, and Final Research Defense Conclusions</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08 / 08</a:t>
            </a:r>
          </a:p>
        </p:txBody>
      </p:sp>
      <p:sp>
        <p:nvSpPr>
          <p:cNvPr id="11" name="Rounded Rectangle 10"/>
          <p:cNvSpPr/>
          <p:nvPr/>
        </p:nvSpPr>
        <p:spPr>
          <a:xfrm>
            <a:off x="457200" y="1234440"/>
            <a:ext cx="356616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97680" y="1234440"/>
            <a:ext cx="3566160" cy="73152"/>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138160" y="1234440"/>
            <a:ext cx="35661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 y="5806440"/>
            <a:ext cx="11247120" cy="59436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7200" y="5806440"/>
            <a:ext cx="9144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5852159"/>
            <a:ext cx="10972800" cy="461665"/>
          </a:xfrm>
          <a:prstGeom prst="rect">
            <a:avLst/>
          </a:prstGeom>
          <a:noFill/>
        </p:spPr>
        <p:txBody>
          <a:bodyPr wrap="square">
            <a:spAutoFit/>
          </a:bodyPr>
          <a:lstStyle/>
          <a:p>
            <a:pPr algn="l"/>
            <a:r>
              <a:rPr sz="1200" b="1" dirty="0">
                <a:solidFill>
                  <a:srgbClr val="FFC107"/>
                </a:solidFill>
                <a:latin typeface="Calibri"/>
              </a:rPr>
              <a:t>FINAL TAKEAWAY: </a:t>
            </a:r>
            <a:r>
              <a:rPr sz="1200" dirty="0">
                <a:solidFill>
                  <a:srgbClr val="FFFFFF"/>
                </a:solidFill>
                <a:latin typeface="Calibri"/>
              </a:rPr>
              <a:t>"Fast like social chat. Structured like an academic forum. Trustworthy like a signed paper trail." | Supervisor: Dr. Peter </a:t>
            </a:r>
            <a:r>
              <a:rPr sz="1200" dirty="0" err="1">
                <a:solidFill>
                  <a:srgbClr val="FFFFFF"/>
                </a:solidFill>
                <a:latin typeface="Calibri"/>
              </a:rPr>
              <a:t>Nimbe</a:t>
            </a:r>
            <a:r>
              <a:rPr sz="1200" dirty="0">
                <a:solidFill>
                  <a:srgbClr val="FFFFFF"/>
                </a:solidFill>
                <a:latin typeface="Calibri"/>
              </a:rPr>
              <a:t> (PS001) | Dept. of Computer Science &amp; Informatics | UENR</a:t>
            </a:r>
          </a:p>
        </p:txBody>
      </p:sp>
      <p:pic>
        <p:nvPicPr>
          <p:cNvPr id="23" name="Picture 22">
            <a:extLst>
              <a:ext uri="{FF2B5EF4-FFF2-40B4-BE49-F238E27FC236}">
                <a16:creationId xmlns:a16="http://schemas.microsoft.com/office/drawing/2014/main" id="{2C3EAC98-5D38-C8A9-0942-81ED3BF2391C}"/>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
        <p:nvSpPr>
          <p:cNvPr id="24" name="Rounded Rectangle 15">
            <a:extLst>
              <a:ext uri="{FF2B5EF4-FFF2-40B4-BE49-F238E27FC236}">
                <a16:creationId xmlns:a16="http://schemas.microsoft.com/office/drawing/2014/main" id="{99B8712B-E94E-934D-A687-D56D83C264F8}"/>
              </a:ext>
            </a:extLst>
          </p:cNvPr>
          <p:cNvSpPr/>
          <p:nvPr/>
        </p:nvSpPr>
        <p:spPr>
          <a:xfrm rot="16200000">
            <a:off x="2071211" y="-242414"/>
            <a:ext cx="2147490" cy="5558387"/>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vert="vert" rtlCol="0" anchor="t" anchorCtr="0"/>
          <a:lstStyle/>
          <a:p>
            <a:r>
              <a:rPr lang="en-US" b="1" dirty="0">
                <a:solidFill>
                  <a:schemeClr val="tx2"/>
                </a:solidFill>
              </a:rPr>
              <a:t>1. </a:t>
            </a:r>
            <a:r>
              <a:rPr lang="en-US" sz="1600" b="1" dirty="0">
                <a:solidFill>
                  <a:schemeClr val="tx2"/>
                </a:solidFill>
                <a:latin typeface="Arial" panose="020B0604020202020204" pitchFamily="34" charset="0"/>
                <a:cs typeface="Arial" panose="020B0604020202020204" pitchFamily="34" charset="0"/>
              </a:rPr>
              <a:t>PROGRAM-SPECIFIC Q&amp;A AND UPDATES</a:t>
            </a:r>
            <a:endParaRPr lang="en-US" b="1" dirty="0">
              <a:solidFill>
                <a:schemeClr val="tx2"/>
              </a:solidFill>
              <a:latin typeface="Arial" panose="020B0604020202020204" pitchFamily="34" charset="0"/>
              <a:cs typeface="Arial" panose="020B0604020202020204" pitchFamily="34" charset="0"/>
            </a:endParaRPr>
          </a:p>
          <a:p>
            <a:r>
              <a:rPr lang="en-US" dirty="0">
                <a:solidFill>
                  <a:schemeClr val="tx1"/>
                </a:solidFill>
              </a:rPr>
              <a:t>The platform will be narrowed from a broad departmental structure to program-specific communities, allowing students and lecturers within the same program to access relevant academic questions, discussions, news, and updates without unnecessary information from other programs.</a:t>
            </a:r>
          </a:p>
        </p:txBody>
      </p:sp>
      <p:sp>
        <p:nvSpPr>
          <p:cNvPr id="36" name="Rounded Rectangle 15">
            <a:extLst>
              <a:ext uri="{FF2B5EF4-FFF2-40B4-BE49-F238E27FC236}">
                <a16:creationId xmlns:a16="http://schemas.microsoft.com/office/drawing/2014/main" id="{73DB0844-5A6C-E386-D9C0-BAEF0BF9057F}"/>
              </a:ext>
            </a:extLst>
          </p:cNvPr>
          <p:cNvSpPr/>
          <p:nvPr/>
        </p:nvSpPr>
        <p:spPr>
          <a:xfrm rot="16200000">
            <a:off x="7831930" y="-260121"/>
            <a:ext cx="2147490" cy="5558387"/>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vert="vert" rtlCol="0" anchor="t" anchorCtr="0"/>
          <a:lstStyle/>
          <a:p>
            <a:r>
              <a:rPr lang="en-US" sz="1600" b="1" dirty="0">
                <a:solidFill>
                  <a:schemeClr val="tx2"/>
                </a:solidFill>
                <a:latin typeface="Arial" panose="020B0604020202020204" pitchFamily="34" charset="0"/>
                <a:cs typeface="Arial" panose="020B0604020202020204" pitchFamily="34" charset="0"/>
              </a:rPr>
              <a:t>2. COURSE-SPECIFIC CHATROOMS</a:t>
            </a:r>
          </a:p>
          <a:p>
            <a:r>
              <a:rPr lang="en-US" dirty="0">
                <a:solidFill>
                  <a:schemeClr val="tx1"/>
                </a:solidFill>
              </a:rPr>
              <a:t>Each course will have a dedicated chatroom where the lecturer and enrolled students can interact directly about course-related topics. This creates a focused space for asking questions, clarifying concepts, sharing resources, and discussing course activities.</a:t>
            </a:r>
          </a:p>
        </p:txBody>
      </p:sp>
      <p:sp>
        <p:nvSpPr>
          <p:cNvPr id="38" name="Rounded Rectangle 15">
            <a:extLst>
              <a:ext uri="{FF2B5EF4-FFF2-40B4-BE49-F238E27FC236}">
                <a16:creationId xmlns:a16="http://schemas.microsoft.com/office/drawing/2014/main" id="{D3E09768-C9C3-5315-3240-6337F2F66063}"/>
              </a:ext>
            </a:extLst>
          </p:cNvPr>
          <p:cNvSpPr/>
          <p:nvPr/>
        </p:nvSpPr>
        <p:spPr>
          <a:xfrm rot="16200000">
            <a:off x="2096002" y="1930640"/>
            <a:ext cx="2147490" cy="5558387"/>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vert="vert" rtlCol="0" anchor="t" anchorCtr="0"/>
          <a:lstStyle/>
          <a:p>
            <a:r>
              <a:rPr lang="en-US" sz="1600" b="1" dirty="0">
                <a:solidFill>
                  <a:schemeClr val="tx2"/>
                </a:solidFill>
                <a:latin typeface="Arial" panose="020B0604020202020204" pitchFamily="34" charset="0"/>
                <a:cs typeface="Arial" panose="020B0604020202020204" pitchFamily="34" charset="0"/>
              </a:rPr>
              <a:t>3. AUTOMATIC IDENTITY VERIFICATION</a:t>
            </a:r>
          </a:p>
          <a:p>
            <a:r>
              <a:rPr lang="en-US" dirty="0">
                <a:solidFill>
                  <a:schemeClr val="tx1"/>
                </a:solidFill>
              </a:rPr>
              <a:t>An AI-assisted identity verification system will compare information provided on </a:t>
            </a:r>
            <a:r>
              <a:rPr lang="en-US" dirty="0" err="1">
                <a:solidFill>
                  <a:schemeClr val="tx1"/>
                </a:solidFill>
              </a:rPr>
              <a:t>QChatCampus</a:t>
            </a:r>
            <a:r>
              <a:rPr lang="en-US" dirty="0">
                <a:solidFill>
                  <a:schemeClr val="tx1"/>
                </a:solidFill>
              </a:rPr>
              <a:t> with authorized university records, such as student identity details, name, and department/program. The goal is to automatically verify users and complete the verification process within seven days or less.</a:t>
            </a:r>
          </a:p>
        </p:txBody>
      </p:sp>
      <p:sp>
        <p:nvSpPr>
          <p:cNvPr id="40" name="Rounded Rectangle 15">
            <a:extLst>
              <a:ext uri="{FF2B5EF4-FFF2-40B4-BE49-F238E27FC236}">
                <a16:creationId xmlns:a16="http://schemas.microsoft.com/office/drawing/2014/main" id="{2A3C6888-52F9-60BC-0E38-041D9FAAC91A}"/>
              </a:ext>
            </a:extLst>
          </p:cNvPr>
          <p:cNvSpPr/>
          <p:nvPr/>
        </p:nvSpPr>
        <p:spPr>
          <a:xfrm rot="16200000">
            <a:off x="7869012" y="1905077"/>
            <a:ext cx="2147490" cy="5558387"/>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vert="vert" rtlCol="0" anchor="t" anchorCtr="0"/>
          <a:lstStyle/>
          <a:p>
            <a:r>
              <a:rPr lang="en-US" sz="1600" b="1" dirty="0">
                <a:solidFill>
                  <a:schemeClr val="tx2"/>
                </a:solidFill>
                <a:latin typeface="Arial" panose="020B0604020202020204" pitchFamily="34" charset="0"/>
                <a:cs typeface="Arial" panose="020B0604020202020204" pitchFamily="34" charset="0"/>
              </a:rPr>
              <a:t>4. DEPARTMENTAL NEWS &amp; NOTICE BOARD</a:t>
            </a:r>
          </a:p>
          <a:p>
            <a:r>
              <a:rPr lang="en-US" dirty="0">
                <a:solidFill>
                  <a:schemeClr val="tx1"/>
                </a:solidFill>
              </a:rPr>
              <a:t>A dedicated departmental news and notice section will allow lecturers to publish announcements, updates, images, and files. Students and lecturers within the department can search posts by title, hashtags, department, or recent updates, while also commenting and interacting with published notices.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14984"/>
            <a:ext cx="12191695" cy="36576"/>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82880"/>
            <a:ext cx="822960" cy="685800"/>
          </a:xfrm>
          <a:prstGeom prst="round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00336A"/>
                </a:solidFill>
                <a:latin typeface="Calibri"/>
              </a:rPr>
              <a:t>08</a:t>
            </a:r>
          </a:p>
        </p:txBody>
      </p:sp>
      <p:sp>
        <p:nvSpPr>
          <p:cNvPr id="6" name="TextBox 5"/>
          <p:cNvSpPr txBox="1"/>
          <p:nvPr/>
        </p:nvSpPr>
        <p:spPr>
          <a:xfrm>
            <a:off x="1325880" y="109728"/>
            <a:ext cx="9601200" cy="584775"/>
          </a:xfrm>
          <a:prstGeom prst="rect">
            <a:avLst/>
          </a:prstGeom>
          <a:noFill/>
        </p:spPr>
        <p:txBody>
          <a:bodyPr wrap="square">
            <a:spAutoFit/>
          </a:bodyPr>
          <a:lstStyle/>
          <a:p>
            <a:r>
              <a:rPr sz="2000" b="1" dirty="0">
                <a:solidFill>
                  <a:srgbClr val="FFFFFF"/>
                </a:solidFill>
                <a:latin typeface="Calibri"/>
              </a:rPr>
              <a:t>Limitations, Future Work &amp; Conclusion</a:t>
            </a:r>
          </a:p>
          <a:p>
            <a:r>
              <a:rPr sz="1200" i="1" dirty="0">
                <a:solidFill>
                  <a:srgbClr val="BAE6FD"/>
                </a:solidFill>
                <a:latin typeface="Calibri"/>
              </a:rPr>
              <a:t>System Boundaries, Recommended Technical Roadmap, and Final Research Defense Conclusions</a:t>
            </a:r>
          </a:p>
        </p:txBody>
      </p:sp>
      <p:sp>
        <p:nvSpPr>
          <p:cNvPr id="7" name="Rectangle 6"/>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56248"/>
            <a:ext cx="9601200" cy="274320"/>
          </a:xfrm>
          <a:prstGeom prst="rect">
            <a:avLst/>
          </a:prstGeom>
          <a:noFill/>
        </p:spPr>
        <p:txBody>
          <a:bodyPr wrap="none">
            <a:spAutoFit/>
          </a:bodyPr>
          <a:lstStyle/>
          <a:p>
            <a:r>
              <a:rPr sz="850">
                <a:solidFill>
                  <a:srgbClr val="475569"/>
                </a:solidFill>
                <a:latin typeface="Calibri"/>
              </a:rPr>
              <a:t>QCampus Connect | Verified Academic Q&amp;A Forum &amp; Secure Consultation Platform | Case Study: UENR</a:t>
            </a:r>
          </a:p>
        </p:txBody>
      </p:sp>
      <p:sp>
        <p:nvSpPr>
          <p:cNvPr id="9" name="TextBox 8"/>
          <p:cNvSpPr txBox="1"/>
          <p:nvPr/>
        </p:nvSpPr>
        <p:spPr>
          <a:xfrm>
            <a:off x="10332720" y="6556248"/>
            <a:ext cx="1463040" cy="274320"/>
          </a:xfrm>
          <a:prstGeom prst="rect">
            <a:avLst/>
          </a:prstGeom>
          <a:noFill/>
        </p:spPr>
        <p:txBody>
          <a:bodyPr wrap="none">
            <a:spAutoFit/>
          </a:bodyPr>
          <a:lstStyle/>
          <a:p>
            <a:pPr algn="r"/>
            <a:r>
              <a:rPr sz="850" b="1">
                <a:solidFill>
                  <a:srgbClr val="00336A"/>
                </a:solidFill>
                <a:latin typeface="Calibri"/>
              </a:rPr>
              <a:t>Slide 08 / 08</a:t>
            </a:r>
          </a:p>
        </p:txBody>
      </p:sp>
      <p:sp>
        <p:nvSpPr>
          <p:cNvPr id="10" name="Rounded Rectangle 9"/>
          <p:cNvSpPr/>
          <p:nvPr/>
        </p:nvSpPr>
        <p:spPr>
          <a:xfrm>
            <a:off x="457200" y="1234440"/>
            <a:ext cx="5163422"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147870" y="1234440"/>
            <a:ext cx="356616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2727" y="1159336"/>
            <a:ext cx="4930952" cy="4483279"/>
          </a:xfrm>
          <a:prstGeom prst="rect">
            <a:avLst/>
          </a:prstGeom>
          <a:noFill/>
        </p:spPr>
        <p:txBody>
          <a:bodyPr wrap="square">
            <a:spAutoFit/>
          </a:bodyPr>
          <a:lstStyle/>
          <a:p>
            <a:r>
              <a:rPr sz="3200" b="1" dirty="0">
                <a:solidFill>
                  <a:srgbClr val="00336A"/>
                </a:solidFill>
                <a:latin typeface="Calibri"/>
              </a:rPr>
              <a:t>⚠️ </a:t>
            </a:r>
            <a:r>
              <a:rPr sz="2000" b="1" dirty="0">
                <a:solidFill>
                  <a:srgbClr val="00336A"/>
                </a:solidFill>
                <a:latin typeface="Calibri"/>
              </a:rPr>
              <a:t>System Constraints</a:t>
            </a:r>
          </a:p>
          <a:p>
            <a:r>
              <a:rPr sz="2000" b="1" dirty="0">
                <a:solidFill>
                  <a:srgbClr val="F59E0B"/>
                </a:solidFill>
                <a:latin typeface="Calibri"/>
              </a:rPr>
              <a:t>Current Boundaries</a:t>
            </a:r>
          </a:p>
          <a:p>
            <a:pPr>
              <a:spcBef>
                <a:spcPts val="400"/>
              </a:spcBef>
            </a:pPr>
            <a:r>
              <a:rPr sz="2000" dirty="0">
                <a:solidFill>
                  <a:srgbClr val="1E293B"/>
                </a:solidFill>
                <a:latin typeface="Calibri"/>
              </a:rPr>
              <a:t>• Single-Node Blockchain: Besu runs in local container; requires multi-node consortium for distributed BFT.
• Browser Storage Limits: </a:t>
            </a:r>
            <a:r>
              <a:rPr sz="2000" dirty="0" err="1">
                <a:solidFill>
                  <a:srgbClr val="1E293B"/>
                </a:solidFill>
                <a:latin typeface="Calibri"/>
              </a:rPr>
              <a:t>IndexedDB</a:t>
            </a:r>
            <a:r>
              <a:rPr sz="2000" dirty="0">
                <a:solidFill>
                  <a:srgbClr val="1E293B"/>
                </a:solidFill>
                <a:latin typeface="Calibri"/>
              </a:rPr>
              <a:t> quotas (50-250MB) may bottleneck large ledger caches.
• Standalone Authentication: Independent user directory; lacks university SAML/SSO link.
• Web-Only Client: Desktop optimized; lacks native mobile application.</a:t>
            </a:r>
          </a:p>
        </p:txBody>
      </p:sp>
      <p:sp>
        <p:nvSpPr>
          <p:cNvPr id="16" name="Rounded Rectangle 15"/>
          <p:cNvSpPr/>
          <p:nvPr/>
        </p:nvSpPr>
        <p:spPr>
          <a:xfrm>
            <a:off x="5779207" y="1234440"/>
            <a:ext cx="5925114"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223758" y="1234440"/>
            <a:ext cx="35661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3194" y="1314984"/>
            <a:ext cx="5163422" cy="4175502"/>
          </a:xfrm>
          <a:prstGeom prst="rect">
            <a:avLst/>
          </a:prstGeom>
          <a:noFill/>
        </p:spPr>
        <p:txBody>
          <a:bodyPr wrap="square">
            <a:spAutoFit/>
          </a:bodyPr>
          <a:lstStyle/>
          <a:p>
            <a:r>
              <a:rPr sz="3200" b="1" dirty="0">
                <a:solidFill>
                  <a:srgbClr val="00336A"/>
                </a:solidFill>
                <a:latin typeface="Calibri"/>
              </a:rPr>
              <a:t>✅ </a:t>
            </a:r>
            <a:r>
              <a:rPr sz="2400" b="1" dirty="0">
                <a:solidFill>
                  <a:srgbClr val="00336A"/>
                </a:solidFill>
                <a:latin typeface="Calibri"/>
              </a:rPr>
              <a:t>Key Research Conclusions</a:t>
            </a:r>
          </a:p>
          <a:p>
            <a:r>
              <a:rPr sz="2000" b="1" dirty="0">
                <a:solidFill>
                  <a:srgbClr val="10B981"/>
                </a:solidFill>
                <a:latin typeface="Calibri"/>
              </a:rPr>
              <a:t>Defense Summary</a:t>
            </a:r>
          </a:p>
          <a:p>
            <a:pPr>
              <a:spcBef>
                <a:spcPts val="400"/>
              </a:spcBef>
            </a:pPr>
            <a:r>
              <a:rPr sz="2000" dirty="0">
                <a:solidFill>
                  <a:srgbClr val="1E293B"/>
                </a:solidFill>
                <a:latin typeface="Calibri"/>
              </a:rPr>
              <a:t>• Academic Commons Established: Centralized Q&amp;A forum eliminates office queues and private chat silos.
• Verified Scholarly Authority: Cryptographic badges eradicate fake announcements and rumors.
• Submission Disputes Solved: SHA-256 block timestamps replace easily falsified screenshots.
• Production-Ready Blueprint: 0-error build ready for departmental adoption.</a:t>
            </a:r>
          </a:p>
        </p:txBody>
      </p:sp>
      <p:sp>
        <p:nvSpPr>
          <p:cNvPr id="19" name="Rounded Rectangle 18"/>
          <p:cNvSpPr/>
          <p:nvPr/>
        </p:nvSpPr>
        <p:spPr>
          <a:xfrm>
            <a:off x="457200" y="5806440"/>
            <a:ext cx="11247120" cy="594360"/>
          </a:xfrm>
          <a:prstGeom prst="roundRect">
            <a:avLst/>
          </a:prstGeom>
          <a:solidFill>
            <a:srgbClr val="003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7200" y="5806440"/>
            <a:ext cx="9144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5852159"/>
            <a:ext cx="10972800" cy="461665"/>
          </a:xfrm>
          <a:prstGeom prst="rect">
            <a:avLst/>
          </a:prstGeom>
          <a:noFill/>
        </p:spPr>
        <p:txBody>
          <a:bodyPr wrap="square">
            <a:spAutoFit/>
          </a:bodyPr>
          <a:lstStyle/>
          <a:p>
            <a:pPr algn="l"/>
            <a:r>
              <a:rPr sz="1200" b="1" dirty="0">
                <a:solidFill>
                  <a:srgbClr val="FFC107"/>
                </a:solidFill>
                <a:latin typeface="Calibri"/>
              </a:rPr>
              <a:t>FINAL TAKEAWAY: </a:t>
            </a:r>
            <a:r>
              <a:rPr sz="1200" dirty="0">
                <a:solidFill>
                  <a:srgbClr val="FFFFFF"/>
                </a:solidFill>
                <a:latin typeface="Calibri"/>
              </a:rPr>
              <a:t>"Fast like social chat. Structured like an academic forum. Trustworthy like a signed paper trail." | Supervisor: Dr. Peter </a:t>
            </a:r>
            <a:r>
              <a:rPr sz="1200" dirty="0" err="1">
                <a:solidFill>
                  <a:srgbClr val="FFFFFF"/>
                </a:solidFill>
                <a:latin typeface="Calibri"/>
              </a:rPr>
              <a:t>Nimbe</a:t>
            </a:r>
            <a:r>
              <a:rPr sz="1200" dirty="0">
                <a:solidFill>
                  <a:srgbClr val="FFFFFF"/>
                </a:solidFill>
                <a:latin typeface="Calibri"/>
              </a:rPr>
              <a:t> (PS001) | Dept. of Computer Science &amp; Informatics | UENR</a:t>
            </a:r>
          </a:p>
        </p:txBody>
      </p:sp>
      <p:pic>
        <p:nvPicPr>
          <p:cNvPr id="23" name="Picture 22">
            <a:extLst>
              <a:ext uri="{FF2B5EF4-FFF2-40B4-BE49-F238E27FC236}">
                <a16:creationId xmlns:a16="http://schemas.microsoft.com/office/drawing/2014/main" id="{2C3EAC98-5D38-C8A9-0942-81ED3BF2391C}"/>
              </a:ext>
            </a:extLst>
          </p:cNvPr>
          <p:cNvPicPr>
            <a:picLocks noChangeAspect="1"/>
          </p:cNvPicPr>
          <p:nvPr/>
        </p:nvPicPr>
        <p:blipFill>
          <a:blip r:embed="rId2"/>
          <a:stretch>
            <a:fillRect/>
          </a:stretch>
        </p:blipFill>
        <p:spPr>
          <a:xfrm>
            <a:off x="11289852" y="57845"/>
            <a:ext cx="860597" cy="860597"/>
          </a:xfrm>
          <a:prstGeom prst="rect">
            <a:avLst/>
          </a:prstGeom>
          <a:solidFill>
            <a:schemeClr val="bg1"/>
          </a:solid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130</TotalTime>
  <Words>3315</Words>
  <Application>Microsoft Office PowerPoint</Application>
  <PresentationFormat>Widescreen</PresentationFormat>
  <Paragraphs>220</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NANA AGYEI</cp:lastModifiedBy>
  <cp:revision>5</cp:revision>
  <cp:lastPrinted>2026-09-11T09:20:53Z</cp:lastPrinted>
  <dcterms:created xsi:type="dcterms:W3CDTF">2013-01-27T09:14:16Z</dcterms:created>
  <dcterms:modified xsi:type="dcterms:W3CDTF">2026-09-11T09:23:05Z</dcterms:modified>
  <cp:category/>
</cp:coreProperties>
</file>