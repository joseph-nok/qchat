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3152"/>
            <a:ext cx="4206240" cy="6711696"/>
          </a:xfrm>
          <a:prstGeom prst="rect">
            <a:avLst/>
          </a:prstGeom>
          <a:solidFill>
            <a:srgbClr val="003D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06240" y="73152"/>
            <a:ext cx="54864" cy="671169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" y="18288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C000"/>
                </a:solidFill>
                <a:latin typeface="Calibri"/>
              </a:rPr>
              <a:t>UNIVERSITY OF ENERGY AND NATURAL RESOURCES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" y="5486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4EDDA"/>
                </a:solidFill>
                <a:latin typeface="Calibri"/>
              </a:rPr>
              <a:t>Department of Computer Science and Informatics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" y="868680"/>
            <a:ext cx="3566160" cy="182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" y="1005840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Korang Bright Agyei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" y="1298448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EDDA"/>
                </a:solidFill>
                <a:latin typeface="Calibri"/>
              </a:rPr>
              <a:t>UEB3501222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" y="1664208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Mohammed Idris Adam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" y="195681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EDDA"/>
                </a:solidFill>
                <a:latin typeface="Calibri"/>
              </a:rPr>
              <a:t>UEB3501022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" y="2322576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Benaiah Amarh Anang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" y="2615184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EDDA"/>
                </a:solidFill>
                <a:latin typeface="Calibri"/>
              </a:rPr>
              <a:t>UEB3512522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2980944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Osei Nana Kwaku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273551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4EDDA"/>
                </a:solidFill>
                <a:latin typeface="Calibri"/>
              </a:rPr>
              <a:t>UEB3509022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4592" y="5989320"/>
            <a:ext cx="3657600" cy="3200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" y="6080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C000"/>
                </a:solidFill>
                <a:latin typeface="Calibri"/>
              </a:rPr>
              <a:t>Final Year Project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822960"/>
            <a:ext cx="7406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QChat for Institutional
Message for Students
and Lecturers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3520440"/>
            <a:ext cx="5029200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657600"/>
            <a:ext cx="7406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4EDDA"/>
                </a:solidFill>
                <a:latin typeface="Calibri"/>
              </a:rPr>
              <a:t>A Hybrid Web2/Web3 Secure Institutional Communication Platform
with Blockchain Audit Trail and Quantum-Inspired Encryption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754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C000"/>
                </a:solidFill>
                <a:latin typeface="Calibri"/>
              </a:rPr>
              <a:t>SUPERVISOR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Dr Peter Nimbe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5577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4EDDA"/>
                </a:solidFill>
                <a:latin typeface="Calibri"/>
              </a:rPr>
              <a:t>11th September,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4864"/>
            <a:ext cx="347472" cy="6748272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64592"/>
            <a:ext cx="5486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5C2E"/>
                </a:solidFill>
                <a:latin typeface="Calibri"/>
              </a:rPr>
              <a:t>Table of Contents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" y="804672"/>
            <a:ext cx="4114800" cy="5029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005840"/>
            <a:ext cx="594360" cy="594360"/>
          </a:xfrm>
          <a:prstGeom prst="round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0698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1155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Background &amp; Introduction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664208"/>
            <a:ext cx="5394960" cy="1097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1920240"/>
            <a:ext cx="594360" cy="594360"/>
          </a:xfrm>
          <a:prstGeom prst="round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9842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20299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Problem Statement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" y="2578608"/>
            <a:ext cx="5394960" cy="1097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2834640"/>
            <a:ext cx="594360" cy="594360"/>
          </a:xfrm>
          <a:prstGeom prst="round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8986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29443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Aim &amp; Objectives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3493008"/>
            <a:ext cx="5394960" cy="1097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749039"/>
            <a:ext cx="594360" cy="594360"/>
          </a:xfrm>
          <a:prstGeom prst="round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38587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Related Work &amp; Existing Systems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4407407"/>
            <a:ext cx="5394960" cy="1097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4663440"/>
            <a:ext cx="594360" cy="594360"/>
          </a:xfrm>
          <a:prstGeom prst="round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7274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7316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Methodology &amp; Technology Stack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1005840"/>
            <a:ext cx="594360" cy="594360"/>
          </a:xfrm>
          <a:prstGeom prst="round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10698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11155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System Architecture &amp; Design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19672" y="1664208"/>
            <a:ext cx="5212080" cy="1097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92240" y="1920240"/>
            <a:ext cx="594360" cy="594360"/>
          </a:xfrm>
          <a:prstGeom prst="round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19842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59752" y="20299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Testing &amp; Results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19672" y="2578608"/>
            <a:ext cx="5212080" cy="1097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92240" y="2834640"/>
            <a:ext cx="594360" cy="594360"/>
          </a:xfrm>
          <a:prstGeom prst="round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986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59752" y="29443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19672" y="3493008"/>
            <a:ext cx="5212080" cy="10972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92240" y="3749039"/>
            <a:ext cx="594360" cy="594360"/>
          </a:xfrm>
          <a:prstGeom prst="round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381304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9752" y="385876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807708"/>
            <a:ext cx="8229600" cy="50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1A1A"/>
                </a:solidFill>
                <a:latin typeface="Calibri"/>
              </a:rPr>
              <a:t>QChat | UENR Computer Science &amp; Informatics |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96112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946403"/>
            <a:ext cx="82296" cy="5852160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1. Background &amp; Introduction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1530584" y="109728"/>
            <a:ext cx="475488" cy="4754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30584" y="128016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5C2E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6798564"/>
            <a:ext cx="7315200" cy="54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5C2E"/>
                </a:solidFill>
                <a:latin typeface="Calibri"/>
              </a:rPr>
              <a:t>QChat | UENR Computer Science &amp; Informatics |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1051560"/>
            <a:ext cx="11823192" cy="5623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400">
                <a:solidFill>
                  <a:srgbClr val="1A1A1A"/>
                </a:solidFill>
                <a:latin typeface="Calibri"/>
              </a:rPr>
              <a:t>  • Higher education workflows are increasingly dependent on digital channels for student-faculty interactions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1A"/>
                </a:solidFill>
                <a:latin typeface="Calibri"/>
              </a:rPr>
              <a:t>  • Commercial communication tools (WhatsApp, Slack, email) lack institutional role verification, auditability, and tamper evidence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1A"/>
                </a:solidFill>
                <a:latin typeface="Calibri"/>
              </a:rPr>
              <a:t>  • Existing systems fail to pair real-time messaging performance with permissioned blockchain immutability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1A"/>
                </a:solidFill>
                <a:latin typeface="Calibri"/>
              </a:rPr>
              <a:t>  • Academic disputes over tampered assignment submissions, altered timestamp records, or modified grades lack cryptographic proof mechanisms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1A"/>
                </a:solidFill>
                <a:latin typeface="Calibri"/>
              </a:rPr>
              <a:t>  • QChat resolves this vulnerability by combining high-speed Web2 messaging with Web3 blockchain logging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1A"/>
                </a:solidFill>
                <a:latin typeface="Calibri"/>
              </a:rPr>
              <a:t>  • Engineered as a Final Year Project within the Department of Computer Science and Informatics at UENR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96112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946403"/>
            <a:ext cx="82296" cy="5852160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2. Problem Statement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1530584" y="109728"/>
            <a:ext cx="475488" cy="4754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30584" y="128016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5C2E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6798564"/>
            <a:ext cx="7315200" cy="54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5C2E"/>
                </a:solidFill>
                <a:latin typeface="Calibri"/>
              </a:rPr>
              <a:t>QChat | UENR Computer Science &amp; Informatics |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1051560"/>
            <a:ext cx="11823192" cy="5623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b="1" sz="1350">
                <a:solidFill>
                  <a:srgbClr val="005C2E"/>
                </a:solidFill>
                <a:latin typeface="Calibri"/>
              </a:rPr>
              <a:t>Problem 1 — Performance vs. Verification Tension</a:t>
            </a:r>
          </a:p>
          <a:p>
            <a:pPr algn="l">
              <a:spcBef>
                <a:spcPts val="800"/>
              </a:spcBef>
            </a:pPr>
            <a:r>
              <a:rPr sz="1250">
                <a:solidFill>
                  <a:srgbClr val="444444"/>
                </a:solidFill>
                <a:latin typeface="Calibri"/>
              </a:rPr>
              <a:t>        ○ Real-time chat requires sub-second latency, while public blockchains introduce high latency and gas costs</a:t>
            </a:r>
          </a:p>
          <a:p>
            <a:pPr algn="l">
              <a:spcBef>
                <a:spcPts val="800"/>
              </a:spcBef>
            </a:pPr>
            <a:r>
              <a:rPr b="1" sz="1350">
                <a:solidFill>
                  <a:srgbClr val="005C2E"/>
                </a:solidFill>
                <a:latin typeface="Calibri"/>
              </a:rPr>
              <a:t>Problem 2 — Vulnerability to Content &amp; Identity Tampering</a:t>
            </a:r>
          </a:p>
          <a:p>
            <a:pPr algn="l">
              <a:spcBef>
                <a:spcPts val="800"/>
              </a:spcBef>
            </a:pPr>
            <a:r>
              <a:rPr sz="1250">
                <a:solidFill>
                  <a:srgbClr val="444444"/>
                </a:solidFill>
                <a:latin typeface="Calibri"/>
              </a:rPr>
              <a:t>        ○ Centralized databases allow database admins or compromised accounts to alter communication logs without detection</a:t>
            </a:r>
          </a:p>
          <a:p>
            <a:pPr algn="l">
              <a:spcBef>
                <a:spcPts val="800"/>
              </a:spcBef>
            </a:pPr>
            <a:r>
              <a:rPr b="1" sz="1350">
                <a:solidFill>
                  <a:srgbClr val="005C2E"/>
                </a:solidFill>
                <a:latin typeface="Calibri"/>
              </a:rPr>
              <a:t>Problem 3 — Vulnerability to Future Quantum Cryptanalysis</a:t>
            </a:r>
          </a:p>
          <a:p>
            <a:pPr algn="l">
              <a:spcBef>
                <a:spcPts val="800"/>
              </a:spcBef>
            </a:pPr>
            <a:r>
              <a:rPr sz="1250">
                <a:solidFill>
                  <a:srgbClr val="444444"/>
                </a:solidFill>
                <a:latin typeface="Calibri"/>
              </a:rPr>
              <a:t>        ○ Legacy RSA and ECC algorithms risk compromise by quantum decryption capabilities within the next decade</a:t>
            </a:r>
          </a:p>
          <a:p>
            <a:pPr algn="l">
              <a:spcBef>
                <a:spcPts val="800"/>
              </a:spcBef>
            </a:pPr>
            <a:r>
              <a:rPr b="1" sz="1350">
                <a:solidFill>
                  <a:srgbClr val="005C2E"/>
                </a:solidFill>
                <a:latin typeface="Calibri"/>
              </a:rPr>
              <a:t>Systemic Impact</a:t>
            </a:r>
          </a:p>
          <a:p>
            <a:pPr algn="l">
              <a:spcBef>
                <a:spcPts val="800"/>
              </a:spcBef>
            </a:pPr>
            <a:r>
              <a:rPr sz="1250">
                <a:solidFill>
                  <a:srgbClr val="444444"/>
                </a:solidFill>
                <a:latin typeface="Calibri"/>
              </a:rPr>
              <a:t>        ○ Administrative friction, dispute resolution bottlenecks, and exposure to document fraud across higher education institutions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96112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946403"/>
            <a:ext cx="82296" cy="5852160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3. Project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1530584" y="109728"/>
            <a:ext cx="475488" cy="4754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30584" y="128016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5C2E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6798564"/>
            <a:ext cx="7315200" cy="54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5C2E"/>
                </a:solidFill>
                <a:latin typeface="Calibri"/>
              </a:rPr>
              <a:t>QChat | UENR Computer Science &amp; Informatics |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1024128"/>
            <a:ext cx="11823192" cy="685800"/>
          </a:xfrm>
          <a:prstGeom prst="round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097280"/>
            <a:ext cx="115488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5C2E"/>
                </a:solidFill>
                <a:latin typeface="Calibri"/>
              </a:rPr>
              <a:t>AIM: Architect, implement, and benchmark a hybrid Web2/Web3 institutional messaging system equipped with blockchain audit trails and client-side encryption.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" y="1874519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C2E"/>
                </a:solidFill>
                <a:latin typeface="Calibri"/>
              </a:rPr>
              <a:t>Objectives 1–3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2258568"/>
            <a:ext cx="5806440" cy="32004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2350008"/>
            <a:ext cx="58064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Obj 1 — Real-Time Engine: React 19 + TypeScript + Convex backend hosting instant chats and community Q&amp;A forums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Obj 2 — Client Confidentiality: Browser-native Web Crypto API driving RSA-OAEP 2048 and AES-GCM 256 encryption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Obj 3 — Blockchain Audit Trail: Solidity smart contract on Hyperledger Besu recording SHA-256 message hashes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9904" y="1874519"/>
            <a:ext cx="36576" cy="429768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8" y="1874519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C2E"/>
                </a:solidFill>
                <a:latin typeface="Calibri"/>
              </a:rPr>
              <a:t>Objectives 4–6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6208" y="2258568"/>
            <a:ext cx="5669280" cy="32004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8" y="2350008"/>
            <a:ext cx="566928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Obj 4 — Quantum Simulation: BB84 QKD TypeScript module computing QBER and deriving 256-bit keys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Obj 5 — Identity Workflow: Admin verification pipeline mapping staff/student credentials onto Besu ledger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Obj 6 — Empirical Evaluation: Cryptographic unit tests, end-to-end integration runs, and UAT field evaluation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96112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946403"/>
            <a:ext cx="82296" cy="5852160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4. Comparative Literature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11530584" y="109728"/>
            <a:ext cx="475488" cy="4754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30584" y="128016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5C2E"/>
                </a:solidFill>
                <a:latin typeface="Calibri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6798564"/>
            <a:ext cx="7315200" cy="54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5C2E"/>
                </a:solidFill>
                <a:latin typeface="Calibri"/>
              </a:rPr>
              <a:t>QChat | UENR Computer Science &amp; Informatics |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051560"/>
            <a:ext cx="2011680" cy="777240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112471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MS Teams / Slack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114300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High real-time speed — but centralized database ownership, zero cryptographic verification, and no client-controlled E2EE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892807"/>
            <a:ext cx="11823192" cy="9144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2011680"/>
            <a:ext cx="2011680" cy="77724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600" y="208483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Signal / WhatsApp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10312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Strong E2E encryption — but lacks institutional role governance, tamper-proof administrative logs, and academic metadata verification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852928"/>
            <a:ext cx="11823192" cy="9144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880" y="2971800"/>
            <a:ext cx="2011680" cy="777240"/>
          </a:xfrm>
          <a:prstGeom prst="rect">
            <a:avLst/>
          </a:prstGeom>
          <a:solidFill>
            <a:srgbClr val="006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" y="304495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IPFS Networks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063240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Decentralized storage — but suffers high file retrieval latency, zero native messaging UX, and complex key management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3813048"/>
            <a:ext cx="11823192" cy="9144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2880" y="3931920"/>
            <a:ext cx="2011680" cy="777240"/>
          </a:xfrm>
          <a:prstGeom prst="rect">
            <a:avLst/>
          </a:prstGeom>
          <a:solidFill>
            <a:srgbClr val="338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8600" y="4005072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Hyperledger Fabric Platforms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023359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Immutable ledger auditing — but requires complex multi-organization node setups, lacks E2EE chat, and yields low interactive throughput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2880" y="4937759"/>
            <a:ext cx="11823192" cy="640080"/>
          </a:xfrm>
          <a:prstGeom prst="rect">
            <a:avLst/>
          </a:prstGeom>
          <a:solidFill>
            <a:srgbClr val="FFF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4983479"/>
            <a:ext cx="116403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4000"/>
                </a:solidFill>
                <a:latin typeface="Calibri"/>
              </a:rPr>
              <a:t>Research Contribution: QChat bridges the gap by linking (a) sub-200ms Convex WebSocket messaging, (b) zero-gas Besu ledger verification, (c) WebCrypto client-side E2EE, and (d) BB84 QKD simulation in a unified web application.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96112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946403"/>
            <a:ext cx="82296" cy="5852160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5. Engineering Methodology &amp;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11530584" y="109728"/>
            <a:ext cx="475488" cy="4754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30584" y="128016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5C2E"/>
                </a:solidFill>
                <a:latin typeface="Calibri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6798564"/>
            <a:ext cx="7315200" cy="54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5C2E"/>
                </a:solidFill>
                <a:latin typeface="Calibri"/>
              </a:rPr>
              <a:t>QChat | UENR Computer Science &amp; Informatics |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1051560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C2E"/>
                </a:solidFill>
                <a:latin typeface="Calibri"/>
              </a:rPr>
              <a:t>Software Development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435607"/>
            <a:ext cx="5806440" cy="32004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1527048"/>
            <a:ext cx="58064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Incremental Prototyping — 3 development phases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Phase 1: Auth gateway, reactive Convex backend, real-time channels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Phase 2: Hyperledger Besu container setup, Solidity smart contract deployment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Phase 3: BB84 QKD module implementation, AES-GCM E2EE, UAT testing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Test-Driven Development across cryptographic primitives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Source Control: Git repository with isolated feature branches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051560"/>
            <a:ext cx="36576" cy="51206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05156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C2E"/>
                </a:solidFill>
                <a:latin typeface="Calibri"/>
              </a:rPr>
              <a:t>Technical Stack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8" y="1435607"/>
            <a:ext cx="5669280" cy="32004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8" y="152704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Frontend: React 19 + TypeScript + Vite single-page application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Backend: Convex serverless database (real-time WebSocket sync)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Blockchain: Hyperledger Besu private network (QBFT consensus, zero-gas execution)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Smart Contract: Solidity 0.8.20 — MessageVerifier.sol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Cryptography: Web Crypto API (RSA-OAEP 2048 + AES-GCM 256)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QKD Engine: TypeScript BB84 simulation module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Web3 Client: Ethers.js v6 JSON-RPC bridge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Container Runtime: Podman rootless runtime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96112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946403"/>
            <a:ext cx="82296" cy="5852160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6. System Architecture Breakdown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11530584" y="109728"/>
            <a:ext cx="475488" cy="4754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30584" y="128016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5C2E"/>
                </a:solidFill>
                <a:latin typeface="Calibri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6798564"/>
            <a:ext cx="7315200" cy="54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5C2E"/>
                </a:solidFill>
                <a:latin typeface="Calibri"/>
              </a:rPr>
              <a:t>QChat | UENR Computer Science &amp; Informatics |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" y="1051560"/>
            <a:ext cx="1828800" cy="1005840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" y="1280160"/>
            <a:ext cx="18105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PRESENTATION LAYER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051560"/>
            <a:ext cx="9948672" cy="1005840"/>
          </a:xfrm>
          <a:prstGeom prst="rect">
            <a:avLst/>
          </a:prstGeom>
          <a:solidFill>
            <a:srgbClr val="F0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8840" y="1161288"/>
            <a:ext cx="976579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React 19 SPA   •   TypeScript   •   Vite   •   React Router v7
Real-time Chat   |   Admin Evidence Verification   |   Community Forum   |   Registration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057400"/>
            <a:ext cx="502920" cy="16459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03911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5C2E"/>
                </a:solidFill>
                <a:latin typeface="Calibri"/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" y="2286000"/>
            <a:ext cx="1828800" cy="1005840"/>
          </a:xfrm>
          <a:prstGeom prst="rect">
            <a:avLst/>
          </a:prstGeom>
          <a:solidFill>
            <a:srgbClr val="007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" y="2514600"/>
            <a:ext cx="18105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APPLICATION LAYER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286000"/>
            <a:ext cx="9948672" cy="1005840"/>
          </a:xfrm>
          <a:prstGeom prst="rect">
            <a:avLst/>
          </a:prstGeom>
          <a:solidFill>
            <a:srgbClr val="F0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8840" y="2395728"/>
            <a:ext cx="976579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Convex Reactive Engine — 9 Relational Schemas   •   WebSocket Protocol
Encrypted Storage Buckets   |   Key Management   |   Role-Based Authorization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91840"/>
            <a:ext cx="502920" cy="16459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27355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5C2E"/>
                </a:solidFill>
                <a:latin typeface="Calibri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3520440"/>
            <a:ext cx="1828800" cy="1005840"/>
          </a:xfrm>
          <a:prstGeom prst="rect">
            <a:avLst/>
          </a:prstGeom>
          <a:solidFill>
            <a:srgbClr val="006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" y="3749039"/>
            <a:ext cx="18105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VERIFICATION LAYER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520440"/>
            <a:ext cx="9948672" cy="1005840"/>
          </a:xfrm>
          <a:prstGeom prst="rect">
            <a:avLst/>
          </a:prstGeom>
          <a:solidFill>
            <a:srgbClr val="F0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8840" y="3630168"/>
            <a:ext cx="976579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Hyperledger Besu (QBFT consensus, ChainId 1337)   •   Ethers.js v6 RPC
MessageVerifier.sol Contract   |   Role Ledger   |   SHA-256 Message Hashing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4828032"/>
            <a:ext cx="11823192" cy="68580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4873752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5C2E"/>
                </a:solidFill>
                <a:latin typeface="Calibri"/>
              </a:rPr>
              <a:t>Architectural Highlights:  Browser-native crypto keeps key material client-side  •  CryptographicLoginGatekeeper provisions RSA key pairs upon registration  •  BB84 module generates session keys for AES-GCM payload ciphering  •  Direct Ethers.js JSON-RPC interface connects to Besu at http://127.0.0.1:8545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96112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946403"/>
            <a:ext cx="82296" cy="5852160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7. Empirical Results &amp; 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1530584" y="109728"/>
            <a:ext cx="475488" cy="4754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30584" y="128016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5C2E"/>
                </a:solidFill>
                <a:latin typeface="Calibri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6798564"/>
            <a:ext cx="7315200" cy="54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5C2E"/>
                </a:solidFill>
                <a:latin typeface="Calibri"/>
              </a:rPr>
              <a:t>QChat | UENR Computer Science &amp; Informatics |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1051560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C2E"/>
                </a:solidFill>
                <a:latin typeface="Calibri"/>
              </a:rPr>
              <a:t>Evaluation Strategy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435607"/>
            <a:ext cx="5806440" cy="32004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1527048"/>
            <a:ext cx="58064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Layer 1 — Cryptographic Primatives: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      ○ BB84 quantum bit error rate calculation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      ○ AES-GCM 256-bit encryption/decryption validation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      ○ RSA-OAEP 2048 key pair generation benchmarking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Layer 2 — System Integration: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      ○ End-to-end data pipelines across React, Convex, and Besu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      ○ Smart contract state updates and hash verification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Layer 3 — User Acceptance Testing (UAT):</a:t>
            </a:r>
          </a:p>
          <a:p>
            <a:pPr algn="l">
              <a:spcBef>
                <a:spcPts val="600"/>
              </a:spcBef>
            </a:pPr>
            <a:r>
              <a:rPr sz="1100">
                <a:solidFill>
                  <a:srgbClr val="444444"/>
                </a:solidFill>
                <a:latin typeface="Calibri"/>
              </a:rPr>
              <a:t>        ○ Admin, Lecturer, and Student user scenarios tested with participants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051560"/>
            <a:ext cx="36576" cy="51206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05156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C2E"/>
                </a:solidFill>
                <a:latin typeface="Calibri"/>
              </a:rPr>
              <a:t>Empirical Results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8" y="1435607"/>
            <a:ext cx="5669280" cy="32004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8" y="152704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BB84 QBER calculation remained strictly below 11% error threshold without eavesdropping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AES-GCM 256-bit encryption verified 100% data integrity across all test payloads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MessageVerifier.sol contract registered roles and validated hashes with 100% accuracy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Convex real-time message sync achieved sub-200ms delivery latency over local connections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UAT results confirmed 100% task completion across student and lecturer evaluation cohorts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RSA-OAEP 2048 key creation completed seamlessly during initial user account initialization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96112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946403"/>
            <a:ext cx="82296" cy="5852160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8. Constraints &amp; Future Scope</a:t>
            </a:r>
          </a:p>
        </p:txBody>
      </p:sp>
      <p:sp>
        <p:nvSpPr>
          <p:cNvPr id="8" name="Rectangle 7"/>
          <p:cNvSpPr/>
          <p:nvPr/>
        </p:nvSpPr>
        <p:spPr>
          <a:xfrm>
            <a:off x="11530584" y="109728"/>
            <a:ext cx="475488" cy="4754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30584" y="128016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5C2E"/>
                </a:solidFill>
                <a:latin typeface="Calibri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6798564"/>
            <a:ext cx="7315200" cy="54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5C2E"/>
                </a:solidFill>
                <a:latin typeface="Calibri"/>
              </a:rPr>
              <a:t>QChat | UENR Computer Science &amp; Informatics |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1051560"/>
            <a:ext cx="5806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C2E"/>
                </a:solidFill>
                <a:latin typeface="Calibri"/>
              </a:rPr>
              <a:t>System Boundaries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" y="1435607"/>
            <a:ext cx="5806440" cy="32004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1527048"/>
            <a:ext cx="580644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BB84 execution relies on software matrix simulation rather than physical photonic hardware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Hyperledger Besu operates as a single-node local container rather than a distributed consortium network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No integration with institutional identity providers (e.g. Moodle, Shibboleth, SAML)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Application interface optimized for desktop browsers; mobile screen support is limited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Real-time audio and video conferencing are omitted from current project scope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9904" y="1051560"/>
            <a:ext cx="36576" cy="51206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8" y="105156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C2E"/>
                </a:solidFill>
                <a:latin typeface="Calibri"/>
              </a:rPr>
              <a:t>Future Work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8" y="1435607"/>
            <a:ext cx="5669280" cy="32004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8" y="152704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Deploy a multi-node Besu consortium network across university department servers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Connect to commercial QKD cloud APIs (e.g., Toshiba QKD) for hardware key generation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Implement SAML 2.0 / OAuth2 single sign-on integration for university identity management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Develop React Native mobile applications targeting Android and iOS devices</a:t>
            </a:r>
          </a:p>
          <a:p>
            <a:pPr algn="l">
              <a:spcBef>
                <a:spcPts val="600"/>
              </a:spcBef>
            </a:pPr>
            <a:r>
              <a:rPr sz="1200">
                <a:solidFill>
                  <a:srgbClr val="1A1A1A"/>
                </a:solidFill>
                <a:latin typeface="Calibri"/>
              </a:rPr>
              <a:t>  • Perform large-scale concurrent stress testing to establish Convex cloud load boundaries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96112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946403"/>
            <a:ext cx="82296" cy="5852160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09728"/>
            <a:ext cx="1118311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9. Summary &amp; Conclusion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1530584" y="109728"/>
            <a:ext cx="475488" cy="4754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530584" y="128016"/>
            <a:ext cx="4754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5C2E"/>
                </a:solidFill>
                <a:latin typeface="Calibri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6798564"/>
            <a:ext cx="7315200" cy="54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05C2E"/>
                </a:solidFill>
                <a:latin typeface="Calibri"/>
              </a:rPr>
              <a:t>QChat | UENR Computer Science &amp; Informatics |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" y="1051560"/>
            <a:ext cx="11823192" cy="5623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400">
                <a:solidFill>
                  <a:srgbClr val="1A1A1A"/>
                </a:solidFill>
                <a:latin typeface="Calibri"/>
              </a:rPr>
              <a:t>  • Successfully achieved all 6 project objectives within the established research framework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1A"/>
                </a:solidFill>
                <a:latin typeface="Calibri"/>
              </a:rPr>
              <a:t>  • Proved that combining Web2 real-time sockets with Web3 blockchain storage resolves the performance vs. verification dilemma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1A"/>
                </a:solidFill>
                <a:latin typeface="Calibri"/>
              </a:rPr>
              <a:t>  • Demonstrated browser-native Web Crypto API capabilities for generating secure local key pairs without third-party libraries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1A"/>
                </a:solidFill>
                <a:latin typeface="Calibri"/>
              </a:rPr>
              <a:t>  • Established tamper-proof document auditing using MessageVerifier.sol on Hyperledger Besu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1A"/>
                </a:solidFill>
                <a:latin typeface="Calibri"/>
              </a:rPr>
              <a:t>  • Confirmed the feasibility of simulating BB84 quantum key exchange routines in TypeScript for academic environments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1A"/>
                </a:solidFill>
                <a:latin typeface="Calibri"/>
              </a:rPr>
              <a:t>  • Eliminated account impersonation risks via admin-validated identity registration on the blockchain</a:t>
            </a:r>
          </a:p>
          <a:p>
            <a:pPr algn="l">
              <a:spcBef>
                <a:spcPts val="1000"/>
              </a:spcBef>
            </a:pPr>
            <a:r>
              <a:rPr sz="1400">
                <a:solidFill>
                  <a:srgbClr val="1A1A1A"/>
                </a:solidFill>
                <a:latin typeface="Calibri"/>
              </a:rPr>
              <a:t>  • Delivered a practical, open-source secure communication reference platform tailored for academic institutions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89504" y="1280160"/>
            <a:ext cx="6400800" cy="4297680"/>
          </a:xfrm>
          <a:prstGeom prst="roundRect">
            <a:avLst/>
          </a:prstGeom>
          <a:solidFill>
            <a:srgbClr val="004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745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3474720"/>
            <a:ext cx="6702552" cy="73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639312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D4EDDA"/>
                </a:solidFill>
                <a:latin typeface="Calibri"/>
              </a:rPr>
              <a:t>We welcome your questions and feedback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C000"/>
                </a:solidFill>
                <a:latin typeface="Calibri"/>
              </a:rPr>
              <a:t>Supervisor: Dr Peter Nimbe   |   Department of Computer Science and Informatics   |   UENR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4EDDA"/>
                </a:solidFill>
                <a:latin typeface="Calibri"/>
              </a:rPr>
              <a:t>11th September,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