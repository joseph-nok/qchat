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4206240" cy="6711696"/>
          </a:xfrm>
          <a:prstGeom prst="rect">
            <a:avLst/>
          </a:prstGeom>
          <a:solidFill>
            <a:srgbClr val="003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06240" y="73152"/>
            <a:ext cx="54864" cy="671169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" y="18288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C000"/>
                </a:solidFill>
                <a:latin typeface="Calibri"/>
              </a:rPr>
              <a:t>UNIVERSITY OF ENERGY AND NATURAL RESOURCES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" y="5486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4EDDA"/>
                </a:solidFill>
                <a:latin typeface="Calibri"/>
              </a:rPr>
              <a:t>Department of Computer Science and Informatics</a:t>
            </a:r>
          </a:p>
        </p:txBody>
      </p:sp>
      <p:sp>
        <p:nvSpPr>
          <p:cNvPr id="9" name="Rectangle 8"/>
          <p:cNvSpPr/>
          <p:nvPr/>
        </p:nvSpPr>
        <p:spPr>
          <a:xfrm>
            <a:off x="164592" y="868680"/>
            <a:ext cx="3566160" cy="1828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" y="1005840"/>
            <a:ext cx="3840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Korang Bright Agyei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" y="1298448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4EDDA"/>
                </a:solidFill>
                <a:latin typeface="Calibri"/>
              </a:rPr>
              <a:t>UEB3501222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" y="1664208"/>
            <a:ext cx="3840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Mohammed Idris Adam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" y="1956816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4EDDA"/>
                </a:solidFill>
                <a:latin typeface="Calibri"/>
              </a:rPr>
              <a:t>UEB3501022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" y="2322576"/>
            <a:ext cx="3840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Benaiah Amarh Anang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" y="2615184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4EDDA"/>
                </a:solidFill>
                <a:latin typeface="Calibri"/>
              </a:rPr>
              <a:t>UEB3512522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" y="2980944"/>
            <a:ext cx="3840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Osei Nana Kwaku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" y="3273551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4EDDA"/>
                </a:solidFill>
                <a:latin typeface="Calibri"/>
              </a:rPr>
              <a:t>UEB3509022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4592" y="5989320"/>
            <a:ext cx="3657600" cy="3200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4592" y="6080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C000"/>
                </a:solidFill>
                <a:latin typeface="Calibri"/>
              </a:rPr>
              <a:t>Final Year Project Presentation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822960"/>
            <a:ext cx="7406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QChat for Institutional
Message for Students
and Lecturers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34840" y="3520440"/>
            <a:ext cx="5029200" cy="6400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34840" y="3657600"/>
            <a:ext cx="7406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EDDA"/>
                </a:solidFill>
                <a:latin typeface="Calibri"/>
              </a:rPr>
              <a:t>A Hybrid Web2/Web3 Secure Institutional Communication Platform
with Blockchain Audit Trail and Quantum-Inspired Encryption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4754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C000"/>
                </a:solidFill>
                <a:latin typeface="Calibri"/>
              </a:rPr>
              <a:t>SUPERVISOR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5029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Dr Peter Nimbe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5577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DDA"/>
                </a:solidFill>
                <a:latin typeface="Calibri"/>
              </a:rPr>
              <a:t>11th September,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"/>
            <a:ext cx="347472" cy="6748272"/>
          </a:xfrm>
          <a:prstGeom prst="rect">
            <a:avLst/>
          </a:prstGeom>
          <a:solidFill>
            <a:srgbClr val="00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64592"/>
            <a:ext cx="5486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5C2E"/>
                </a:solidFill>
                <a:latin typeface="Calibri"/>
              </a:rPr>
              <a:t>Table of Contents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804672"/>
            <a:ext cx="4114800" cy="5029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005840"/>
            <a:ext cx="594360" cy="594360"/>
          </a:xfrm>
          <a:prstGeom prst="roundRect">
            <a:avLst/>
          </a:prstGeom>
          <a:solidFill>
            <a:srgbClr val="00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069848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111556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Background &amp; Introduction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1664208"/>
            <a:ext cx="5394960" cy="10972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1920240"/>
            <a:ext cx="594360" cy="594360"/>
          </a:xfrm>
          <a:prstGeom prst="roundRect">
            <a:avLst/>
          </a:prstGeom>
          <a:solidFill>
            <a:srgbClr val="00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984248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" y="202996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Problem Statement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0352" y="2578608"/>
            <a:ext cx="5394960" cy="10972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2920" y="2834640"/>
            <a:ext cx="594360" cy="594360"/>
          </a:xfrm>
          <a:prstGeom prst="roundRect">
            <a:avLst/>
          </a:prstGeom>
          <a:solidFill>
            <a:srgbClr val="00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898648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294436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Aim &amp; Objectives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0352" y="3493008"/>
            <a:ext cx="5394960" cy="10972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" y="3749039"/>
            <a:ext cx="594360" cy="594360"/>
          </a:xfrm>
          <a:prstGeom prst="roundRect">
            <a:avLst/>
          </a:prstGeom>
          <a:solidFill>
            <a:srgbClr val="00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813048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385876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Related Work &amp; Existing Systems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0352" y="4407407"/>
            <a:ext cx="5394960" cy="10972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02920" y="4663440"/>
            <a:ext cx="594360" cy="594360"/>
          </a:xfrm>
          <a:prstGeom prst="roundRect">
            <a:avLst/>
          </a:prstGeom>
          <a:solidFill>
            <a:srgbClr val="00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727448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" y="477316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Methodology &amp; Technology Stack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92240" y="1005840"/>
            <a:ext cx="594360" cy="594360"/>
          </a:xfrm>
          <a:prstGeom prst="roundRect">
            <a:avLst/>
          </a:prstGeom>
          <a:solidFill>
            <a:srgbClr val="00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1069848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59752" y="111556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System Architecture &amp; Design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19672" y="1664208"/>
            <a:ext cx="5212080" cy="10972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492240" y="1920240"/>
            <a:ext cx="594360" cy="594360"/>
          </a:xfrm>
          <a:prstGeom prst="roundRect">
            <a:avLst/>
          </a:prstGeom>
          <a:solidFill>
            <a:srgbClr val="00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1984248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59752" y="202996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Testing &amp; Results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19672" y="2578608"/>
            <a:ext cx="5212080" cy="10972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492240" y="2834640"/>
            <a:ext cx="594360" cy="594360"/>
          </a:xfrm>
          <a:prstGeom prst="roundRect">
            <a:avLst/>
          </a:prstGeom>
          <a:solidFill>
            <a:srgbClr val="00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2898648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59752" y="294436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Limitations &amp; Future Work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19672" y="3493008"/>
            <a:ext cx="5212080" cy="10972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492240" y="3749039"/>
            <a:ext cx="594360" cy="594360"/>
          </a:xfrm>
          <a:prstGeom prst="roundRect">
            <a:avLst/>
          </a:prstGeom>
          <a:solidFill>
            <a:srgbClr val="00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92240" y="3813048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59752" y="385876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Conclusion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807708"/>
            <a:ext cx="8229600" cy="50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QChat | UENR Computer Science &amp; Informatics |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"/>
            <a:ext cx="12188952" cy="896112"/>
          </a:xfrm>
          <a:prstGeom prst="rect">
            <a:avLst/>
          </a:prstGeom>
          <a:solidFill>
            <a:srgbClr val="00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946403"/>
            <a:ext cx="82296" cy="5852160"/>
          </a:xfrm>
          <a:prstGeom prst="rect">
            <a:avLst/>
          </a:prstGeom>
          <a:solidFill>
            <a:srgbClr val="00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09728"/>
            <a:ext cx="111831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1. Background &amp; Introduction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1530584" y="109728"/>
            <a:ext cx="475488" cy="47548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530584" y="128016"/>
            <a:ext cx="4754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5C2E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" y="6798564"/>
            <a:ext cx="7315200" cy="54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5C2E"/>
                </a:solidFill>
                <a:latin typeface="Calibri"/>
              </a:rPr>
              <a:t>QChat | UENR Computer Science &amp; Informatics |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1051560"/>
            <a:ext cx="11823192" cy="5623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1400">
                <a:solidFill>
                  <a:srgbClr val="1A1A1A"/>
                </a:solidFill>
                <a:latin typeface="Calibri"/>
              </a:rPr>
              <a:t>  • Higher education institutions are rapidly shifting to digital communication between students and faculty</a:t>
            </a:r>
          </a:p>
          <a:p>
            <a:pPr algn="l">
              <a:spcBef>
                <a:spcPts val="1000"/>
              </a:spcBef>
            </a:pPr>
            <a:r>
              <a:rPr sz="1400">
                <a:solidFill>
                  <a:srgbClr val="1A1A1A"/>
                </a:solidFill>
                <a:latin typeface="Calibri"/>
              </a:rPr>
              <a:t>  • Existing tools (WhatsApp, Telegram, email) lack academic-grade security, auditability, and institutional role verification</a:t>
            </a:r>
          </a:p>
          <a:p>
            <a:pPr algn="l">
              <a:spcBef>
                <a:spcPts val="1000"/>
              </a:spcBef>
            </a:pPr>
            <a:r>
              <a:rPr sz="1400">
                <a:solidFill>
                  <a:srgbClr val="1A1A1A"/>
                </a:solidFill>
                <a:latin typeface="Calibri"/>
              </a:rPr>
              <a:t>  • No current platform combines real-time messaging with blockchain-based immutable audit trails</a:t>
            </a:r>
          </a:p>
          <a:p>
            <a:pPr algn="l">
              <a:spcBef>
                <a:spcPts val="1000"/>
              </a:spcBef>
            </a:pPr>
            <a:r>
              <a:rPr sz="1400">
                <a:solidFill>
                  <a:srgbClr val="1A1A1A"/>
                </a:solidFill>
                <a:latin typeface="Calibri"/>
              </a:rPr>
              <a:t>  • Academic disputes over tampered messages, altered deadlines, or modified files have no cryptographic resolution mechanism</a:t>
            </a:r>
          </a:p>
          <a:p>
            <a:pPr algn="l">
              <a:spcBef>
                <a:spcPts val="1000"/>
              </a:spcBef>
            </a:pPr>
            <a:r>
              <a:rPr sz="1400">
                <a:solidFill>
                  <a:srgbClr val="1A1A1A"/>
                </a:solidFill>
                <a:latin typeface="Calibri"/>
              </a:rPr>
              <a:t>  • QChat addresses this critical gap by integrating Web2 performance with Web3 immutability in a single platform</a:t>
            </a:r>
          </a:p>
          <a:p>
            <a:pPr algn="l">
              <a:spcBef>
                <a:spcPts val="1000"/>
              </a:spcBef>
            </a:pPr>
            <a:r>
              <a:rPr sz="1400">
                <a:solidFill>
                  <a:srgbClr val="1A1A1A"/>
                </a:solidFill>
                <a:latin typeface="Calibri"/>
              </a:rPr>
              <a:t>  • Developed as a Final Year Project at UENR — Department of Computer Science and Informatics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"/>
            <a:ext cx="12188952" cy="896112"/>
          </a:xfrm>
          <a:prstGeom prst="rect">
            <a:avLst/>
          </a:prstGeom>
          <a:solidFill>
            <a:srgbClr val="00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946403"/>
            <a:ext cx="82296" cy="5852160"/>
          </a:xfrm>
          <a:prstGeom prst="rect">
            <a:avLst/>
          </a:prstGeom>
          <a:solidFill>
            <a:srgbClr val="00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09728"/>
            <a:ext cx="111831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2. Problem Statement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11530584" y="109728"/>
            <a:ext cx="475488" cy="47548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530584" y="128016"/>
            <a:ext cx="4754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5C2E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" y="6798564"/>
            <a:ext cx="7315200" cy="54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5C2E"/>
                </a:solidFill>
                <a:latin typeface="Calibri"/>
              </a:rPr>
              <a:t>QChat | UENR Computer Science &amp; Informatics |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1051560"/>
            <a:ext cx="11823192" cy="5623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b="1" sz="1350">
                <a:solidFill>
                  <a:srgbClr val="005C2E"/>
                </a:solidFill>
                <a:latin typeface="Calibri"/>
              </a:rPr>
              <a:t>Problem 1 — Performance vs. Verification Trade-off</a:t>
            </a:r>
          </a:p>
          <a:p>
            <a:pPr algn="l">
              <a:spcBef>
                <a:spcPts val="800"/>
              </a:spcBef>
            </a:pPr>
            <a:r>
              <a:rPr sz="1250">
                <a:solidFill>
                  <a:srgbClr val="444444"/>
                </a:solidFill>
                <a:latin typeface="Calibri"/>
              </a:rPr>
              <a:t>        ○ Academic tools need real-time speed AND tamper-proof verification — existing solutions offer one, not both</a:t>
            </a:r>
          </a:p>
          <a:p>
            <a:pPr algn="l">
              <a:spcBef>
                <a:spcPts val="800"/>
              </a:spcBef>
            </a:pPr>
            <a:r>
              <a:rPr b="1" sz="1350">
                <a:solidFill>
                  <a:srgbClr val="005C2E"/>
                </a:solidFill>
                <a:latin typeface="Calibri"/>
              </a:rPr>
              <a:t>Problem 2 — Vulnerability of Academic Exchanges</a:t>
            </a:r>
          </a:p>
          <a:p>
            <a:pPr algn="l">
              <a:spcBef>
                <a:spcPts val="800"/>
              </a:spcBef>
            </a:pPr>
            <a:r>
              <a:rPr sz="1250">
                <a:solidFill>
                  <a:srgbClr val="444444"/>
                </a:solidFill>
                <a:latin typeface="Calibri"/>
              </a:rPr>
              <a:t>        ○ No cryptographic proof that messages/files were unaltered; identity disputes cannot be independently resolved</a:t>
            </a:r>
          </a:p>
          <a:p>
            <a:pPr algn="l">
              <a:spcBef>
                <a:spcPts val="800"/>
              </a:spcBef>
            </a:pPr>
            <a:r>
              <a:rPr b="1" sz="1350">
                <a:solidFill>
                  <a:srgbClr val="005C2E"/>
                </a:solidFill>
                <a:latin typeface="Calibri"/>
              </a:rPr>
              <a:t>Problem 3 — Classical Cryptography Vulnerability</a:t>
            </a:r>
          </a:p>
          <a:p>
            <a:pPr algn="l">
              <a:spcBef>
                <a:spcPts val="800"/>
              </a:spcBef>
            </a:pPr>
            <a:r>
              <a:rPr sz="1250">
                <a:solidFill>
                  <a:srgbClr val="444444"/>
                </a:solidFill>
                <a:latin typeface="Calibri"/>
              </a:rPr>
              <a:t>        ○ Current RSA/ECC algorithms are susceptible to long-term quantum computing attacks (Shor's algorithm)</a:t>
            </a:r>
          </a:p>
          <a:p>
            <a:pPr algn="l">
              <a:spcBef>
                <a:spcPts val="800"/>
              </a:spcBef>
            </a:pPr>
            <a:r>
              <a:rPr b="1" sz="1350">
                <a:solidFill>
                  <a:srgbClr val="005C2E"/>
                </a:solidFill>
                <a:latin typeface="Calibri"/>
              </a:rPr>
              <a:t>Combined Impact</a:t>
            </a:r>
          </a:p>
          <a:p>
            <a:pPr algn="l">
              <a:spcBef>
                <a:spcPts val="800"/>
              </a:spcBef>
            </a:pPr>
            <a:r>
              <a:rPr sz="1250">
                <a:solidFill>
                  <a:srgbClr val="444444"/>
                </a:solidFill>
                <a:latin typeface="Calibri"/>
              </a:rPr>
              <a:t>        ○ Administrative delays, document fraud risk, and inadequate long-term security assurances in higher education institutions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"/>
            <a:ext cx="12188952" cy="896112"/>
          </a:xfrm>
          <a:prstGeom prst="rect">
            <a:avLst/>
          </a:prstGeom>
          <a:solidFill>
            <a:srgbClr val="00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946403"/>
            <a:ext cx="82296" cy="5852160"/>
          </a:xfrm>
          <a:prstGeom prst="rect">
            <a:avLst/>
          </a:prstGeom>
          <a:solidFill>
            <a:srgbClr val="00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09728"/>
            <a:ext cx="111831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3. Aim &amp; Objectives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1530584" y="109728"/>
            <a:ext cx="475488" cy="47548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530584" y="128016"/>
            <a:ext cx="4754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5C2E"/>
                </a:solidFill>
                <a:latin typeface="Calibri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" y="6798564"/>
            <a:ext cx="7315200" cy="54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5C2E"/>
                </a:solidFill>
                <a:latin typeface="Calibri"/>
              </a:rPr>
              <a:t>QChat | UENR Computer Science &amp; Informatics |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" y="1024128"/>
            <a:ext cx="11823192" cy="685800"/>
          </a:xfrm>
          <a:prstGeom prst="round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097280"/>
            <a:ext cx="115488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5C2E"/>
                </a:solidFill>
                <a:latin typeface="Calibri"/>
              </a:rPr>
              <a:t>AIM: Design, implement, and evaluate a secure institutional messenger and file-sharing platform using a hybrid Web2/Web3 architecture.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" y="1874519"/>
            <a:ext cx="5806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5C2E"/>
                </a:solidFill>
                <a:latin typeface="Calibri"/>
              </a:rPr>
              <a:t>Objectives 1–3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2258568"/>
            <a:ext cx="5806440" cy="32004"/>
          </a:xfrm>
          <a:prstGeom prst="rect">
            <a:avLst/>
          </a:prstGeom>
          <a:solidFill>
            <a:srgbClr val="00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" y="2350008"/>
            <a:ext cx="580644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  • Obj 1 — Real-Time Infrastructure: React 19 + TypeScript + Convex serverless backend for one-to-one messaging and community Q&amp;A board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  • Obj 2 — Client-Side Confidentiality: Browser-native Web Crypto API for RSA-OAEP 2048-bit key pairs and AES-GCM 256-bit encryption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  • Obj 3 — Blockchain Audit Trail: Solidity smart contract on Hyperledger Besu storing SHA-256 message fingerprints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9904" y="1874519"/>
            <a:ext cx="36576" cy="4297680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36208" y="1874519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5C2E"/>
                </a:solidFill>
                <a:latin typeface="Calibri"/>
              </a:rPr>
              <a:t>Objectives 4–6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6208" y="2258568"/>
            <a:ext cx="5669280" cy="32004"/>
          </a:xfrm>
          <a:prstGeom prst="rect">
            <a:avLst/>
          </a:prstGeom>
          <a:solidFill>
            <a:srgbClr val="00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36208" y="2350008"/>
            <a:ext cx="566928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  • Obj 4 — Quantum Key Simulation: BB84 QKD TypeScript simulation estimating QBER and generating 256-bit session keys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  • Obj 5 — Role Verification: Admin-controlled identity verification workflow anchored on Besu smart contract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  • Obj 6 — Empirical Evaluation: Unit, integration, and User Acceptance Testing (UAT) with performance benchmarking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"/>
            <a:ext cx="12188952" cy="896112"/>
          </a:xfrm>
          <a:prstGeom prst="rect">
            <a:avLst/>
          </a:prstGeom>
          <a:solidFill>
            <a:srgbClr val="00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946403"/>
            <a:ext cx="82296" cy="5852160"/>
          </a:xfrm>
          <a:prstGeom prst="rect">
            <a:avLst/>
          </a:prstGeom>
          <a:solidFill>
            <a:srgbClr val="00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09728"/>
            <a:ext cx="111831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4. Related Work &amp; Existing Systems</a:t>
            </a:r>
          </a:p>
        </p:txBody>
      </p:sp>
      <p:sp>
        <p:nvSpPr>
          <p:cNvPr id="8" name="Rectangle 7"/>
          <p:cNvSpPr/>
          <p:nvPr/>
        </p:nvSpPr>
        <p:spPr>
          <a:xfrm>
            <a:off x="11530584" y="109728"/>
            <a:ext cx="475488" cy="47548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530584" y="128016"/>
            <a:ext cx="4754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5C2E"/>
                </a:solidFill>
                <a:latin typeface="Calibri"/>
              </a:rP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" y="6798564"/>
            <a:ext cx="7315200" cy="54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5C2E"/>
                </a:solidFill>
                <a:latin typeface="Calibri"/>
              </a:rPr>
              <a:t>QChat | UENR Computer Science &amp; Informatics |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051560"/>
            <a:ext cx="2011680" cy="777240"/>
          </a:xfrm>
          <a:prstGeom prst="rect">
            <a:avLst/>
          </a:prstGeom>
          <a:solidFill>
            <a:srgbClr val="00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" y="1124712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Microsoft Teams / Slack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114300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Real-time messaging and file sharing — but centralised server control, no blockchain audit trail, no client-side encryption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892807"/>
            <a:ext cx="11823192" cy="9144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2880" y="2011680"/>
            <a:ext cx="2011680" cy="777240"/>
          </a:xfrm>
          <a:prstGeom prst="rect">
            <a:avLst/>
          </a:prstGeom>
          <a:solidFill>
            <a:srgbClr val="00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8600" y="2084832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Signal / WhatsApp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21031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Strong end-to-end encryption — but no institutional role verification, admin audit trail, or academic governance features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2852928"/>
            <a:ext cx="11823192" cy="9144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2880" y="2971800"/>
            <a:ext cx="2011680" cy="777240"/>
          </a:xfrm>
          <a:prstGeom prst="rect">
            <a:avLst/>
          </a:prstGeom>
          <a:solidFill>
            <a:srgbClr val="006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8600" y="3044952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IPFS-Based Platforms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31720" y="306324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Decentralized content storage — but high retrieval latency, no real-time chat, and complex setup for end-users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3813048"/>
            <a:ext cx="11823192" cy="9144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82880" y="3931920"/>
            <a:ext cx="2011680" cy="777240"/>
          </a:xfrm>
          <a:prstGeom prst="rect">
            <a:avLst/>
          </a:prstGeom>
          <a:solidFill>
            <a:srgbClr val="33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28600" y="4005072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Hyperledger Fabric Academic Platforms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20" y="4023359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Strong blockchain auditability — but complex node management, no integrated chat interface, and no E2E message encryption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2880" y="4937759"/>
            <a:ext cx="11823192" cy="640080"/>
          </a:xfrm>
          <a:prstGeom prst="rect">
            <a:avLst/>
          </a:prstGeom>
          <a:solidFill>
            <a:srgbClr val="FFF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4983479"/>
            <a:ext cx="116403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4000"/>
                </a:solidFill>
                <a:latin typeface="Calibri"/>
              </a:rPr>
              <a:t>Key Gap: No existing system combines (a) real-time Web2 performance + (b) blockchain immutability + (c) browser-native E2E encryption + (d) quantum-inspired key simulation in a single platform.
QChat uniquely integrates all four layers.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"/>
            <a:ext cx="12188952" cy="896112"/>
          </a:xfrm>
          <a:prstGeom prst="rect">
            <a:avLst/>
          </a:prstGeom>
          <a:solidFill>
            <a:srgbClr val="00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946403"/>
            <a:ext cx="82296" cy="5852160"/>
          </a:xfrm>
          <a:prstGeom prst="rect">
            <a:avLst/>
          </a:prstGeom>
          <a:solidFill>
            <a:srgbClr val="00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09728"/>
            <a:ext cx="111831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5. Methodology &amp; Technology Stack</a:t>
            </a:r>
          </a:p>
        </p:txBody>
      </p:sp>
      <p:sp>
        <p:nvSpPr>
          <p:cNvPr id="8" name="Rectangle 7"/>
          <p:cNvSpPr/>
          <p:nvPr/>
        </p:nvSpPr>
        <p:spPr>
          <a:xfrm>
            <a:off x="11530584" y="109728"/>
            <a:ext cx="475488" cy="47548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530584" y="128016"/>
            <a:ext cx="4754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5C2E"/>
                </a:solidFill>
                <a:latin typeface="Calibri"/>
              </a:rPr>
              <a:t>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" y="6798564"/>
            <a:ext cx="7315200" cy="54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5C2E"/>
                </a:solidFill>
                <a:latin typeface="Calibri"/>
              </a:rPr>
              <a:t>QChat | UENR Computer Science &amp; Informatics |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1051560"/>
            <a:ext cx="5806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5C2E"/>
                </a:solidFill>
                <a:latin typeface="Calibri"/>
              </a:rPr>
              <a:t>Development Model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1435607"/>
            <a:ext cx="5806440" cy="32004"/>
          </a:xfrm>
          <a:prstGeom prst="rect">
            <a:avLst/>
          </a:prstGeom>
          <a:solidFill>
            <a:srgbClr val="00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" y="1527048"/>
            <a:ext cx="580644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  • Agile / Iterative Prototyping — 3 development sprints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  • Sprint 1: Auth system, real-time messaging, Convex backend setup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  • Sprint 2: Blockchain integration, smart contract deployment on Besu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  • Sprint 3: BB84 quantum simulation, AES-GCM encryption, UAT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  • Test-Driven Development for all cryptographic modules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  • Version Control: Git with feature branches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9904" y="1051560"/>
            <a:ext cx="36576" cy="5120640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05156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5C2E"/>
                </a:solidFill>
                <a:latin typeface="Calibri"/>
              </a:rPr>
              <a:t>Technology Stack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6208" y="1435607"/>
            <a:ext cx="5669280" cy="32004"/>
          </a:xfrm>
          <a:prstGeom prst="rect">
            <a:avLst/>
          </a:prstGeom>
          <a:solidFill>
            <a:srgbClr val="00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36208" y="1527048"/>
            <a:ext cx="566928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  • Frontend: React 19 + TypeScript + Vite SPA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  • Backend: Convex serverless (WebSocket real-time subscriptions)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  • Blockchain: Hyperledger Besu (QBFT consensus, chainId 1337, zero gas)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  • Smart Contract: Solidity 0.8.20 — MessageVerifier.sol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  • Cryptography: Web Crypto API — RSA-OAEP 2048-bit + AES-GCM 256-bit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  • Quantum Simulation: TypeScript BB84 module (src/lib/bb84.ts)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  • Blockchain Client: Ethers.js v6 (src/services/web3Service.ts)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  • Container Runtime: Podman (Docker-compatible, rootless)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"/>
            <a:ext cx="12188952" cy="896112"/>
          </a:xfrm>
          <a:prstGeom prst="rect">
            <a:avLst/>
          </a:prstGeom>
          <a:solidFill>
            <a:srgbClr val="00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946403"/>
            <a:ext cx="82296" cy="5852160"/>
          </a:xfrm>
          <a:prstGeom prst="rect">
            <a:avLst/>
          </a:prstGeom>
          <a:solidFill>
            <a:srgbClr val="00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09728"/>
            <a:ext cx="111831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6. System Architecture &amp; Design</a:t>
            </a:r>
          </a:p>
        </p:txBody>
      </p:sp>
      <p:sp>
        <p:nvSpPr>
          <p:cNvPr id="8" name="Rectangle 7"/>
          <p:cNvSpPr/>
          <p:nvPr/>
        </p:nvSpPr>
        <p:spPr>
          <a:xfrm>
            <a:off x="11530584" y="109728"/>
            <a:ext cx="475488" cy="47548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530584" y="128016"/>
            <a:ext cx="4754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5C2E"/>
                </a:solidFill>
                <a:latin typeface="Calibri"/>
              </a:rPr>
              <a:t>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" y="6798564"/>
            <a:ext cx="7315200" cy="54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5C2E"/>
                </a:solidFill>
                <a:latin typeface="Calibri"/>
              </a:rPr>
              <a:t>QChat | UENR Computer Science &amp; Informatics |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051560"/>
            <a:ext cx="1828800" cy="1005840"/>
          </a:xfrm>
          <a:prstGeom prst="rect">
            <a:avLst/>
          </a:prstGeom>
          <a:solidFill>
            <a:srgbClr val="00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" y="1280160"/>
            <a:ext cx="18105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PRESENTATION LAYER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57400" y="1051560"/>
            <a:ext cx="9948672" cy="1005840"/>
          </a:xfrm>
          <a:prstGeom prst="rect">
            <a:avLst/>
          </a:prstGeom>
          <a:solidFill>
            <a:srgbClr val="F0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48840" y="1161288"/>
            <a:ext cx="976579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React 19 SPA   •   TypeScript   •   Vite   •   React Router DOM v7
Chat UI  |  Admin Verification Dashboard  |  Q&amp;A Board  |  Registration Screens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057400"/>
            <a:ext cx="502920" cy="16459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03911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5C2E"/>
                </a:solidFill>
                <a:latin typeface="Calibri"/>
              </a:rPr>
              <a:t>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2286000"/>
            <a:ext cx="1828800" cy="1005840"/>
          </a:xfrm>
          <a:prstGeom prst="rect">
            <a:avLst/>
          </a:prstGeom>
          <a:solidFill>
            <a:srgbClr val="00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1168" y="2514600"/>
            <a:ext cx="18105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APPLICATION LAYER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57400" y="2286000"/>
            <a:ext cx="9948672" cy="1005840"/>
          </a:xfrm>
          <a:prstGeom prst="rect">
            <a:avLst/>
          </a:prstGeom>
          <a:solidFill>
            <a:srgbClr val="F0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48840" y="2395728"/>
            <a:ext cx="976579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Convex Serverless — 9 Relational Data Models   •   Real-Time WebSocket Subscriptions
Binary File Storage Buckets  |  Cryptographic Key Store  |  User &amp; Role Management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291840"/>
            <a:ext cx="502920" cy="16459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27355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5C2E"/>
                </a:solidFill>
                <a:latin typeface="Calibri"/>
              </a:rPr>
              <a:t>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3520440"/>
            <a:ext cx="1828800" cy="1005840"/>
          </a:xfrm>
          <a:prstGeom prst="rect">
            <a:avLst/>
          </a:prstGeom>
          <a:solidFill>
            <a:srgbClr val="006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1168" y="3749039"/>
            <a:ext cx="18105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VERIFICATION LAYER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57400" y="3520440"/>
            <a:ext cx="9948672" cy="1005840"/>
          </a:xfrm>
          <a:prstGeom prst="rect">
            <a:avLst/>
          </a:prstGeom>
          <a:solidFill>
            <a:srgbClr val="F0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48840" y="3630168"/>
            <a:ext cx="976579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Hyperledger Besu Node (QBFT, chainId: 1337, zero gas)   •   Ethers.js v6
MessageVerifier.sol  |  Role Registry  |  SHA-256 Message Fingerprints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2880" y="4828032"/>
            <a:ext cx="11823192" cy="685800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4873752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5C2E"/>
                </a:solidFill>
                <a:latin typeface="Calibri"/>
              </a:rPr>
              <a:t>Key Decisions:  Browser-native crypto (Web Crypto API) — server never sees plaintext  •  CryptographicLoginGatekeeper auto-generates RSA key pairs on first login  •  BB84 session keys per-session → AES-GCM symmetric keys  •  Ethers.js connects directly to Besu at http://127.0.0.1:8545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"/>
            <a:ext cx="12188952" cy="896112"/>
          </a:xfrm>
          <a:prstGeom prst="rect">
            <a:avLst/>
          </a:prstGeom>
          <a:solidFill>
            <a:srgbClr val="00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946403"/>
            <a:ext cx="82296" cy="5852160"/>
          </a:xfrm>
          <a:prstGeom prst="rect">
            <a:avLst/>
          </a:prstGeom>
          <a:solidFill>
            <a:srgbClr val="00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09728"/>
            <a:ext cx="111831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7. Testing &amp; Results</a:t>
            </a:r>
          </a:p>
        </p:txBody>
      </p:sp>
      <p:sp>
        <p:nvSpPr>
          <p:cNvPr id="8" name="Rectangle 7"/>
          <p:cNvSpPr/>
          <p:nvPr/>
        </p:nvSpPr>
        <p:spPr>
          <a:xfrm>
            <a:off x="11530584" y="109728"/>
            <a:ext cx="475488" cy="47548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530584" y="128016"/>
            <a:ext cx="4754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5C2E"/>
                </a:solidFill>
                <a:latin typeface="Calibri"/>
              </a:rPr>
              <a:t>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" y="6798564"/>
            <a:ext cx="7315200" cy="54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5C2E"/>
                </a:solidFill>
                <a:latin typeface="Calibri"/>
              </a:rPr>
              <a:t>QChat | UENR Computer Science &amp; Informatics |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1051560"/>
            <a:ext cx="5806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5C2E"/>
                </a:solidFill>
                <a:latin typeface="Calibri"/>
              </a:rPr>
              <a:t>Test Strategy (3 Tiers)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1435607"/>
            <a:ext cx="5806440" cy="32004"/>
          </a:xfrm>
          <a:prstGeom prst="rect">
            <a:avLst/>
          </a:prstGeom>
          <a:solidFill>
            <a:srgbClr val="00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" y="1527048"/>
            <a:ext cx="580644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  • Tier 1 — Unit Testing:</a:t>
            </a:r>
          </a:p>
          <a:p>
            <a:pPr algn="l">
              <a:spcBef>
                <a:spcPts val="600"/>
              </a:spcBef>
            </a:pPr>
            <a:r>
              <a:rPr sz="1100">
                <a:solidFill>
                  <a:srgbClr val="444444"/>
                </a:solidFill>
                <a:latin typeface="Calibri"/>
              </a:rPr>
              <a:t>        ○ BB84 QBER calculation accuracy</a:t>
            </a:r>
          </a:p>
          <a:p>
            <a:pPr algn="l">
              <a:spcBef>
                <a:spcPts val="600"/>
              </a:spcBef>
            </a:pPr>
            <a:r>
              <a:rPr sz="1100">
                <a:solidFill>
                  <a:srgbClr val="444444"/>
                </a:solidFill>
                <a:latin typeface="Calibri"/>
              </a:rPr>
              <a:t>        ○ AES-GCM 256-bit encrypt / decrypt round-trip</a:t>
            </a:r>
          </a:p>
          <a:p>
            <a:pPr algn="l">
              <a:spcBef>
                <a:spcPts val="600"/>
              </a:spcBef>
            </a:pPr>
            <a:r>
              <a:rPr sz="1100">
                <a:solidFill>
                  <a:srgbClr val="444444"/>
                </a:solidFill>
                <a:latin typeface="Calibri"/>
              </a:rPr>
              <a:t>        ○ RSA-OAEP 2048-bit key pair generation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  • Tier 2 — Integration Testing:</a:t>
            </a:r>
          </a:p>
          <a:p>
            <a:pPr algn="l">
              <a:spcBef>
                <a:spcPts val="600"/>
              </a:spcBef>
            </a:pPr>
            <a:r>
              <a:rPr sz="1100">
                <a:solidFill>
                  <a:srgbClr val="444444"/>
                </a:solidFill>
                <a:latin typeface="Calibri"/>
              </a:rPr>
              <a:t>        ○ Frontend ↔ Convex ↔ Besu end-to-end message flow</a:t>
            </a:r>
          </a:p>
          <a:p>
            <a:pPr algn="l">
              <a:spcBef>
                <a:spcPts val="600"/>
              </a:spcBef>
            </a:pPr>
            <a:r>
              <a:rPr sz="1100">
                <a:solidFill>
                  <a:srgbClr val="444444"/>
                </a:solidFill>
                <a:latin typeface="Calibri"/>
              </a:rPr>
              <a:t>        ○ Smart contract role registration and hash verification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  • Tier 3 — User Acceptance Testing (UAT):</a:t>
            </a:r>
          </a:p>
          <a:p>
            <a:pPr algn="l">
              <a:spcBef>
                <a:spcPts val="600"/>
              </a:spcBef>
            </a:pPr>
            <a:r>
              <a:rPr sz="1100">
                <a:solidFill>
                  <a:srgbClr val="444444"/>
                </a:solidFill>
                <a:latin typeface="Calibri"/>
              </a:rPr>
              <a:t>        ○ Student, Lecturer, and Admin role flows tested by real participants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9904" y="1051560"/>
            <a:ext cx="36576" cy="5120640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05156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5C2E"/>
                </a:solidFill>
                <a:latin typeface="Calibri"/>
              </a:rPr>
              <a:t>Key Results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6208" y="1435607"/>
            <a:ext cx="5669280" cy="32004"/>
          </a:xfrm>
          <a:prstGeom prst="rect">
            <a:avLst/>
          </a:prstGeom>
          <a:solidFill>
            <a:srgbClr val="00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36208" y="1527048"/>
            <a:ext cx="566928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  • BB84 QBER consistently &lt; 11% threshold — no eavesdropping detected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  • AES-GCM 256-bit encryption / decryption — 100% data integrity verified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  • Smart contract role registration and hash verification — 100% pass rate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  • Convex real-time message delivery latency &lt; 200 ms (local network)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  • UAT: All 3 user role flows completed successfully by test participants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  • RSA-OAEP 2048-bit key pair auto-generated on first login — zero manual user action required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"/>
            <a:ext cx="12188952" cy="896112"/>
          </a:xfrm>
          <a:prstGeom prst="rect">
            <a:avLst/>
          </a:prstGeom>
          <a:solidFill>
            <a:srgbClr val="00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946403"/>
            <a:ext cx="82296" cy="5852160"/>
          </a:xfrm>
          <a:prstGeom prst="rect">
            <a:avLst/>
          </a:prstGeom>
          <a:solidFill>
            <a:srgbClr val="00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09728"/>
            <a:ext cx="111831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8. Limitations &amp; Future Work</a:t>
            </a:r>
          </a:p>
        </p:txBody>
      </p:sp>
      <p:sp>
        <p:nvSpPr>
          <p:cNvPr id="8" name="Rectangle 7"/>
          <p:cNvSpPr/>
          <p:nvPr/>
        </p:nvSpPr>
        <p:spPr>
          <a:xfrm>
            <a:off x="11530584" y="109728"/>
            <a:ext cx="475488" cy="47548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530584" y="128016"/>
            <a:ext cx="4754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5C2E"/>
                </a:solidFill>
                <a:latin typeface="Calibri"/>
              </a:rPr>
              <a:t>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" y="6798564"/>
            <a:ext cx="7315200" cy="54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5C2E"/>
                </a:solidFill>
                <a:latin typeface="Calibri"/>
              </a:rPr>
              <a:t>QChat | UENR Computer Science &amp; Informatics |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1051560"/>
            <a:ext cx="5806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5C2E"/>
                </a:solidFill>
                <a:latin typeface="Calibri"/>
              </a:rPr>
              <a:t>Current Limitations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1435607"/>
            <a:ext cx="5806440" cy="32004"/>
          </a:xfrm>
          <a:prstGeom prst="rect">
            <a:avLst/>
          </a:prstGeom>
          <a:solidFill>
            <a:srgbClr val="00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" y="1527048"/>
            <a:ext cx="580644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  • BB84 is a software simulation — no real quantum hardware used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  • Hyperledger Besu runs on a single-node local instance, not a production multi-node consortium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  • No integration with external SSO / LMS platforms (e.g., Moodle, Banner, SAML)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  • Mobile devices are not supported — web browser on desktop only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  • Real-time video and voice calling are out of scope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9904" y="1051560"/>
            <a:ext cx="36576" cy="5120640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05156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5C2E"/>
                </a:solidFill>
                <a:latin typeface="Calibri"/>
              </a:rPr>
              <a:t>Future Work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6208" y="1435607"/>
            <a:ext cx="5669280" cy="32004"/>
          </a:xfrm>
          <a:prstGeom prst="rect">
            <a:avLst/>
          </a:prstGeom>
          <a:solidFill>
            <a:srgbClr val="00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36208" y="1527048"/>
            <a:ext cx="566928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  • Deploy a multi-node Besu consortium across UENR departments for production-grade immutability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  • Integrate real QKD cloud APIs (e.g., Toshiba Quantum, ID Quantique) to replace simulation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  • Add OAuth2 / SAML 2.0 SSO for institutional federated identity (LMS integration)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  • Build React Native mobile apps for iOS and Android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  • Conduct 1,000+ concurrent user load testing to establish Convex scalability metrics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"/>
            <a:ext cx="12188952" cy="896112"/>
          </a:xfrm>
          <a:prstGeom prst="rect">
            <a:avLst/>
          </a:prstGeom>
          <a:solidFill>
            <a:srgbClr val="00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946403"/>
            <a:ext cx="82296" cy="5852160"/>
          </a:xfrm>
          <a:prstGeom prst="rect">
            <a:avLst/>
          </a:prstGeom>
          <a:solidFill>
            <a:srgbClr val="00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09728"/>
            <a:ext cx="111831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9. Conclusion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1530584" y="109728"/>
            <a:ext cx="475488" cy="47548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530584" y="128016"/>
            <a:ext cx="4754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5C2E"/>
                </a:solidFill>
                <a:latin typeface="Calibri"/>
              </a:rPr>
              <a:t>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" y="6798564"/>
            <a:ext cx="7315200" cy="54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5C2E"/>
                </a:solidFill>
                <a:latin typeface="Calibri"/>
              </a:rPr>
              <a:t>QChat | UENR Computer Science &amp; Informatics |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1051560"/>
            <a:ext cx="11823192" cy="5623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1400">
                <a:solidFill>
                  <a:srgbClr val="1A1A1A"/>
                </a:solidFill>
                <a:latin typeface="Calibri"/>
              </a:rPr>
              <a:t>  • All 6 project objectives were successfully achieved within the defined project scope</a:t>
            </a:r>
          </a:p>
          <a:p>
            <a:pPr algn="l">
              <a:spcBef>
                <a:spcPts val="1000"/>
              </a:spcBef>
            </a:pPr>
            <a:r>
              <a:rPr sz="1400">
                <a:solidFill>
                  <a:srgbClr val="1A1A1A"/>
                </a:solidFill>
                <a:latin typeface="Calibri"/>
              </a:rPr>
              <a:t>  • QChat demonstrates that a hybrid Web2/Web3 architecture delivers both real-time performance AND cryptographic auditability</a:t>
            </a:r>
          </a:p>
          <a:p>
            <a:pPr algn="l">
              <a:spcBef>
                <a:spcPts val="1000"/>
              </a:spcBef>
            </a:pPr>
            <a:r>
              <a:rPr sz="1400">
                <a:solidFill>
                  <a:srgbClr val="1A1A1A"/>
                </a:solidFill>
                <a:latin typeface="Calibri"/>
              </a:rPr>
              <a:t>  • Browser-native Web Crypto API proves sufficient for hardware-accelerated key generation with zero third-party dependencies</a:t>
            </a:r>
          </a:p>
          <a:p>
            <a:pPr algn="l">
              <a:spcBef>
                <a:spcPts val="1000"/>
              </a:spcBef>
            </a:pPr>
            <a:r>
              <a:rPr sz="1400">
                <a:solidFill>
                  <a:srgbClr val="1A1A1A"/>
                </a:solidFill>
                <a:latin typeface="Calibri"/>
              </a:rPr>
              <a:t>  • MessageVerifier.sol on Hyperledger Besu provides undeniable, tamper-proof proof of message authenticity and institutional user roles</a:t>
            </a:r>
          </a:p>
          <a:p>
            <a:pPr algn="l">
              <a:spcBef>
                <a:spcPts val="1000"/>
              </a:spcBef>
            </a:pPr>
            <a:r>
              <a:rPr sz="1400">
                <a:solidFill>
                  <a:srgbClr val="1A1A1A"/>
                </a:solidFill>
                <a:latin typeface="Calibri"/>
              </a:rPr>
              <a:t>  • BB84 TypeScript simulation confirms post-quantum cryptographic concepts are practically implementable in web applications today</a:t>
            </a:r>
          </a:p>
          <a:p>
            <a:pPr algn="l">
              <a:spcBef>
                <a:spcPts val="1000"/>
              </a:spcBef>
            </a:pPr>
            <a:r>
              <a:rPr sz="1400">
                <a:solidFill>
                  <a:srgbClr val="1A1A1A"/>
                </a:solidFill>
                <a:latin typeface="Calibri"/>
              </a:rPr>
              <a:t>  • Admin-controlled role verification on blockchain eliminates unauthorised identity spoofing in institutional communication</a:t>
            </a:r>
          </a:p>
          <a:p>
            <a:pPr algn="l">
              <a:spcBef>
                <a:spcPts val="1000"/>
              </a:spcBef>
            </a:pPr>
            <a:r>
              <a:rPr sz="1400">
                <a:solidFill>
                  <a:srgbClr val="1A1A1A"/>
                </a:solidFill>
                <a:latin typeface="Calibri"/>
              </a:rPr>
              <a:t>  • QChat serves as a robust, open-source reference implementation for secure institutional communication platforms in African HEIs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889504" y="1280160"/>
            <a:ext cx="6400800" cy="4297680"/>
          </a:xfrm>
          <a:prstGeom prst="roundRect">
            <a:avLst/>
          </a:prstGeom>
          <a:solidFill>
            <a:srgbClr val="004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112745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Calibri"/>
              </a:rPr>
              <a:t>Thank You!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3474720"/>
            <a:ext cx="6702552" cy="731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639312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D4EDDA"/>
                </a:solidFill>
                <a:latin typeface="Calibri"/>
              </a:rPr>
              <a:t>We welcome your questions and feedback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2920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C000"/>
                </a:solidFill>
                <a:latin typeface="Calibri"/>
              </a:rPr>
              <a:t>Supervisor: Dr Peter Nimbe   |   Department of Computer Science and Informatics   |   UENR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57784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4EDDA"/>
                </a:solidFill>
                <a:latin typeface="Calibri"/>
              </a:rPr>
              <a:t>11th September,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