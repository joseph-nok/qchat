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506"/>
    <a:srgbClr val="0A688E"/>
    <a:srgbClr val="00820F"/>
    <a:srgbClr val="E6E6E6"/>
    <a:srgbClr val="0E8CBE"/>
    <a:srgbClr val="3FBEF1"/>
    <a:srgbClr val="109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30" y="1392751"/>
            <a:ext cx="5641606" cy="473406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756" y="4335371"/>
            <a:ext cx="3159890" cy="3159890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40660" y="1775478"/>
            <a:ext cx="5181600" cy="4351338"/>
          </a:xfrm>
        </p:spPr>
        <p:txBody>
          <a:bodyPr/>
          <a:lstStyle>
            <a:lvl1pPr>
              <a:defRPr sz="2800" b="1" baseline="0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lvl2pPr>
          </a:lstStyle>
          <a:p>
            <a:pPr lvl="0"/>
            <a:r>
              <a:rPr lang="en-US" dirty="0"/>
              <a:t>Table of Contents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1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2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3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4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39753" y="-51682"/>
            <a:ext cx="12235732" cy="1203364"/>
            <a:chOff x="-39753" y="-51682"/>
            <a:chExt cx="12235732" cy="1203364"/>
          </a:xfrm>
        </p:grpSpPr>
        <p:sp>
          <p:nvSpPr>
            <p:cNvPr id="9" name="Rectangle 8"/>
            <p:cNvSpPr/>
            <p:nvPr userDrawn="1"/>
          </p:nvSpPr>
          <p:spPr>
            <a:xfrm>
              <a:off x="-39753" y="-51682"/>
              <a:ext cx="12235732" cy="1203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229" y="221358"/>
              <a:ext cx="2684166" cy="68001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 userDrawn="1"/>
          </p:nvSpPr>
          <p:spPr>
            <a:xfrm>
              <a:off x="7802880" y="411500"/>
              <a:ext cx="35460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1"/>
                  </a:solidFill>
                  <a:latin typeface="+mj-lt"/>
                </a:rPr>
                <a:t>KNOWLEDGE             INTEGRITY            IMPACT</a:t>
              </a:r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cxnSp>
          <p:nvCxnSpPr>
            <p:cNvPr id="7" name="Straight Connector 6"/>
            <p:cNvCxnSpPr/>
            <p:nvPr userDrawn="1"/>
          </p:nvCxnSpPr>
          <p:spPr>
            <a:xfrm>
              <a:off x="901337" y="722811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 userDrawn="1"/>
          </p:nvSpPr>
          <p:spPr>
            <a:xfrm>
              <a:off x="8609870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9748239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0668414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7595"/>
            <a:ext cx="10515600" cy="44020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0" name="TextBox 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2" name="Rectangle 1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 userDrawn="1"/>
        </p:nvGrpSpPr>
        <p:grpSpPr>
          <a:xfrm>
            <a:off x="0" y="149580"/>
            <a:ext cx="12414000" cy="77361"/>
            <a:chOff x="0" y="149580"/>
            <a:chExt cx="12414000" cy="77361"/>
          </a:xfrm>
        </p:grpSpPr>
        <p:sp>
          <p:nvSpPr>
            <p:cNvPr id="20" name="Rectangle 19"/>
            <p:cNvSpPr/>
            <p:nvPr userDrawn="1"/>
          </p:nvSpPr>
          <p:spPr>
            <a:xfrm>
              <a:off x="0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166144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8337178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 userDrawn="1"/>
        </p:nvSpPr>
        <p:spPr>
          <a:xfrm>
            <a:off x="-39753" y="270922"/>
            <a:ext cx="12235732" cy="10565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7317" y="400967"/>
            <a:ext cx="10515600" cy="7548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149580"/>
            <a:ext cx="1897258" cy="77361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897258" y="149580"/>
            <a:ext cx="6345708" cy="7736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242966" y="149580"/>
            <a:ext cx="1874112" cy="773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7317" y="-1696937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8" name="Pictur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9" name="Straight Connector 18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1" name="TextBox 20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Content Placeholder 2"/>
          <p:cNvSpPr>
            <a:spLocks noGrp="1"/>
          </p:cNvSpPr>
          <p:nvPr userDrawn="1">
            <p:ph sz="half" idx="13"/>
          </p:nvPr>
        </p:nvSpPr>
        <p:spPr>
          <a:xfrm>
            <a:off x="6441956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>
          <a:xfrm>
            <a:off x="10117078" y="149580"/>
            <a:ext cx="2073156" cy="773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505874" y="802630"/>
            <a:ext cx="9144477" cy="77100"/>
            <a:chOff x="1457173" y="851529"/>
            <a:chExt cx="9144477" cy="77100"/>
          </a:xfrm>
        </p:grpSpPr>
        <p:sp>
          <p:nvSpPr>
            <p:cNvPr id="10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-1" y="6303003"/>
            <a:ext cx="12195979" cy="554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9" name="TextBox 18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77" y="-2847804"/>
            <a:ext cx="4423402" cy="4423402"/>
          </a:xfrm>
          <a:prstGeom prst="rect">
            <a:avLst/>
          </a:prstGeom>
          <a:blipFill>
            <a:blip r:embed="rId4">
              <a:alphaModFix amt="0"/>
            </a:blip>
            <a:stretch>
              <a:fillRect/>
            </a:stretch>
          </a:blipFill>
        </p:spPr>
      </p:pic>
      <p:sp>
        <p:nvSpPr>
          <p:cNvPr id="25" name="Rectangle 24"/>
          <p:cNvSpPr/>
          <p:nvPr userDrawn="1"/>
        </p:nvSpPr>
        <p:spPr>
          <a:xfrm>
            <a:off x="0" y="-2537827"/>
            <a:ext cx="12195978" cy="253782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897258" y="6701970"/>
            <a:ext cx="6345708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242966" y="6701970"/>
            <a:ext cx="1874112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117078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0518045" y="0"/>
            <a:ext cx="1672189" cy="6858000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10748" y="673352"/>
            <a:ext cx="9794348" cy="77993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748" y="1662545"/>
            <a:ext cx="9794348" cy="4611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0" y="0"/>
            <a:ext cx="12192000" cy="67019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/>
          </p:nvPr>
        </p:nvSpPr>
        <p:spPr>
          <a:xfrm>
            <a:off x="6038952" y="0"/>
            <a:ext cx="6153048" cy="67019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5190"/>
            <a:ext cx="44723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-1"/>
            <a:ext cx="12195979" cy="5111931"/>
          </a:xfrm>
          <a:prstGeom prst="rect">
            <a:avLst/>
          </a:prstGeom>
          <a:solidFill>
            <a:srgbClr val="0E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4958297"/>
            <a:ext cx="12195979" cy="153634"/>
            <a:chOff x="0" y="6701970"/>
            <a:chExt cx="12918820" cy="15359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564" y="5569074"/>
            <a:ext cx="856176" cy="856176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505874" y="1478705"/>
            <a:ext cx="9144477" cy="77100"/>
            <a:chOff x="1457173" y="851529"/>
            <a:chExt cx="9144477" cy="77100"/>
          </a:xfrm>
        </p:grpSpPr>
        <p:sp>
          <p:nvSpPr>
            <p:cNvPr id="11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0" name="TextBox 1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/>
          <p:cNvSpPr txBox="1"/>
          <p:nvPr userDrawn="1"/>
        </p:nvSpPr>
        <p:spPr>
          <a:xfrm>
            <a:off x="5378631" y="1165756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8631" y="4469044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715954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319710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701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6710"/>
            <a:ext cx="12192000" cy="674813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Google Shape;356;p34"/>
          <p:cNvSpPr txBox="1"/>
          <p:nvPr userDrawn="1"/>
        </p:nvSpPr>
        <p:spPr>
          <a:xfrm>
            <a:off x="1135765" y="2427304"/>
            <a:ext cx="55611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1500" dirty="0">
                <a:solidFill>
                  <a:schemeClr val="bg1"/>
                </a:solidFill>
              </a:rPr>
              <a:t>Thanks!</a:t>
            </a:r>
            <a:endParaRPr lang="en-US" sz="11500" dirty="0">
              <a:solidFill>
                <a:schemeClr val="bg1"/>
              </a:solidFill>
            </a:endParaRPr>
          </a:p>
        </p:txBody>
      </p:sp>
      <p:sp>
        <p:nvSpPr>
          <p:cNvPr id="9" name="Google Shape;357;p34"/>
          <p:cNvSpPr txBox="1"/>
          <p:nvPr userDrawn="1"/>
        </p:nvSpPr>
        <p:spPr>
          <a:xfrm>
            <a:off x="1135765" y="3455423"/>
            <a:ext cx="5561100" cy="784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80604020202020204" pitchFamily="34" charset="0"/>
              <a:buNone/>
            </a:pPr>
            <a:r>
              <a:rPr lang="en-US" sz="4800" b="1">
                <a:solidFill>
                  <a:schemeClr val="lt1"/>
                </a:solidFill>
              </a:rPr>
              <a:t>Any questions?</a:t>
            </a:r>
            <a:endParaRPr lang="en-US" sz="4800" b="1">
              <a:solidFill>
                <a:schemeClr val="lt1"/>
              </a:solidFill>
            </a:endParaRP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6395-65C6-40C6-B0F2-3F72B3156A66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15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11455" y="1162050"/>
            <a:ext cx="7734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>
                <a:solidFill>
                  <a:srgbClr val="FFFFFF"/>
                </a:solidFill>
                <a:latin typeface="Calibri"/>
                <a:sym typeface="+mn-ea"/>
              </a:rPr>
              <a:t>QChat for Institutional</a:t>
            </a:r>
            <a:r>
              <a:rPr lang="en-US" b="1">
                <a:solidFill>
                  <a:srgbClr val="FFFFFF"/>
                </a:solidFill>
                <a:latin typeface="Calibri"/>
                <a:sym typeface="+mn-ea"/>
              </a:rPr>
              <a:t> </a:t>
            </a:r>
            <a:r>
              <a:rPr b="1">
                <a:solidFill>
                  <a:srgbClr val="FFFFFF"/>
                </a:solidFill>
                <a:latin typeface="Calibri"/>
                <a:sym typeface="+mn-ea"/>
              </a:rPr>
              <a:t>Messaging for Students</a:t>
            </a:r>
            <a:r>
              <a:rPr lang="en-US" b="1">
                <a:solidFill>
                  <a:srgbClr val="FFFFFF"/>
                </a:solidFill>
                <a:latin typeface="Calibri"/>
                <a:sym typeface="+mn-ea"/>
              </a:rPr>
              <a:t> </a:t>
            </a:r>
            <a:r>
              <a:rPr b="1">
                <a:solidFill>
                  <a:srgbClr val="FFFFFF"/>
                </a:solidFill>
                <a:latin typeface="Calibri"/>
                <a:sym typeface="+mn-ea"/>
              </a:rPr>
              <a:t>and Lecturers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1850" y="1572768"/>
            <a:ext cx="10515600" cy="4526280"/>
          </a:xfrm>
        </p:spPr>
        <p:txBody>
          <a:bodyPr>
            <a:normAutofit/>
          </a:bodyPr>
          <a:lstStyle/>
          <a:p>
            <a:pPr marL="285750" indent="-285750" rtl="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endParaRPr lang="en-US" sz="1800">
              <a:solidFill>
                <a:srgbClr val="00820F"/>
              </a:solidFill>
              <a:latin typeface="Century Gothic"/>
              <a:cs typeface="Century Gothic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4000" b="1">
              <a:solidFill>
                <a:srgbClr val="FFFFFF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1850" y="1572768"/>
            <a:ext cx="10515600" cy="4526280"/>
          </a:xfrm>
        </p:spPr>
        <p:txBody>
          <a:bodyPr>
            <a:normAutofit/>
          </a:bodyPr>
          <a:lstStyle/>
          <a:p>
            <a:pPr marL="285750" indent="-285750" rtl="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endParaRPr lang="en-US" sz="1800">
              <a:solidFill>
                <a:srgbClr val="1A1A1A"/>
              </a:solidFill>
              <a:latin typeface="Century Gothic"/>
              <a:cs typeface="Century Gothic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200" b="1">
              <a:solidFill>
                <a:srgbClr val="FFFFFF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1850" y="1572768"/>
            <a:ext cx="10515600" cy="4526280"/>
          </a:xfrm>
        </p:spPr>
        <p:txBody>
          <a:bodyPr>
            <a:normAutofit/>
          </a:bodyPr>
          <a:lstStyle/>
          <a:p>
            <a:pPr marL="285750" indent="-285750" rtl="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endParaRPr lang="en-US" sz="1800">
              <a:solidFill>
                <a:srgbClr val="1A1A1A"/>
              </a:solidFill>
              <a:latin typeface="Century Gothic"/>
              <a:cs typeface="Century Gothic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200" b="1">
              <a:solidFill>
                <a:srgbClr val="FFFFFF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1850" y="1572768"/>
            <a:ext cx="10515600" cy="4526280"/>
          </a:xfrm>
        </p:spPr>
        <p:txBody>
          <a:bodyPr>
            <a:normAutofit/>
          </a:bodyPr>
          <a:lstStyle/>
          <a:p>
            <a:pPr marL="0" indent="0" rtl="0">
              <a:spcAft>
                <a:spcPts val="700"/>
              </a:spcAft>
              <a:buNone/>
            </a:pPr>
            <a:endParaRPr lang="en-US" sz="1800">
              <a:solidFill>
                <a:srgbClr val="1A1A1A"/>
              </a:solidFill>
              <a:latin typeface="Century Gothic"/>
              <a:cs typeface="Century Gothic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200" b="1">
              <a:solidFill>
                <a:srgbClr val="FFFFFF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1850" y="1572768"/>
            <a:ext cx="10515600" cy="4526280"/>
          </a:xfrm>
        </p:spPr>
        <p:txBody>
          <a:bodyPr>
            <a:normAutofit/>
          </a:bodyPr>
          <a:lstStyle/>
          <a:p>
            <a:pPr marL="285750" indent="-285750" rtl="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endParaRPr lang="en-US" sz="1800">
              <a:solidFill>
                <a:srgbClr val="1A1A1A"/>
              </a:solidFill>
              <a:latin typeface="Century Gothic"/>
              <a:cs typeface="Century Gothic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2800" b="1">
              <a:solidFill>
                <a:srgbClr val="FFFFFF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1850" y="1572768"/>
            <a:ext cx="10515600" cy="4526280"/>
          </a:xfrm>
        </p:spPr>
        <p:txBody>
          <a:bodyPr>
            <a:normAutofit/>
          </a:bodyPr>
          <a:lstStyle/>
          <a:p>
            <a:pPr marL="285750" indent="-285750" rtl="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endParaRPr lang="en-US" sz="1600">
              <a:solidFill>
                <a:srgbClr val="1A1A1A"/>
              </a:solidFill>
              <a:latin typeface="Century Gothic"/>
              <a:cs typeface="Century Gothic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2800" b="1">
              <a:solidFill>
                <a:srgbClr val="FFFFFF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Title 4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Title 4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Title 4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Title 4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Title 4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Title 4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102870" y="400685"/>
            <a:ext cx="11250295" cy="942975"/>
          </a:xfrm>
        </p:spPr>
        <p:txBody>
          <a:bodyPr>
            <a:norm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BEF1"/>
      </a:accent1>
      <a:accent2>
        <a:srgbClr val="00820F"/>
      </a:accent2>
      <a:accent3>
        <a:srgbClr val="A5A5A5"/>
      </a:accent3>
      <a:accent4>
        <a:srgbClr val="FFF901"/>
      </a:accent4>
      <a:accent5>
        <a:srgbClr val="833C0B"/>
      </a:accent5>
      <a:accent6>
        <a:srgbClr val="6F3B55"/>
      </a:accent6>
      <a:hlink>
        <a:srgbClr val="0095B8"/>
      </a:hlink>
      <a:folHlink>
        <a:srgbClr val="00EAEA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Presentation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Liberation Sans</vt:lpstr>
      <vt:lpstr>Century Gothic</vt:lpstr>
      <vt:lpstr>PakType Naskh Basic</vt:lpstr>
      <vt:lpstr>Arial</vt:lpstr>
      <vt:lpstr>Microsoft YaHei</vt:lpstr>
      <vt:lpstr>Droid Sans Fallback</vt:lpstr>
      <vt:lpstr>Arial Unicode MS</vt:lpstr>
      <vt:lpstr>Calibri</vt:lpstr>
      <vt:lpstr>Century Gothic</vt:lpstr>
      <vt:lpstr>Noto Emoji</vt:lpstr>
      <vt:lpstr>Calibri</vt:lpstr>
      <vt:lpstr>Office Theme</vt:lpstr>
      <vt:lpstr>PowerPoint 演示文稿</vt:lpstr>
      <vt:lpstr>AGENDA</vt:lpstr>
      <vt:lpstr>BACKGROUND &amp; MOTIVATION</vt:lpstr>
      <vt:lpstr>PROBLEM STATEMENT</vt:lpstr>
      <vt:lpstr>AIM &amp; OBJECTIVES</vt:lpstr>
      <vt:lpstr>RELATED WORK &amp; EXISTING SYSTEMS</vt:lpstr>
      <vt:lpstr>METHODOLOGY &amp; TECH STACK</vt:lpstr>
      <vt:lpstr>SYSTEM ARCHITECTURE</vt:lpstr>
      <vt:lpstr>MESH ROUTING &amp; THE DATA MULE</vt:lpstr>
      <vt:lpstr>STORAGE &amp; INTERFACE DESIGN</vt:lpstr>
      <vt:lpstr>IMPLEMENTATION HIGHLIGHTS</vt:lpstr>
      <vt:lpstr>TESTING &amp; LATENCY RESULTS</vt:lpstr>
      <vt:lpstr>USABILITY TESTING</vt:lpstr>
      <vt:lpstr>LIMITATIONS &amp; FUTURE WORK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appiah</dc:creator>
  <cp:lastModifiedBy>demore</cp:lastModifiedBy>
  <cp:revision>56</cp:revision>
  <dcterms:created xsi:type="dcterms:W3CDTF">2026-09-08T15:57:34Z</dcterms:created>
  <dcterms:modified xsi:type="dcterms:W3CDTF">2026-09-08T15:57:34Z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