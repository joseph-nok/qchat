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506"/>
    <a:srgbClr val="0A688E"/>
    <a:srgbClr val="00820F"/>
    <a:srgbClr val="E6E6E6"/>
    <a:srgbClr val="0E8CBE"/>
    <a:srgbClr val="3FBEF1"/>
    <a:srgbClr val="109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30" y="1392751"/>
            <a:ext cx="5641606" cy="473406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756" y="4335371"/>
            <a:ext cx="3159890" cy="3159890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40660" y="1775478"/>
            <a:ext cx="5181600" cy="4351338"/>
          </a:xfrm>
        </p:spPr>
        <p:txBody>
          <a:bodyPr/>
          <a:lstStyle>
            <a:lvl1pPr>
              <a:defRPr sz="2800" b="1" baseline="0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lvl2pPr>
          </a:lstStyle>
          <a:p>
            <a:pPr lvl="0"/>
            <a:r>
              <a:rPr lang="en-US" dirty="0"/>
              <a:t>Table of Contents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1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2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3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4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39753" y="-51682"/>
            <a:ext cx="12235732" cy="1203364"/>
            <a:chOff x="-39753" y="-51682"/>
            <a:chExt cx="12235732" cy="1203364"/>
          </a:xfrm>
        </p:grpSpPr>
        <p:sp>
          <p:nvSpPr>
            <p:cNvPr id="9" name="Rectangle 8"/>
            <p:cNvSpPr/>
            <p:nvPr userDrawn="1"/>
          </p:nvSpPr>
          <p:spPr>
            <a:xfrm>
              <a:off x="-39753" y="-51682"/>
              <a:ext cx="12235732" cy="1203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229" y="221358"/>
              <a:ext cx="2684166" cy="68001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 userDrawn="1"/>
          </p:nvSpPr>
          <p:spPr>
            <a:xfrm>
              <a:off x="7802880" y="411500"/>
              <a:ext cx="35460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1"/>
                  </a:solidFill>
                  <a:latin typeface="+mj-lt"/>
                </a:rPr>
                <a:t>KNOWLEDGE             INTEGRITY            IMPACT</a:t>
              </a:r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cxnSp>
          <p:nvCxnSpPr>
            <p:cNvPr id="7" name="Straight Connector 6"/>
            <p:cNvCxnSpPr/>
            <p:nvPr userDrawn="1"/>
          </p:nvCxnSpPr>
          <p:spPr>
            <a:xfrm>
              <a:off x="901337" y="722811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 userDrawn="1"/>
          </p:nvSpPr>
          <p:spPr>
            <a:xfrm>
              <a:off x="8609870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9748239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0668414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7595"/>
            <a:ext cx="10515600" cy="44020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0" name="TextBox 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2" name="Rectangle 1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 userDrawn="1"/>
        </p:nvGrpSpPr>
        <p:grpSpPr>
          <a:xfrm>
            <a:off x="0" y="149580"/>
            <a:ext cx="12414000" cy="77361"/>
            <a:chOff x="0" y="149580"/>
            <a:chExt cx="12414000" cy="77361"/>
          </a:xfrm>
        </p:grpSpPr>
        <p:sp>
          <p:nvSpPr>
            <p:cNvPr id="20" name="Rectangle 19"/>
            <p:cNvSpPr/>
            <p:nvPr userDrawn="1"/>
          </p:nvSpPr>
          <p:spPr>
            <a:xfrm>
              <a:off x="0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166144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8337178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 userDrawn="1"/>
        </p:nvSpPr>
        <p:spPr>
          <a:xfrm>
            <a:off x="-39753" y="270922"/>
            <a:ext cx="12235732" cy="10565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7317" y="400967"/>
            <a:ext cx="10515600" cy="7548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149580"/>
            <a:ext cx="1897258" cy="77361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897258" y="149580"/>
            <a:ext cx="6345708" cy="7736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242966" y="149580"/>
            <a:ext cx="1874112" cy="773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7317" y="-1696937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8" name="Pictur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9" name="Straight Connector 18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1" name="TextBox 20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Content Placeholder 2"/>
          <p:cNvSpPr>
            <a:spLocks noGrp="1"/>
          </p:cNvSpPr>
          <p:nvPr userDrawn="1">
            <p:ph sz="half" idx="13"/>
          </p:nvPr>
        </p:nvSpPr>
        <p:spPr>
          <a:xfrm>
            <a:off x="6441956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>
          <a:xfrm>
            <a:off x="10117078" y="149580"/>
            <a:ext cx="2073156" cy="773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505874" y="802630"/>
            <a:ext cx="9144477" cy="77100"/>
            <a:chOff x="1457173" y="851529"/>
            <a:chExt cx="9144477" cy="77100"/>
          </a:xfrm>
        </p:grpSpPr>
        <p:sp>
          <p:nvSpPr>
            <p:cNvPr id="10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-1" y="6303003"/>
            <a:ext cx="12195979" cy="554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9" name="TextBox 18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77" y="-2847804"/>
            <a:ext cx="4423402" cy="4423402"/>
          </a:xfrm>
          <a:prstGeom prst="rect">
            <a:avLst/>
          </a:prstGeom>
          <a:blipFill>
            <a:blip r:embed="rId4">
              <a:alphaModFix amt="0"/>
            </a:blip>
            <a:stretch>
              <a:fillRect/>
            </a:stretch>
          </a:blipFill>
        </p:spPr>
      </p:pic>
      <p:sp>
        <p:nvSpPr>
          <p:cNvPr id="25" name="Rectangle 24"/>
          <p:cNvSpPr/>
          <p:nvPr userDrawn="1"/>
        </p:nvSpPr>
        <p:spPr>
          <a:xfrm>
            <a:off x="0" y="-2537827"/>
            <a:ext cx="12195978" cy="253782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897258" y="6701970"/>
            <a:ext cx="6345708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242966" y="6701970"/>
            <a:ext cx="1874112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117078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0518045" y="0"/>
            <a:ext cx="1672189" cy="6858000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10748" y="673352"/>
            <a:ext cx="9794348" cy="77993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748" y="1662545"/>
            <a:ext cx="9794348" cy="4611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0" y="0"/>
            <a:ext cx="12192000" cy="67019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/>
          </p:nvPr>
        </p:nvSpPr>
        <p:spPr>
          <a:xfrm>
            <a:off x="6038952" y="0"/>
            <a:ext cx="6153048" cy="67019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5190"/>
            <a:ext cx="44723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-1"/>
            <a:ext cx="12195979" cy="5111931"/>
          </a:xfrm>
          <a:prstGeom prst="rect">
            <a:avLst/>
          </a:prstGeom>
          <a:solidFill>
            <a:srgbClr val="0E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4958297"/>
            <a:ext cx="12195979" cy="153634"/>
            <a:chOff x="0" y="6701970"/>
            <a:chExt cx="12918820" cy="15359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564" y="5569074"/>
            <a:ext cx="856176" cy="856176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505874" y="1478705"/>
            <a:ext cx="9144477" cy="77100"/>
            <a:chOff x="1457173" y="851529"/>
            <a:chExt cx="9144477" cy="77100"/>
          </a:xfrm>
        </p:grpSpPr>
        <p:sp>
          <p:nvSpPr>
            <p:cNvPr id="11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0" name="TextBox 1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/>
          <p:cNvSpPr txBox="1"/>
          <p:nvPr userDrawn="1"/>
        </p:nvSpPr>
        <p:spPr>
          <a:xfrm>
            <a:off x="5378631" y="1165756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8631" y="4469044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715954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319710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701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6710"/>
            <a:ext cx="12192000" cy="674813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Google Shape;356;p34"/>
          <p:cNvSpPr txBox="1"/>
          <p:nvPr userDrawn="1"/>
        </p:nvSpPr>
        <p:spPr>
          <a:xfrm>
            <a:off x="1135765" y="2427304"/>
            <a:ext cx="55611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1500" dirty="0">
                <a:solidFill>
                  <a:schemeClr val="bg1"/>
                </a:solidFill>
              </a:rPr>
              <a:t>Thanks!</a:t>
            </a:r>
            <a:endParaRPr lang="en-US" sz="11500" dirty="0">
              <a:solidFill>
                <a:schemeClr val="bg1"/>
              </a:solidFill>
            </a:endParaRPr>
          </a:p>
        </p:txBody>
      </p:sp>
      <p:sp>
        <p:nvSpPr>
          <p:cNvPr id="9" name="Google Shape;357;p34"/>
          <p:cNvSpPr txBox="1"/>
          <p:nvPr userDrawn="1"/>
        </p:nvSpPr>
        <p:spPr>
          <a:xfrm>
            <a:off x="1135765" y="3455423"/>
            <a:ext cx="5561100" cy="784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80604020202020204" pitchFamily="34" charset="0"/>
              <a:buNone/>
            </a:pPr>
            <a:r>
              <a:rPr lang="en-US" sz="4800" b="1">
                <a:solidFill>
                  <a:schemeClr val="lt1"/>
                </a:solidFill>
              </a:rPr>
              <a:t>Any questions?</a:t>
            </a:r>
            <a:endParaRPr lang="en-US" sz="4800" b="1">
              <a:solidFill>
                <a:schemeClr val="lt1"/>
              </a:solidFill>
            </a:endParaRP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image" Target="../media/image2.png"/><Relationship Id="rId15" Type="http://schemas.openxmlformats.org/officeDocument/2006/relationships/image" Target="../media/image1.png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6395-65C6-40C6-B0F2-3F72B3156A66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15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0"/>
            <a:ext cx="54864" cy="6858000"/>
          </a:xfrm>
          <a:prstGeom prst="rect">
            <a:avLst/>
          </a:prstGeom>
          <a:solidFill>
            <a:srgbClr val="FFF9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28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901"/>
                </a:solidFill>
                <a:latin typeface="Century Gothic"/>
              </a:rPr>
              <a:t>UNIVERSITY OF ENERGY AND NATURAL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EF1"/>
                </a:solidFill>
                <a:latin typeface="Century Gothic"/>
              </a:rPr>
              <a:t>Department of Computer Science and Informatics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3657600" cy="18288"/>
          </a:xfrm>
          <a:prstGeom prst="rect">
            <a:avLst/>
          </a:prstGeom>
          <a:solidFill>
            <a:srgbClr val="FFF9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51560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entury Gothic"/>
              </a:rPr>
              <a:t>Korang Bright Agyei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4416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EF1"/>
                </a:solidFill>
                <a:latin typeface="Century Gothic"/>
              </a:rPr>
              <a:t>UEB3501222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709928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entury Gothic"/>
              </a:rPr>
              <a:t>Mohammed Idris Adam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0025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EF1"/>
                </a:solidFill>
                <a:latin typeface="Century Gothic"/>
              </a:rPr>
              <a:t>UEB3501022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368296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entury Gothic"/>
              </a:rPr>
              <a:t>Benaiah Amarh Anang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660903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EF1"/>
                </a:solidFill>
                <a:latin typeface="Century Gothic"/>
              </a:rPr>
              <a:t>UEB3512522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026663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entury Gothic"/>
              </a:rPr>
              <a:t>Osei Nana Kwaku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319271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EF1"/>
                </a:solidFill>
                <a:latin typeface="Century Gothic"/>
              </a:rPr>
              <a:t>UEB3509022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5989320"/>
            <a:ext cx="3657600" cy="32004"/>
          </a:xfrm>
          <a:prstGeom prst="rect">
            <a:avLst/>
          </a:prstGeom>
          <a:solidFill>
            <a:srgbClr val="FFF9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080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901"/>
                </a:solidFill>
                <a:latin typeface="Century Gothic"/>
              </a:rPr>
              <a:t>Final Year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822960"/>
            <a:ext cx="7223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entury Gothic"/>
              </a:rPr>
              <a:t>QChat for Institutional
Messaging for Students
and Lecturers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520440"/>
            <a:ext cx="5029200" cy="64008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657600"/>
            <a:ext cx="7223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entury Gothic"/>
              </a:rPr>
              <a:t>A Hybrid Web2/Web3 Secure Institutional Communication Platform
with Blockchain Audit Trail, Real-World Identifiers, and Quantum Encryption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901"/>
                </a:solidFill>
                <a:latin typeface="Century Gothic"/>
              </a:rPr>
              <a:t>SUPERVISOR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entury Gothic"/>
              </a:rPr>
              <a:t>Dr Peter Nimbe (PS001)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901"/>
                </a:solidFill>
                <a:latin typeface="Century Gothic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6" name="HeaderBar_TOC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45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entury Gothic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804672"/>
            <a:ext cx="4114800" cy="5029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94360" cy="594360"/>
          </a:xfrm>
          <a:prstGeom prst="round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155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Background &amp; 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664208"/>
            <a:ext cx="539496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594360" cy="594360"/>
          </a:xfrm>
          <a:prstGeom prst="round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842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0299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Problem Statement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578608"/>
            <a:ext cx="539496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34640"/>
            <a:ext cx="594360" cy="594360"/>
          </a:xfrm>
          <a:prstGeom prst="round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986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944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Aim &amp; Objectives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493008"/>
            <a:ext cx="539496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594360" cy="594360"/>
          </a:xfrm>
          <a:prstGeom prst="round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130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858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Related Work &amp; Existing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4407407"/>
            <a:ext cx="539496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663440"/>
            <a:ext cx="594360" cy="594360"/>
          </a:xfrm>
          <a:prstGeom prst="round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7274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7731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Methodology &amp; Technical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005840"/>
            <a:ext cx="594360" cy="594360"/>
          </a:xfrm>
          <a:prstGeom prst="round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0698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11155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System Architecture &amp;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19672" y="1664208"/>
            <a:ext cx="521208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1920240"/>
            <a:ext cx="594360" cy="594360"/>
          </a:xfrm>
          <a:prstGeom prst="round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9842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0299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Real-World Identity &amp; Audit 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19672" y="2578608"/>
            <a:ext cx="521208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2834640"/>
            <a:ext cx="594360" cy="594360"/>
          </a:xfrm>
          <a:prstGeom prst="round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8986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29443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Testing &amp; Empirical Results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9672" y="3493008"/>
            <a:ext cx="521208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92240" y="3749039"/>
            <a:ext cx="594360" cy="594360"/>
          </a:xfrm>
          <a:prstGeom prst="round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8130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9752" y="3858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Limitations &amp; Future 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9672" y="4407407"/>
            <a:ext cx="5212080" cy="1097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92240" y="4663440"/>
            <a:ext cx="594360" cy="594360"/>
          </a:xfrm>
          <a:prstGeom prst="round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7274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9752" y="4773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entury Gothic"/>
              </a:rPr>
              <a:t>Conclusion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1. Background &amp;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1173175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Higher education workflows depend heavily on digital channels for student-faculty interaction and document submission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Commercial messaging systems (WhatsApp, Teams, email) lack institutional identity verification, tamper evidence, and audit trails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Students and faculty face disputes over altered assignment timestamps, missing attachments, or modified grades without cryptographic proof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QChat solves this vulnerability by pairing sub-second Convex WebSocket messaging with Hyperledger Besu blockchain hashing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Identity verification uses real-world institutional credentials: Email, Student Index Number (e.g. UEB3509022), and Lecturer Staff ID (PS*** format e.g. PS001)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Engineered as a Final Year Capstone Project in the Department of Computer Science and Informatics at UENR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2.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1173175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b="1" sz="1350">
                <a:solidFill>
                  <a:srgbClr val="00336A"/>
                </a:solidFill>
                <a:latin typeface="Century Gothic"/>
              </a:rPr>
              <a:t>Problem 1 - Performance vs. Verification Tension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5566"/>
                </a:solidFill>
                <a:latin typeface="Century Gothic"/>
              </a:rPr>
              <a:t>        o Real-time communication demands instant delivery (&lt;200ms), whereas public blockchains introduce high latency and gas costs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336A"/>
                </a:solidFill>
                <a:latin typeface="Century Gothic"/>
              </a:rPr>
              <a:t>Problem 2 - Content &amp; Timestamp Tampering Vulnerability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5566"/>
                </a:solidFill>
                <a:latin typeface="Century Gothic"/>
              </a:rPr>
              <a:t>        o Centralized databases allow database admins or compromised accounts to alter communication logs or timestamps undetected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336A"/>
                </a:solidFill>
                <a:latin typeface="Century Gothic"/>
              </a:rPr>
              <a:t>Problem 3 - Impractical Identity Mechanics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5566"/>
                </a:solidFill>
                <a:latin typeface="Century Gothic"/>
              </a:rPr>
              <a:t>        o Legacy blockchain solutions require users to memorize 42-character wallet addresses (0x...) or database IDs instead of familiar identifiers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336A"/>
                </a:solidFill>
                <a:latin typeface="Century Gothic"/>
              </a:rPr>
              <a:t>Problem 4 - Quantum Cryptanalysis Vulnerability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5566"/>
                </a:solidFill>
                <a:latin typeface="Century Gothic"/>
              </a:rPr>
              <a:t>        o RSA and ECC algorithms risk compromise by quantum decryption algorithms within the coming decade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3. 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34440"/>
            <a:ext cx="11686032" cy="6858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07592"/>
            <a:ext cx="11411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336A"/>
                </a:solidFill>
                <a:latin typeface="Century Gothic"/>
              </a:rPr>
              <a:t>AIM: Architect, implement, and benchmark a hybrid Web2/Web3 institutional messaging system equipped with real-identifier lookup, blockchain audit trails, and client-side encryption.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84831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Objectives 1-3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576072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560320"/>
            <a:ext cx="5760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Obj 1 - Real-Time Engine: React 19 + TypeScript + Convex backend for instant chats and community Q&amp;A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Obj 2 - Client Confidentiality: Browser Web Crypto API for RSA-OAEP 2048 and AES-GCM 256 encryption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Obj 3 - Blockchain Audit Trail: Solidity MessageVerifier.sol on Hyperledger Besu recording SHA-256 digests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084831"/>
            <a:ext cx="36576" cy="429768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084831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Objectives 4-6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2468880"/>
            <a:ext cx="562356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560320"/>
            <a:ext cx="5623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Obj 4 - Real Identifiers: Instant user lookup by Email, Student Index (UEB3509022), and Lecturer Staff ID (PS***)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Obj 5 - Cryptographic Audit Trail: Verification modal comparing mutable DB timestamps vs immutable block timestamps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Obj 6 - Empirical Evaluation: End-to-end unit testing, Besu transaction validation, and UAT field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4. Comparative 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2011680" cy="77724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35024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Gothic"/>
              </a:rPr>
              <a:t>MS Teams / 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35331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entury Gothic"/>
              </a:rPr>
              <a:t>High real-time speed - but centralized database ownership, zero cryptographic verification, and no client E2EE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19"/>
            <a:ext cx="11686032" cy="9144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21992"/>
            <a:ext cx="2011680" cy="7772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95144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Gothic"/>
              </a:rPr>
              <a:t>Signal /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1343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entury Gothic"/>
              </a:rPr>
              <a:t>Strong E2E encryption - but lacks institutional role governance, tamper-proof audit logs, and academic submission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11686032" cy="9144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82112"/>
            <a:ext cx="2011680" cy="777240"/>
          </a:xfrm>
          <a:prstGeom prst="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255264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Gothic"/>
              </a:rPr>
              <a:t>Canvas / Moodle 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2735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entury Gothic"/>
              </a:rPr>
              <a:t>Coursework management - but relies on mutable SQL logs without cryptographic proof of file integrity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23360"/>
            <a:ext cx="11686032" cy="9144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142232"/>
            <a:ext cx="2011680" cy="77724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215384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entury Gothic"/>
              </a:rPr>
              <a:t>Hyperledger Fabric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233671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entury Gothic"/>
              </a:rPr>
              <a:t>Immutable auditing - but complex multi-node setup, high latency, and lack of real-time messaging 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48071"/>
            <a:ext cx="11686032" cy="6400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193791"/>
            <a:ext cx="11503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336A"/>
                </a:solidFill>
                <a:latin typeface="Century Gothic"/>
              </a:rPr>
              <a:t>Research Contribution: QChat bridges the gap by linking (a) sub-200ms Convex WebSocket messaging, (b) zero-gas Besu ledger verification, (c) WebCrypto client-side E2EE, and (d) Real-identifier lookup (Email, Index, PS*** Staff ID).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5. Engineering Methodology &amp;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Software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45919"/>
            <a:ext cx="576072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37360"/>
            <a:ext cx="5760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Development Framework - 5 Agile Sprints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Phase 1: React 19 SPA shell + Convex reactive backend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Phase 2: Hyperledger Besu container setup + Solidity contract MessageVerifier.sol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Phase 3: Real-identifier indexing (Email, Index, PS*** Staff ID) + WebCrypto RSA/AES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Phase 4: Verification Dashboard in Admin.tsx + Cryptographic Audit Trail modal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Phase 5: PDF Audit Report generation + end-to-end empirical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61872"/>
            <a:ext cx="36576" cy="512064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261872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Technical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645919"/>
            <a:ext cx="562356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737360"/>
            <a:ext cx="5623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Frontend: React 19 + TypeScript + Vite SPA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Backend: Convex serverless reactive engine (WebSocket sync)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Blockchain: Hyperledger Besu private network (QBFT consensus, zero-gas execution)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Smart Contract: Solidity 0.8.20 - MessageVerifier.sol (verifyUserWithIndex / verifyUserWithStaffId)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Real Identifiers: Email, Index Number (UEB3509022), Staff ID (PS*** e.g. PS001)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Web3 Bridge: Ethers.js v6 JSON-RPC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6. System Architecture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1828800" cy="100584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490472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PRESENTATION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261872"/>
            <a:ext cx="9811512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1371600"/>
            <a:ext cx="96286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entury Gothic"/>
              </a:rPr>
              <a:t>React 19 SPA   -   TypeScript   -   Vite   -   React Router v7
Real-time Chat   |   User Submission Verification Desk   |   Cryptographic Audit Modal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267712"/>
            <a:ext cx="502920" cy="16459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94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6A"/>
                </a:solidFill>
                <a:latin typeface="Century Gothic"/>
              </a:rP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96312"/>
            <a:ext cx="1828800" cy="1005840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2724912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APPLICATION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496312"/>
            <a:ext cx="9811512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2606040"/>
            <a:ext cx="96286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entury Gothic"/>
              </a:rPr>
              <a:t>Convex Serverless Engine - Real-time WebSocket Sync   -   Document Database
lookupUserByIdentifier (Email, Index, Staff ID PS***)   |   getUserMessages (30 Days)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02152"/>
            <a:ext cx="502920" cy="164592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336A"/>
                </a:solidFill>
                <a:latin typeface="Century Gothic"/>
              </a:rP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30752"/>
            <a:ext cx="1828800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959351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entury Gothic"/>
              </a:rPr>
              <a:t>VERIFICATION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3730752"/>
            <a:ext cx="9811512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3840480"/>
            <a:ext cx="96286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entury Gothic"/>
              </a:rPr>
              <a:t>Hyperledger Besu (QBFT consensus, ChainId 1337)   -   Ethers.js v6 RPC
MessageVerifier.sol (verifyUserWithIndex, verifyUserWithStaffId)   |   SHA-256 Hashing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38344"/>
            <a:ext cx="11686032" cy="6858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084064"/>
            <a:ext cx="11503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36A"/>
                </a:solidFill>
                <a:latin typeface="Century Gothic"/>
              </a:rPr>
              <a:t>Architectural Highlights: Browser WebCrypto RSA/AES keeps private keys local  -  Real-world identifiers (Email, Index Number, Staff ID PS***) eliminate 0x... address friction  -  Audit trail modal compares Convex DB timestamp (mutable) against Besu block timestamp (immutable).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7. Real-World Identity &amp; Audit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User Search &amp; Data Fetch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45919"/>
            <a:ext cx="576072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37360"/>
            <a:ext cx="5760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Step 1: Admin Identifier Search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Admin searches user by Email (osei@uenr.edu.gh), Index Number (UEB3509022), or Staff ID (PS001, PS123)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Step 2: Live Convex Database Fetch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System retrieves user identity profile, role, wallet address, and 30-day submission history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Step 3: Submission History Inspection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Displays sent files (e.g. assignment.pdf), timestamps, and blockchain recording status badges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61872"/>
            <a:ext cx="36576" cy="512064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261872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Audit Trail &amp; Verification Verdict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645919"/>
            <a:ext cx="562356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737360"/>
            <a:ext cx="5623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Step 4: Cryptographic Audit Trail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Compares Convex DB timestamp (Mutable) vs. Hyperledger Besu Block timestamp (IMMUTABLE)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Step 5: Content Digest &amp; Identity Check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Validates SHA-256 content hash and confirms sender wallet matches student/lecturer on-chain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Step 6: Report Generation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Produces printable verification report certified with cryptographic transaction 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8. Empirical Results &amp;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Verification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45919"/>
            <a:ext cx="576072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37360"/>
            <a:ext cx="5760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Layer 1 - Identity &amp; Contract Testing: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MessageVerifier.sol verifyUserWithIndex &amp; verifyUserWithStaffId compile cleanly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Staff ID format PS*** (e.g. PS001, PS123) correctly bound to lecturer role on-chain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Layer 2 - Convex &amp; Blockchain Integration: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Instant user lookup by Email, Index, or Staff ID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SHA-256 payload digest matching Hyperledger Besu logs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Layer 3 - User Acceptance Walkthroughs: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5566"/>
                </a:solidFill>
                <a:latin typeface="Century Gothic"/>
              </a:rPr>
              <a:t>        o Osei Nana Kwaku (UEB3509022) assignment submission verified on-time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61872"/>
            <a:ext cx="36576" cy="512064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261872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Observed Benchmark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645919"/>
            <a:ext cx="562356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737360"/>
            <a:ext cx="5623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MessageVerifier.sol smart contract compiled successfully (Solidity 0.8.20)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Convex real-time messaging achieved sub-200ms delivery latency over WebSocket connections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Besu transaction execution achieved 100% hash verification accuracy across test payloads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Vite production build completed with 0 errors (243 modules transformed)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Audit Trail verdict successfully detected immutable block timestamp and validated sender identity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9. Constraints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System 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45919"/>
            <a:ext cx="576072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37360"/>
            <a:ext cx="5760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Hyperledger Besu operates on local single-node docker environment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BB84 module runs as software matrix simulation rather than physical optical hardware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No direct OAuth2 / SAML single sign-on integration with university directory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UI optimized primarily for desktop browser administration viewports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61872"/>
            <a:ext cx="36576" cy="512064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261872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A"/>
                </a:solidFill>
                <a:latin typeface="Century Gothic"/>
              </a:rPr>
              <a:t>Future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645919"/>
            <a:ext cx="5623560" cy="32004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737360"/>
            <a:ext cx="5623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Deploy multi-node Besu consortium network across university department servers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Connect SAML 2.0 / Shibboleth single sign-on with university student portal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Implement automated email/SMS audit report delivery to department heads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2E"/>
                </a:solidFill>
                <a:latin typeface="Century Gothic"/>
              </a:rPr>
              <a:t>  - Develop dedicated mobile application (React Native) targeting iOS and Android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603063"/>
          </a:xfr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>
          <a:xfrm>
            <a:off x="0" y="1985790"/>
          </a:xfrm>
        </p:spPr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/>
              </a:rPr>
              <a:t>10. Summary &amp;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03152" y="109728"/>
            <a:ext cx="502920" cy="50292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3152" y="1280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36A"/>
                </a:solidFill>
                <a:latin typeface="Century Gothi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336A"/>
                </a:solidFill>
                <a:latin typeface="Century Gothic"/>
              </a:rPr>
              <a:t>QChat | UENR Computer Science &amp; Informatics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61872"/>
            <a:ext cx="11731752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Successfully delivered QChat: A hybrid Web2/Web3 secure institutional messaging platform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Resolved the performance vs. verification dilemma by pairing sub-200ms Convex WebSockets with Hyperledger Besu hashing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Re-engineered user verification around real-world identifiers: Email, Student Index Number (UEB3509022), and Lecturer Staff ID (PS*** e.g. PS001)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Built Cryptographic Audit Trail comparing mutable DB timestamps against immutable Besu block timestamps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Empirically validated message integrity, client RSA/AES encryption, and contract role bindings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2E"/>
                </a:solidFill>
                <a:latin typeface="Century Gothic"/>
              </a:rPr>
              <a:t>  - Delivered a production-ready, open-source reference architecture for higher education institutions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9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9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6702552" cy="4297680"/>
          </a:xfrm>
          <a:prstGeom prst="round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entury Gothic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73152"/>
          </a:xfrm>
          <a:prstGeom prst="rect">
            <a:avLst/>
          </a:prstGeom>
          <a:solidFill>
            <a:srgbClr val="FFF9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3931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entury Gothic"/>
              </a:rPr>
              <a:t>We welcome your questions and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901"/>
                </a:solidFill>
                <a:latin typeface="Century Gothic"/>
              </a:rPr>
              <a:t>Supervisor: Dr Peter Nimbe (PS001)   |   Department of Computer Science and Informatics   |   UENR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901"/>
                </a:solidFill>
                <a:latin typeface="Century Gothic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BEF1"/>
      </a:accent1>
      <a:accent2>
        <a:srgbClr val="00820F"/>
      </a:accent2>
      <a:accent3>
        <a:srgbClr val="A5A5A5"/>
      </a:accent3>
      <a:accent4>
        <a:srgbClr val="FFF901"/>
      </a:accent4>
      <a:accent5>
        <a:srgbClr val="833C0B"/>
      </a:accent5>
      <a:accent6>
        <a:srgbClr val="6F3B55"/>
      </a:accent6>
      <a:hlink>
        <a:srgbClr val="0095B8"/>
      </a:hlink>
      <a:folHlink>
        <a:srgbClr val="00EAEA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Presentation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SimSun</vt:lpstr>
      <vt:lpstr>Wingdings</vt:lpstr>
      <vt:lpstr>Liberation Sans</vt:lpstr>
      <vt:lpstr>Century Gothic</vt:lpstr>
      <vt:lpstr>PakType Naskh Basic</vt:lpstr>
      <vt:lpstr>Arial</vt:lpstr>
      <vt:lpstr>Microsoft YaHei</vt:lpstr>
      <vt:lpstr>Droid Sans Fallback</vt:lpstr>
      <vt:lpstr>Arial Unicode MS</vt:lpstr>
      <vt:lpstr>Calibri</vt:lpstr>
      <vt:lpstr>Century Gothic</vt:lpstr>
      <vt:lpstr>Noto Emoji</vt:lpstr>
      <vt:lpstr>Calibri</vt:lpstr>
      <vt:lpstr>Office Theme</vt:lpstr>
      <vt:lpstr>PowerPoint 演示文稿</vt:lpstr>
      <vt:lpstr>AGENDA</vt:lpstr>
      <vt:lpstr>BACKGROUND &amp; MOTIVATION</vt:lpstr>
      <vt:lpstr>PROBLEM STATEMENT</vt:lpstr>
      <vt:lpstr>AIM &amp; OBJECTIVES</vt:lpstr>
      <vt:lpstr>RELATED WORK &amp; EXISTING SYSTEMS</vt:lpstr>
      <vt:lpstr>METHODOLOGY &amp; TECH STACK</vt:lpstr>
      <vt:lpstr>SYSTEM ARCHITECTURE</vt:lpstr>
      <vt:lpstr>MESH ROUTING &amp; THE DATA MULE</vt:lpstr>
      <vt:lpstr>STORAGE &amp; INTERFACE DESIGN</vt:lpstr>
      <vt:lpstr>IMPLEMENTATION HIGHLIGHTS</vt:lpstr>
      <vt:lpstr>TESTING &amp; LATENCY RESULTS</vt:lpstr>
      <vt:lpstr>USABILITY TESTING</vt:lpstr>
      <vt:lpstr>LIMITATIONS &amp; FUTURE WORK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appiah</dc:creator>
  <cp:lastModifiedBy>demore</cp:lastModifiedBy>
  <cp:revision>56</cp:revision>
  <dcterms:created xsi:type="dcterms:W3CDTF">2026-09-08T15:57:34Z</dcterms:created>
  <dcterms:modified xsi:type="dcterms:W3CDTF">2026-09-08T15:57:34Z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